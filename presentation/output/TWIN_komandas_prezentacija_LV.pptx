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1c6fb4c019426c" /><Relationship Type="http://schemas.openxmlformats.org/officeDocument/2006/relationships/extended-properties" Target="/docProps/app.xml" Id="R1dbc3ffb6e1f446b" /><Relationship Type="http://schemas.openxmlformats.org/officeDocument/2006/relationships/officeDocument" Target="/ppt/presentation.xml" Id="Rc1921f2001c94ae9" /></Relationships>
</file>

<file path=ppt/presentation.xml><?xml version="1.0" encoding="utf-8"?>
<p:presentation xmlns:p="http://schemas.openxmlformats.org/presentationml/2006/main">
  <p:sldMasterIdLst>
    <p:sldMasterId xmlns:r="http://schemas.openxmlformats.org/officeDocument/2006/relationships" id="2147483648" r:id="R1d184b5f00be4424"/>
  </p:sldMasterIdLst>
  <p:notesMasterIdLst>
    <p:notesMasterId xmlns:r="http://schemas.openxmlformats.org/officeDocument/2006/relationships" r:id="R76fbec6fd41b4e23"/>
  </p:notesMasterIdLst>
  <p:sldIdLst>
    <p:sldId xmlns:r="http://schemas.openxmlformats.org/officeDocument/2006/relationships" id="256" r:id="Rc595e4ad62b24594"/>
    <p:sldId xmlns:r="http://schemas.openxmlformats.org/officeDocument/2006/relationships" id="257" r:id="R53e06e660d2f44ff"/>
    <p:sldId xmlns:r="http://schemas.openxmlformats.org/officeDocument/2006/relationships" id="258" r:id="R812d46d7e94543d1"/>
    <p:sldId xmlns:r="http://schemas.openxmlformats.org/officeDocument/2006/relationships" id="259" r:id="R2cd7754174d642f8"/>
    <p:sldId xmlns:r="http://schemas.openxmlformats.org/officeDocument/2006/relationships" id="260" r:id="Rc33c7f6c354141d1"/>
    <p:sldId xmlns:r="http://schemas.openxmlformats.org/officeDocument/2006/relationships" id="261" r:id="Re491c6b7ffe242d4"/>
    <p:sldId xmlns:r="http://schemas.openxmlformats.org/officeDocument/2006/relationships" id="262" r:id="R809d994d3e774643"/>
    <p:sldId xmlns:r="http://schemas.openxmlformats.org/officeDocument/2006/relationships" id="263" r:id="Rf5346663039a4155"/>
    <p:sldId xmlns:r="http://schemas.openxmlformats.org/officeDocument/2006/relationships" id="264" r:id="R4ce31bc0ae794e82"/>
    <p:sldId xmlns:r="http://schemas.openxmlformats.org/officeDocument/2006/relationships" id="265" r:id="Rab1855803f4e48cc"/>
    <p:sldId xmlns:r="http://schemas.openxmlformats.org/officeDocument/2006/relationships" id="266" r:id="Ra5c761b74f3f43e5"/>
    <p:sldId xmlns:r="http://schemas.openxmlformats.org/officeDocument/2006/relationships" id="267" r:id="R9789ae16d5f24c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9c817a36ed4935" /><Relationship Type="http://schemas.openxmlformats.org/officeDocument/2006/relationships/slideMaster" Target="/ppt/slideMasters/slideMaster1.xml" Id="R1d184b5f00be4424" /><Relationship Type="http://schemas.openxmlformats.org/officeDocument/2006/relationships/notesMaster" Target="/ppt/notesMasters/notesMaster1.xml" Id="R76fbec6fd41b4e23" /><Relationship Type="http://schemas.openxmlformats.org/officeDocument/2006/relationships/presProps" Target="/ppt/presProps.xml" Id="R09b9b5a3cd5448f5" /><Relationship Type="http://schemas.openxmlformats.org/officeDocument/2006/relationships/tableStyles" Target="/ppt/tableStyles.xml" Id="R01f79da0d9724a79" /><Relationship Type="http://schemas.openxmlformats.org/officeDocument/2006/relationships/slide" Target="/ppt/slides/slide1.xml" Id="Rc595e4ad62b24594" /><Relationship Type="http://schemas.openxmlformats.org/officeDocument/2006/relationships/slide" Target="/ppt/slides/slide2.xml" Id="R53e06e660d2f44ff" /><Relationship Type="http://schemas.openxmlformats.org/officeDocument/2006/relationships/slide" Target="/ppt/slides/slide3.xml" Id="R812d46d7e94543d1" /><Relationship Type="http://schemas.openxmlformats.org/officeDocument/2006/relationships/slide" Target="/ppt/slides/slide4.xml" Id="R2cd7754174d642f8" /><Relationship Type="http://schemas.openxmlformats.org/officeDocument/2006/relationships/slide" Target="/ppt/slides/slide5.xml" Id="Rc33c7f6c354141d1" /><Relationship Type="http://schemas.openxmlformats.org/officeDocument/2006/relationships/slide" Target="/ppt/slides/slide6.xml" Id="Re491c6b7ffe242d4" /><Relationship Type="http://schemas.openxmlformats.org/officeDocument/2006/relationships/slide" Target="/ppt/slides/slide7.xml" Id="R809d994d3e774643" /><Relationship Type="http://schemas.openxmlformats.org/officeDocument/2006/relationships/slide" Target="/ppt/slides/slide8.xml" Id="Rf5346663039a4155" /><Relationship Type="http://schemas.openxmlformats.org/officeDocument/2006/relationships/slide" Target="/ppt/slides/slide9.xml" Id="R4ce31bc0ae794e82" /><Relationship Type="http://schemas.openxmlformats.org/officeDocument/2006/relationships/slide" Target="/ppt/slides/slide10.xml" Id="Rab1855803f4e48cc" /><Relationship Type="http://schemas.openxmlformats.org/officeDocument/2006/relationships/slide" Target="/ppt/slides/slide11.xml" Id="Ra5c761b74f3f43e5" /><Relationship Type="http://schemas.openxmlformats.org/officeDocument/2006/relationships/slide" Target="/ppt/slides/slide12.xml" Id="R9789ae16d5f24c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c1eb27693041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76855bf4124995" /><Relationship Type="http://schemas.openxmlformats.org/officeDocument/2006/relationships/notesMaster" Target="/ppt/notesMasters/notesMaster1.xml" Id="Rc1a452cc76ad4f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cb01a3cba54aa4" /><Relationship Type="http://schemas.openxmlformats.org/officeDocument/2006/relationships/notesMaster" Target="/ppt/notesMasters/notesMaster1.xml" Id="R72740de82b4d4a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0174a782b84437" /><Relationship Type="http://schemas.openxmlformats.org/officeDocument/2006/relationships/notesMaster" Target="/ppt/notesMasters/notesMaster1.xml" Id="R2b6fc52fcb0943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cbadf91f7f4c28" /><Relationship Type="http://schemas.openxmlformats.org/officeDocument/2006/relationships/notesMaster" Target="/ppt/notesMasters/notesMaster1.xml" Id="R996f38e080bb44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5019de394741bc" /><Relationship Type="http://schemas.openxmlformats.org/officeDocument/2006/relationships/notesMaster" Target="/ppt/notesMasters/notesMaster1.xml" Id="Re698682e006444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e44e9c7db94768" /><Relationship Type="http://schemas.openxmlformats.org/officeDocument/2006/relationships/notesMaster" Target="/ppt/notesMasters/notesMaster1.xml" Id="R9fa8aa5fa5c84f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b757677ca7410c" /><Relationship Type="http://schemas.openxmlformats.org/officeDocument/2006/relationships/notesMaster" Target="/ppt/notesMasters/notesMaster1.xml" Id="R0bf7c250771d4d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8be657dce24dda" /><Relationship Type="http://schemas.openxmlformats.org/officeDocument/2006/relationships/notesMaster" Target="/ppt/notesMasters/notesMaster1.xml" Id="Rb88285d1fb2c4e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cd17605b0a460e" /><Relationship Type="http://schemas.openxmlformats.org/officeDocument/2006/relationships/notesMaster" Target="/ppt/notesMasters/notesMaster1.xml" Id="R8d58c822f27a40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155c7ef95b4c8c" /><Relationship Type="http://schemas.openxmlformats.org/officeDocument/2006/relationships/notesMaster" Target="/ppt/notesMasters/notesMaster1.xml" Id="R4adfa502509047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ba5b1c471b4259" /><Relationship Type="http://schemas.openxmlformats.org/officeDocument/2006/relationships/notesMaster" Target="/ppt/notesMasters/notesMaster1.xml" Id="R3577f201c02a4d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9d241c54e74bb0" /><Relationship Type="http://schemas.openxmlformats.org/officeDocument/2006/relationships/notesMaster" Target="/ppt/notesMasters/notesMaster1.xml" Id="R63ccaee853b248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0:50.</a:t>
            </a:r>
          </a:p>
          <a:p xmlns:a="http://schemas.openxmlformats.org/drawingml/2006/main">
            <a:r>
              <a:t/>
            </a:r>
          </a:p>
          <a:p xmlns:a="http://schemas.openxmlformats.org/drawingml/2006/main">
            <a:r>
              <a:t>Atklāj ar vienu teikumu: TWIN nav mēģinājums uzreiz uzbūvēt milzīgu AI platformu. Tā ir ideja par uzticamu datu pamatu, kas sākas ar konkrētu loģistikas problēmu. Pasaki, ka šīs prezentācijas mērķis nav pārdot ideju, bet dot komandai pietiekami skaidru pamatu salīdzinājumam ar alternatīvo projekta ideju.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1:40.</a:t>
            </a:r>
          </a:p>
          <a:p xmlns:a="http://schemas.openxmlformats.org/drawingml/2006/main">
            <a:r>
              <a:t/>
            </a:r>
          </a:p>
          <a:p xmlns:a="http://schemas.openxmlformats.org/drawingml/2006/main">
            <a:r>
              <a:t>Apraksti vidi kā hipotēzi, nevis universālu faktu. Loģistikas uzņēmumam var būt daudz labu sistēmu, bet informācija starp tām joprojām var būt sadrumstalota. Uzsvars nav uz to, ka Excel vai PDF ir slikti, bet uz savienojuma un vienotas nozīmes trūkumu. Pāreja: ja problēma ir savstarpēji nesaistīta informācija, risinājumam jāsākas ar datu slāni, nevis ar čatbotu.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1:30.</a:t>
            </a:r>
          </a:p>
          <a:p xmlns:a="http://schemas.openxmlformats.org/drawingml/2006/main">
            <a:r>
              <a:t/>
            </a:r>
          </a:p>
          <a:p xmlns:a="http://schemas.openxmlformats.org/drawingml/2006/main">
            <a:r>
              <a:t>Izskaidro secību. TWIN vērtības kodols ir uzticams datu slānis. Automatizācija un analītika jau ir daļēji realizēta, bet AI, prognozēšana un simulācija ir vēlākas pakāpes. Nepārspīlē: šī diagramma rāda produkta loģiku, nevis pilnībā pabeigtu platformu. Pāreja: nākamajā slaidā parādām, kā šī loģika izskatās produkta moduļos.</a:t>
            </a:r>
          </a:p>
          <a:p xmlns:a="http://schemas.openxmlformats.org/drawingml/2006/main">
            <a:r>
              <a:t/>
            </a:r>
          </a:p>
          <a:p xmlns:a="http://schemas.openxmlformats.org/drawingml/2006/main">
            <a:r>
              <a:t>Avoti prezentētājam: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1:40.</a:t>
            </a:r>
          </a:p>
          <a:p xmlns:a="http://schemas.openxmlformats.org/drawingml/2006/main">
            <a:r>
              <a:t/>
            </a:r>
          </a:p>
          <a:p xmlns:a="http://schemas.openxmlformats.org/drawingml/2006/main">
            <a:r>
              <a:t>Nosauc realizētos moduļus kā šodien pārbaudāmu prototipa robežu. Analytics ir realizēts Milestone 4A ietvaros. Savukārt atsevišķa Finance darba telpa, AI Analyst, FIN//TWIN un automatizāciju katalogs nav jāpasniedz kā strādājošas funkcijas. Pāreja: moduļus vieno Data Hub, kura pilnā vīzija ir plašāka par failu augšupielādi.</a:t>
            </a:r>
          </a:p>
          <a:p xmlns:a="http://schemas.openxmlformats.org/drawingml/2006/main">
            <a:r>
              <a:t/>
            </a:r>
          </a:p>
          <a:p xmlns:a="http://schemas.openxmlformats.org/drawingml/2006/main">
            <a:r>
              <a:t>Avoti prezentētājam: README.md; frontend/app/.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1:45.</a:t>
            </a:r>
          </a:p>
          <a:p xmlns:a="http://schemas.openxmlformats.org/drawingml/2006/main">
            <a:r>
              <a:t/>
            </a:r>
          </a:p>
          <a:p xmlns:a="http://schemas.openxmlformats.org/drawingml/2006/main">
            <a:r>
              <a:t>Šis ir galvenais scope slaids. Pašreizējais prototips pierāda failu ievadi, normalizāciju, validāciju un cilvēka review. Tas vēl nepierāda pilnu integrāciju platformu. Izskaidro četrus nākotnes ievades režīmus: faili, pieslēgtas sistēmas, API vai event plūsmas un manuālas korekcijas. Pāreja: lai dažādi avoti nekļūtu par dublikātiem, vajadzīgs vienots uzņēmuma datu modelis.</a:t>
            </a:r>
          </a:p>
          <a:p xmlns:a="http://schemas.openxmlformats.org/drawingml/2006/main">
            <a:r>
              <a:t/>
            </a:r>
          </a:p>
          <a:p xmlns:a="http://schemas.openxmlformats.org/drawingml/2006/main">
            <a:r>
              <a:t>Avoti prezentētājam: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1:45.</a:t>
            </a:r>
          </a:p>
          <a:p xmlns:a="http://schemas.openxmlformats.org/drawingml/2006/main">
            <a:r>
              <a:t/>
            </a:r>
          </a:p>
          <a:p xmlns:a="http://schemas.openxmlformats.org/drawingml/2006/main">
            <a:r>
              <a:t>Izmanto SHP-12831 kā vienkāršu piemēru. Excel rinda dod booking informāciju, B/L pievieno konteinerus un maršrutu, rēķins pievieno finanšu kontekstu. Nākotnē API var papildināt to pašu objektu ar ETA vai tracking izmaiņām. Uzsvars: avota formāts nav biznesa objekts. Pāreja: tagad varam godīgi parādīt, kuras šīs ķēdes daļas repozitorijā jau darbojas.</a:t>
            </a:r>
          </a:p>
          <a:p xmlns:a="http://schemas.openxmlformats.org/drawingml/2006/main">
            <a:r>
              <a:t/>
            </a:r>
          </a:p>
          <a:p xmlns:a="http://schemas.openxmlformats.org/drawingml/2006/main">
            <a:r>
              <a:t>Avoti prezentētājam: docs/DATA_MODEL.md; docs/BILL_OF_LADING.md.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1:40.</a:t>
            </a:r>
          </a:p>
          <a:p xmlns:a="http://schemas.openxmlformats.org/drawingml/2006/main">
            <a:r>
              <a:t/>
            </a:r>
          </a:p>
          <a:p xmlns:a="http://schemas.openxmlformats.org/drawingml/2006/main">
            <a:r>
              <a:t>Ātri izstaigā četrus posmus. M1 un M2 pierāda kontrolētu tabulāro datu ievadi. M3A un M3B izmanto vienu dokumentu dzinēju rēķiniem un B/L, saglabājot evidence un izcelsmi. M4A jau aprēķina KPI un deterministiskus insights. Godīgi nosauc robežas: demo dati, nav gatavas produkcijas autentifikācijas un nav pilna OCR vai integrāciju slāņa. Pāreja: nākamais slaids parāda svarīgāko uzticamības principu.</a:t>
            </a:r>
          </a:p>
          <a:p xmlns:a="http://schemas.openxmlformats.org/drawingml/2006/main">
            <a:r>
              <a:t/>
            </a:r>
          </a:p>
          <a:p xmlns:a="http://schemas.openxmlformats.org/drawingml/2006/main">
            <a:r>
              <a:t>Avoti prezentētājam: README.md; docs/IMPORT_REVIEW.md; docs/DOCUMENT_ENGINE.md; docs/ANALYTICS.md.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1:30.</a:t>
            </a:r>
          </a:p>
          <a:p xmlns:a="http://schemas.openxmlformats.org/drawingml/2006/main">
            <a:r>
              <a:t/>
            </a:r>
          </a:p>
          <a:p xmlns:a="http://schemas.openxmlformats.org/drawingml/2006/main">
            <a:r>
              <a:t>Šeit neapgalvo, ka ir veikts plašs reālu klientu dokumentu tests. Repozitorijs dokumentē drošības arhitektūru un sintētiskos fixture testus: avots tiek saglabāts, neskaidri lauki nonāk review, kļūdas bloķē apstiprināšanu. Tas pierāda kontroles mehānismu, bet ne universālu extraction precizitāti. Pāreja: kad dati ir pietiekami uzticami, nākamais slānis ir deterministiska analītika.</a:t>
            </a:r>
          </a:p>
          <a:p xmlns:a="http://schemas.openxmlformats.org/drawingml/2006/main">
            <a:r>
              <a:t/>
            </a:r>
          </a:p>
          <a:p xmlns:a="http://schemas.openxmlformats.org/drawingml/2006/main">
            <a:r>
              <a:t>Avoti prezentētājam: docs/DOCUMENT_ENGINE.md; docs/IMPORT_REVIEW.md; backend/tests/test_document_workflow.py.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1:45.</a:t>
            </a:r>
          </a:p>
          <a:p xmlns:a="http://schemas.openxmlformats.org/drawingml/2006/main">
            <a:r>
              <a:t/>
            </a:r>
          </a:p>
          <a:p xmlns:a="http://schemas.openxmlformats.org/drawingml/2006/main">
            <a:r>
              <a:t>Pasaki, ka Analytics šobrīd ir realizēts un demonstrē pārvaldītu ceļu no canonical ierakstiem līdz KPI, salīdzinājumiem, insights un drill-down. Skaitļi ir apzināti sintētiska demo stāsta daļa, nevis tirgus vai klienta fakti. Cost/TEU pieaug straujāk nekā revenue/TEU, tādēļ marža krīt. Tas ir aprakstošs faktors, nevis pierādīta cēloņsakarība. Pāreja: šis ir pamats daudz lielākai produkta attīstības līnijai.</a:t>
            </a:r>
          </a:p>
          <a:p xmlns:a="http://schemas.openxmlformats.org/drawingml/2006/main">
            <a:r>
              <a:t/>
            </a:r>
          </a:p>
          <a:p xmlns:a="http://schemas.openxmlformats.org/drawingml/2006/main">
            <a:r>
              <a:t>Avoti prezentētājam: docs/ANALYTICS.md; README.md sadaļa Management analytics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1:40.</a:t>
            </a:r>
          </a:p>
          <a:p xmlns:a="http://schemas.openxmlformats.org/drawingml/2006/main">
            <a:r>
              <a:t/>
            </a:r>
          </a:p>
          <a:p xmlns:a="http://schemas.openxmlformats.org/drawingml/2006/main">
            <a:r>
              <a:t>Rādi, ka pilnā vīzija ir liela, un tieši tāpēc attīstība notiek secīgi. Prototips jau automatizē daļu ievades un palīdz saprast datus ar KPI. AI Analyst, prognozes, simulācija un integrāciju mērogošana ir vēlāki horizonti. M3C nosaukums ir plānota Data Hub paplašināšana, nevis apgalvojums, ka vēsturiskā secība ir kļūdaina. Pāreja: lai tirgū pārbaudītu vērtību, vajadzīgs daudz mazāks pirmais produkts.</a:t>
            </a:r>
          </a:p>
          <a:p xmlns:a="http://schemas.openxmlformats.org/drawingml/2006/main">
            <a:r>
              <a:t/>
            </a:r>
          </a:p>
          <a:p xmlns:a="http://schemas.openxmlformats.org/drawingml/2006/main">
            <a:r>
              <a:t>Avoti prezentētājam: README.md; docs/ANALYTICS.md; docs/DATA_MODEL.md.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1:50.</a:t>
            </a:r>
          </a:p>
          <a:p xmlns:a="http://schemas.openxmlformats.org/drawingml/2006/main">
            <a:r>
              <a:t/>
            </a:r>
          </a:p>
          <a:p xmlns:a="http://schemas.openxmlformats.org/drawingml/2006/main">
            <a:r>
              <a:t>Šis ir svarīgākais scope lēmums. MVP jāspēj uzņemt trīs avotu tipus, izveidot savstarpēji saistītus shipment un finanšu objektus, ļaut cilvēkam pārskatīt izņēmumus un dot dažus noderīgus izvadus. Tas nav integrāciju tirgus, universāls dokumentu AI vai čatbots. Komandai jāvienojas par vienu konkrētu sākuma problēmu, piemēram, shipment profitability vai dokumentu un shipment datu konsolidāciju. Pāreja: pēdējais solis nav vēl viena funkcija, bet tirgus validācija.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2:05.</a:t>
            </a:r>
          </a:p>
          <a:p xmlns:a="http://schemas.openxmlformats.org/drawingml/2006/main">
            <a:r>
              <a:t/>
            </a:r>
          </a:p>
          <a:p xmlns:a="http://schemas.openxmlformats.org/drawingml/2006/main">
            <a:r>
              <a:t>Noslēdz ar darbību, nevis ar produkta solījumu. Vispirms jāveic problēmu intervijas un jāvēro reālais workflow. Jautājums “vai jūs pirktu AI platformu?” nav pietiekams. Jānoskaidro esošās alternatīvas, kur rodas manuāls darbs, kāda informācija trūkst un vai uzņēmums būtu gatavs testēt mazu MVP. Konkurence ir kategoriju pārklājums, nevis tukšs lauks. Komandas lēmumam jābalstās pierādījumos: problēmas nozīmīgums, sasniedzams pirmais klients, MVP apjoms, obligātās integrācijas un salīdzinājums ar alternatīvo ideju. Noslēguma teikums: mēs paplašinām tikai tad, ja to pamato dati.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28ef65679c45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96b381cd3b483c" /><Relationship Type="http://schemas.openxmlformats.org/officeDocument/2006/relationships/slideLayout" Target="/ppt/slideLayouts/slideLayout1.xml" Id="Red0acace72c747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0acace72c747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59a74441394d5c" /><Relationship Type="http://schemas.openxmlformats.org/officeDocument/2006/relationships/notesSlide" Target="/ppt/notesSlides/notesSlide1.xml" Id="R7375ddd4790b4a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0854e282224a8d" /><Relationship Type="http://schemas.openxmlformats.org/officeDocument/2006/relationships/notesSlide" Target="/ppt/notesSlides/notesSlide2.xml" Id="R207f6000c13d46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395b30060a4ad8" /><Relationship Type="http://schemas.openxmlformats.org/officeDocument/2006/relationships/notesSlide" Target="/ppt/notesSlides/notesSlide3.xml" Id="R1d80a6a439b643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b49cf2a9414de6" /><Relationship Type="http://schemas.openxmlformats.org/officeDocument/2006/relationships/notesSlide" Target="/ppt/notesSlides/notesSlide4.xml" Id="Rb2b934053c284b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75ee2061d04ea0" /><Relationship Type="http://schemas.openxmlformats.org/officeDocument/2006/relationships/notesSlide" Target="/ppt/notesSlides/notesSlide5.xml" Id="R4092648ac5fd46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4d4fa709dc4403" /><Relationship Type="http://schemas.openxmlformats.org/officeDocument/2006/relationships/notesSlide" Target="/ppt/notesSlides/notesSlide6.xml" Id="R99648578afd942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967463194247c1" /><Relationship Type="http://schemas.openxmlformats.org/officeDocument/2006/relationships/notesSlide" Target="/ppt/notesSlides/notesSlide7.xml" Id="R6b44cc196a724d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a30d8caaad499c" /><Relationship Type="http://schemas.openxmlformats.org/officeDocument/2006/relationships/notesSlide" Target="/ppt/notesSlides/notesSlide8.xml" Id="Rea0f4efaa36f40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7b7e7100ce46a2" /><Relationship Type="http://schemas.openxmlformats.org/officeDocument/2006/relationships/notesSlide" Target="/ppt/notesSlides/notesSlide9.xml" Id="Rc9d94833ba8c44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286e9704f14125" /><Relationship Type="http://schemas.openxmlformats.org/officeDocument/2006/relationships/notesSlide" Target="/ppt/notesSlides/notesSlide10.xml" Id="R2d1f4a972e064f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2691972b1144560" /><Relationship Type="http://schemas.openxmlformats.org/officeDocument/2006/relationships/notesSlide" Target="/ppt/notesSlides/notesSlide11.xml" Id="Rfb7bb0a058484c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0e57a4dd78401f" /><Relationship Type="http://schemas.openxmlformats.org/officeDocument/2006/relationships/notesSlide" Target="/ppt/notesSlides/notesSlide12.xml" Id="Rf8617eb745da426d" /></Relationships>
</file>

<file path=ppt/slides/slide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0DECD9-2113-42A1-A87F-C03C40D3D179}"/>
              </a:ext>
            </a:extLst>
          </p:cNvPr>
          <p:cNvSpPr>
            <a:spLocks xmlns:a="http://schemas.openxmlformats.org/drawingml/2006/main" noGrp="1"/>
          </p:cNvSpPr>
          <p:nvPr/>
        </p:nvSpPr>
        <p:spPr>
          <a:xfrm xmlns:a="http://schemas.openxmlformats.org/drawingml/2006/main">
            <a:off x="609600" y="781050"/>
            <a:ext cx="95250" cy="4695825"/>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F774FD-EE7B-495F-A442-18D90315D7A5}"/>
              </a:ext>
            </a:extLst>
          </p:cNvPr>
          <p:cNvSpPr>
            <a:spLocks xmlns:a="http://schemas.openxmlformats.org/drawingml/2006/main" noGrp="1"/>
          </p:cNvSpPr>
          <p:nvPr/>
        </p:nvSpPr>
        <p:spPr>
          <a:xfrm xmlns:a="http://schemas.openxmlformats.org/drawingml/2006/main">
            <a:off x="1009650" y="1390650"/>
            <a:ext cx="666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5850" b="1">
                <a:solidFill>
                  <a:srgbClr val="F8FAFC"/>
                </a:solidFill>
                <a:latin typeface="Helvetica Neue"/>
                <a:ea typeface="Helvetica Neue"/>
                <a:cs typeface="Helvetica Neue"/>
              </a:defRPr>
            </a:pPr>
            <a:r>
              <a:rPr sz="5850" b="1">
                <a:solidFill>
                  <a:srgbClr val="F8FAFC"/>
                </a:solidFill>
                <a:latin typeface="Helvetica Neue"/>
                <a:ea typeface="Helvetica Neue"/>
                <a:cs typeface="Helvetica Neue"/>
              </a:rPr>
              <a:t>TWIN</a:t>
            </a:r>
          </a:p>
        </p:txBody>
      </p:sp>
      <p:sp>
        <p:nvSpPr>
          <p:cNvPr id="3" name="">
            <a:extLst xmlns:a="http://schemas.openxmlformats.org/drawingml/2006/main">
              <a:ext uri="{FF2B5EF4-FFF2-40B4-BE49-F238E27FC236}">
                <a16:creationId xmlns:a16="http://schemas.microsoft.com/office/drawing/2014/main" id="{4D2F0548-6AC1-4FC8-9D45-AD4A0C6B595D}"/>
              </a:ext>
            </a:extLst>
          </p:cNvPr>
          <p:cNvSpPr>
            <a:spLocks xmlns:a="http://schemas.openxmlformats.org/drawingml/2006/main" noGrp="1"/>
          </p:cNvSpPr>
          <p:nvPr/>
        </p:nvSpPr>
        <p:spPr>
          <a:xfrm xmlns:a="http://schemas.openxmlformats.org/drawingml/2006/main">
            <a:off x="1066800" y="2571750"/>
            <a:ext cx="8096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0000"/>
              </a:lnSpc>
              <a:buNone/>
              <a:defRPr sz="2550" b="0">
                <a:solidFill>
                  <a:srgbClr val="7DD3FC"/>
                </a:solidFill>
                <a:latin typeface="Helvetica Neue"/>
                <a:ea typeface="Helvetica Neue"/>
                <a:cs typeface="Helvetica Neue"/>
              </a:defRPr>
            </a:pPr>
            <a:r>
              <a:rPr sz="2550" b="0">
                <a:solidFill>
                  <a:srgbClr val="7DD3FC"/>
                </a:solidFill>
                <a:latin typeface="Helvetica Neue"/>
                <a:ea typeface="Helvetica Neue"/>
                <a:cs typeface="Helvetica Neue"/>
              </a:rPr>
              <a:t>No sadrumstalotiem datiem</a:t>
            </a:r>
          </a:p>
          <a:p xmlns:a="http://schemas.openxmlformats.org/drawingml/2006/main">
            <a:pPr algn="l">
              <a:lnSpc>
                <a:spcPct val="100000"/>
              </a:lnSpc>
              <a:buNone/>
              <a:defRPr sz="2550" b="0">
                <a:solidFill>
                  <a:srgbClr val="7DD3FC"/>
                </a:solidFill>
                <a:latin typeface="Helvetica Neue"/>
                <a:ea typeface="Helvetica Neue"/>
                <a:cs typeface="Helvetica Neue"/>
              </a:defRPr>
            </a:pPr>
            <a:r>
              <a:rPr sz="2550" b="0">
                <a:solidFill>
                  <a:srgbClr val="7DD3FC"/>
                </a:solidFill>
                <a:latin typeface="Helvetica Neue"/>
                <a:ea typeface="Helvetica Neue"/>
                <a:cs typeface="Helvetica Neue"/>
              </a:rPr>
              <a:t>līdz operacionālajai inteliģencei</a:t>
            </a:r>
          </a:p>
        </p:txBody>
      </p:sp>
      <p:sp>
        <p:nvSpPr>
          <p:cNvPr id="4" name="">
            <a:extLst xmlns:a="http://schemas.openxmlformats.org/drawingml/2006/main">
              <a:ext uri="{FF2B5EF4-FFF2-40B4-BE49-F238E27FC236}">
                <a16:creationId xmlns:a16="http://schemas.microsoft.com/office/drawing/2014/main" id="{DAEE8D65-B216-42E5-A8AC-BA76E5CCF441}"/>
              </a:ext>
            </a:extLst>
          </p:cNvPr>
          <p:cNvSpPr>
            <a:spLocks xmlns:a="http://schemas.openxmlformats.org/drawingml/2006/main" noGrp="1"/>
          </p:cNvSpPr>
          <p:nvPr/>
        </p:nvSpPr>
        <p:spPr>
          <a:xfrm xmlns:a="http://schemas.openxmlformats.org/drawingml/2006/main">
            <a:off x="1066800" y="40576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725" b="0">
                <a:solidFill>
                  <a:srgbClr val="CBD5E1"/>
                </a:solidFill>
                <a:latin typeface="Helvetica Neue"/>
                <a:ea typeface="Helvetica Neue"/>
                <a:cs typeface="Helvetica Neue"/>
              </a:defRPr>
            </a:pPr>
            <a:r>
              <a:rPr sz="1725" b="0">
                <a:solidFill>
                  <a:srgbClr val="CBD5E1"/>
                </a:solidFill>
                <a:latin typeface="Helvetica Neue"/>
                <a:ea typeface="Helvetica Neue"/>
                <a:cs typeface="Helvetica Neue"/>
              </a:rPr>
              <a:t>Loģistikas uzņēmumu datu un inteliģences platforma</a:t>
            </a:r>
          </a:p>
        </p:txBody>
      </p:sp>
      <p:sp>
        <p:nvSpPr>
          <p:cNvPr id="5" name="">
            <a:extLst xmlns:a="http://schemas.openxmlformats.org/drawingml/2006/main">
              <a:ext uri="{FF2B5EF4-FFF2-40B4-BE49-F238E27FC236}">
                <a16:creationId xmlns:a16="http://schemas.microsoft.com/office/drawing/2014/main" id="{88C1FDEF-DE8C-48F2-A43D-2F477ACC0F4B}"/>
              </a:ext>
            </a:extLst>
          </p:cNvPr>
          <p:cNvSpPr>
            <a:spLocks xmlns:a="http://schemas.openxmlformats.org/drawingml/2006/main" noGrp="1"/>
          </p:cNvSpPr>
          <p:nvPr/>
        </p:nvSpPr>
        <p:spPr>
          <a:xfrm xmlns:a="http://schemas.openxmlformats.org/drawingml/2006/main">
            <a:off x="8829675" y="1162050"/>
            <a:ext cx="2286000" cy="2286000"/>
          </a:xfrm>
          <a:prstGeom xmlns:a="http://schemas.openxmlformats.org/drawingml/2006/main" prst="roundRect">
            <a:avLst>
              <a:gd name="adj" fmla="val 50000"/>
            </a:avLst>
          </a:prstGeom>
          <a:solidFill xmlns:a="http://schemas.openxmlformats.org/drawingml/2006/main">
            <a:srgbClr val="0F2A45"/>
          </a:solidFill>
          <a:ln xmlns:a="http://schemas.openxmlformats.org/drawingml/2006/main" w="19050">
            <a:solidFill>
              <a:srgbClr val="214D72"/>
            </a:solidFill>
            <a:prstDash val="solid"/>
          </a:ln>
        </p:spPr>
      </p:sp>
      <p:sp>
        <p:nvSpPr>
          <p:cNvPr id="6" name="">
            <a:extLst xmlns:a="http://schemas.openxmlformats.org/drawingml/2006/main">
              <a:ext uri="{FF2B5EF4-FFF2-40B4-BE49-F238E27FC236}">
                <a16:creationId xmlns:a16="http://schemas.microsoft.com/office/drawing/2014/main" id="{1C998C54-EC78-4814-A46E-83F740F7BE1A}"/>
              </a:ext>
            </a:extLst>
          </p:cNvPr>
          <p:cNvSpPr>
            <a:spLocks xmlns:a="http://schemas.openxmlformats.org/drawingml/2006/main" noGrp="1"/>
          </p:cNvSpPr>
          <p:nvPr/>
        </p:nvSpPr>
        <p:spPr>
          <a:xfrm xmlns:a="http://schemas.openxmlformats.org/drawingml/2006/main">
            <a:off x="9344025" y="1676400"/>
            <a:ext cx="1257300" cy="12573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F8E879D-F9A5-4A2E-ABCB-C4BE4FFC6558}"/>
              </a:ext>
            </a:extLst>
          </p:cNvPr>
          <p:cNvSpPr>
            <a:spLocks xmlns:a="http://schemas.openxmlformats.org/drawingml/2006/main" noGrp="1"/>
          </p:cNvSpPr>
          <p:nvPr/>
        </p:nvSpPr>
        <p:spPr>
          <a:xfrm xmlns:a="http://schemas.openxmlformats.org/drawingml/2006/main">
            <a:off x="9658350" y="1752600"/>
            <a:ext cx="647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4800" b="1">
                <a:solidFill>
                  <a:srgbClr val="071525"/>
                </a:solidFill>
                <a:latin typeface="Helvetica Neue"/>
                <a:ea typeface="Helvetica Neue"/>
                <a:cs typeface="Helvetica Neue"/>
              </a:defRPr>
            </a:pPr>
            <a:r>
              <a:rPr sz="4800" b="1">
                <a:solidFill>
                  <a:srgbClr val="071525"/>
                </a:solidFill>
                <a:latin typeface="Helvetica Neue"/>
                <a:ea typeface="Helvetica Neue"/>
                <a:cs typeface="Helvetica Neue"/>
              </a:rPr>
              <a:t>T</a:t>
            </a:r>
          </a:p>
        </p:txBody>
      </p:sp>
      <p:sp>
        <p:nvSpPr>
          <p:cNvPr id="8" name="">
            <a:extLst xmlns:a="http://schemas.openxmlformats.org/drawingml/2006/main">
              <a:ext uri="{FF2B5EF4-FFF2-40B4-BE49-F238E27FC236}">
                <a16:creationId xmlns:a16="http://schemas.microsoft.com/office/drawing/2014/main" id="{F943D1E6-FF81-4A9B-A507-9AAB3C441887}"/>
              </a:ext>
            </a:extLst>
          </p:cNvPr>
          <p:cNvSpPr>
            <a:spLocks xmlns:a="http://schemas.openxmlformats.org/drawingml/2006/main" noGrp="1"/>
          </p:cNvSpPr>
          <p:nvPr/>
        </p:nvSpPr>
        <p:spPr>
          <a:xfrm xmlns:a="http://schemas.openxmlformats.org/drawingml/2006/main">
            <a:off x="1057275" y="5953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200" b="0">
                <a:solidFill>
                  <a:srgbClr val="94A3B8"/>
                </a:solidFill>
                <a:latin typeface="Helvetica Neue"/>
                <a:ea typeface="Helvetica Neue"/>
                <a:cs typeface="Helvetica Neue"/>
              </a:defRPr>
            </a:pPr>
            <a:r>
              <a:rPr sz="1200" b="0">
                <a:solidFill>
                  <a:srgbClr val="94A3B8"/>
                </a:solidFill>
                <a:latin typeface="Helvetica Neue"/>
                <a:ea typeface="Helvetica Neue"/>
                <a:cs typeface="Helvetica Neue"/>
              </a:rPr>
              <a:t>Projekta izvērtējums komandai  •  2026</a:t>
            </a:r>
          </a:p>
        </p:txBody>
      </p:sp>
    </p:spTree>
    <p:extLst>
      <p:ext uri="{BB962C8B-B14F-4D97-AF65-F5344CB8AC3E}">
        <p14:creationId xmlns:p14="http://schemas.microsoft.com/office/powerpoint/2010/main" val="69546121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6CF4F26-6657-4C43-A470-EC8ABF0A34DC}"/>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A68D9602-164E-46DD-875B-34EB48537149}"/>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22497222-9155-4971-B905-ADD39F656738}"/>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Datu ir daudz. Sistēmas nav.</a:t>
            </a:r>
          </a:p>
        </p:txBody>
      </p:sp>
      <p:sp>
        <p:nvSpPr>
          <p:cNvPr id="4" name="">
            <a:extLst xmlns:a="http://schemas.openxmlformats.org/drawingml/2006/main">
              <a:ext uri="{FF2B5EF4-FFF2-40B4-BE49-F238E27FC236}">
                <a16:creationId xmlns:a16="http://schemas.microsoft.com/office/drawing/2014/main" id="{93A5025C-99BE-48E5-B778-6CECADC52AFD}"/>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Potenciālā vide mazā vai vidējā loģistikas uzņēmumā</a:t>
            </a:r>
          </a:p>
        </p:txBody>
      </p:sp>
      <p:sp>
        <p:nvSpPr>
          <p:cNvPr id="5" name="">
            <a:extLst xmlns:a="http://schemas.openxmlformats.org/drawingml/2006/main">
              <a:ext uri="{FF2B5EF4-FFF2-40B4-BE49-F238E27FC236}">
                <a16:creationId xmlns:a16="http://schemas.microsoft.com/office/drawing/2014/main" id="{AB080F61-869F-4BA0-880A-7CB1E2A7E48A}"/>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809CFA5-F1CF-4D09-A3FB-6FE9D15A0EAD}"/>
              </a:ext>
            </a:extLst>
          </p:cNvPr>
          <p:cNvSpPr>
            <a:spLocks xmlns:a="http://schemas.openxmlformats.org/drawingml/2006/main" noGrp="1"/>
          </p:cNvSpPr>
          <p:nvPr/>
        </p:nvSpPr>
        <p:spPr>
          <a:xfrm xmlns:a="http://schemas.openxmlformats.org/drawingml/2006/main">
            <a:off x="628650" y="1990725"/>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Excel / CSV</a:t>
            </a:r>
          </a:p>
        </p:txBody>
      </p:sp>
      <p:sp>
        <p:nvSpPr>
          <p:cNvPr id="7" name="">
            <a:extLst xmlns:a="http://schemas.openxmlformats.org/drawingml/2006/main">
              <a:ext uri="{FF2B5EF4-FFF2-40B4-BE49-F238E27FC236}">
                <a16:creationId xmlns:a16="http://schemas.microsoft.com/office/drawing/2014/main" id="{39328F83-552D-48D4-BB00-DD681872D7A9}"/>
              </a:ext>
            </a:extLst>
          </p:cNvPr>
          <p:cNvSpPr>
            <a:spLocks xmlns:a="http://schemas.openxmlformats.org/drawingml/2006/main" noGrp="1"/>
          </p:cNvSpPr>
          <p:nvPr/>
        </p:nvSpPr>
        <p:spPr>
          <a:xfrm xmlns:a="http://schemas.openxmlformats.org/drawingml/2006/main">
            <a:off x="2581275" y="1990725"/>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123A63"/>
                </a:solidFill>
                <a:latin typeface="Helvetica Neue"/>
                <a:ea typeface="Helvetica Neue"/>
                <a:cs typeface="Helvetica Neue"/>
              </a:defRPr>
            </a:pPr>
            <a:r>
              <a:rPr sz="1350" b="1">
                <a:solidFill>
                  <a:srgbClr val="123A63"/>
                </a:solidFill>
                <a:latin typeface="Helvetica Neue"/>
                <a:ea typeface="Helvetica Neue"/>
                <a:cs typeface="Helvetica Neue"/>
              </a:rPr>
              <a:t>Rēķini</a:t>
            </a:r>
          </a:p>
        </p:txBody>
      </p:sp>
      <p:sp>
        <p:nvSpPr>
          <p:cNvPr id="8" name="">
            <a:extLst xmlns:a="http://schemas.openxmlformats.org/drawingml/2006/main">
              <a:ext uri="{FF2B5EF4-FFF2-40B4-BE49-F238E27FC236}">
                <a16:creationId xmlns:a16="http://schemas.microsoft.com/office/drawing/2014/main" id="{188AEC71-C114-41FF-87B2-021C29308537}"/>
              </a:ext>
            </a:extLst>
          </p:cNvPr>
          <p:cNvSpPr>
            <a:spLocks xmlns:a="http://schemas.openxmlformats.org/drawingml/2006/main" noGrp="1"/>
          </p:cNvSpPr>
          <p:nvPr/>
        </p:nvSpPr>
        <p:spPr>
          <a:xfrm xmlns:a="http://schemas.openxmlformats.org/drawingml/2006/main">
            <a:off x="628650" y="2724150"/>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B/L</a:t>
            </a:r>
          </a:p>
        </p:txBody>
      </p:sp>
      <p:sp>
        <p:nvSpPr>
          <p:cNvPr id="9" name="">
            <a:extLst xmlns:a="http://schemas.openxmlformats.org/drawingml/2006/main">
              <a:ext uri="{FF2B5EF4-FFF2-40B4-BE49-F238E27FC236}">
                <a16:creationId xmlns:a16="http://schemas.microsoft.com/office/drawing/2014/main" id="{33509A78-8AB2-4B75-9555-38BB5C4BE345}"/>
              </a:ext>
            </a:extLst>
          </p:cNvPr>
          <p:cNvSpPr>
            <a:spLocks xmlns:a="http://schemas.openxmlformats.org/drawingml/2006/main" noGrp="1"/>
          </p:cNvSpPr>
          <p:nvPr/>
        </p:nvSpPr>
        <p:spPr>
          <a:xfrm xmlns:a="http://schemas.openxmlformats.org/drawingml/2006/main">
            <a:off x="2581275" y="2724150"/>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123A63"/>
                </a:solidFill>
                <a:latin typeface="Helvetica Neue"/>
                <a:ea typeface="Helvetica Neue"/>
                <a:cs typeface="Helvetica Neue"/>
              </a:defRPr>
            </a:pPr>
            <a:r>
              <a:rPr sz="1350" b="1">
                <a:solidFill>
                  <a:srgbClr val="123A63"/>
                </a:solidFill>
                <a:latin typeface="Helvetica Neue"/>
                <a:ea typeface="Helvetica Neue"/>
                <a:cs typeface="Helvetica Neue"/>
              </a:rPr>
              <a:t>E-pasts</a:t>
            </a:r>
          </a:p>
        </p:txBody>
      </p:sp>
      <p:sp>
        <p:nvSpPr>
          <p:cNvPr id="10" name="">
            <a:extLst xmlns:a="http://schemas.openxmlformats.org/drawingml/2006/main">
              <a:ext uri="{FF2B5EF4-FFF2-40B4-BE49-F238E27FC236}">
                <a16:creationId xmlns:a16="http://schemas.microsoft.com/office/drawing/2014/main" id="{2CA0F0FD-D656-42CE-8FB9-128CE689BDBB}"/>
              </a:ext>
            </a:extLst>
          </p:cNvPr>
          <p:cNvSpPr>
            <a:spLocks xmlns:a="http://schemas.openxmlformats.org/drawingml/2006/main" noGrp="1"/>
          </p:cNvSpPr>
          <p:nvPr/>
        </p:nvSpPr>
        <p:spPr>
          <a:xfrm xmlns:a="http://schemas.openxmlformats.org/drawingml/2006/main">
            <a:off x="628650" y="3457575"/>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TMS</a:t>
            </a:r>
          </a:p>
        </p:txBody>
      </p:sp>
      <p:sp>
        <p:nvSpPr>
          <p:cNvPr id="11" name="">
            <a:extLst xmlns:a="http://schemas.openxmlformats.org/drawingml/2006/main">
              <a:ext uri="{FF2B5EF4-FFF2-40B4-BE49-F238E27FC236}">
                <a16:creationId xmlns:a16="http://schemas.microsoft.com/office/drawing/2014/main" id="{F393D86F-28DA-4309-8343-168763CC51C9}"/>
              </a:ext>
            </a:extLst>
          </p:cNvPr>
          <p:cNvSpPr>
            <a:spLocks xmlns:a="http://schemas.openxmlformats.org/drawingml/2006/main" noGrp="1"/>
          </p:cNvSpPr>
          <p:nvPr/>
        </p:nvSpPr>
        <p:spPr>
          <a:xfrm xmlns:a="http://schemas.openxmlformats.org/drawingml/2006/main">
            <a:off x="2581275" y="3457575"/>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123A63"/>
                </a:solidFill>
                <a:latin typeface="Helvetica Neue"/>
                <a:ea typeface="Helvetica Neue"/>
                <a:cs typeface="Helvetica Neue"/>
              </a:defRPr>
            </a:pPr>
            <a:r>
              <a:rPr sz="1350" b="1">
                <a:solidFill>
                  <a:srgbClr val="123A63"/>
                </a:solidFill>
                <a:latin typeface="Helvetica Neue"/>
                <a:ea typeface="Helvetica Neue"/>
                <a:cs typeface="Helvetica Neue"/>
              </a:rPr>
              <a:t>ERP</a:t>
            </a:r>
          </a:p>
        </p:txBody>
      </p:sp>
      <p:sp>
        <p:nvSpPr>
          <p:cNvPr id="12" name="">
            <a:extLst xmlns:a="http://schemas.openxmlformats.org/drawingml/2006/main">
              <a:ext uri="{FF2B5EF4-FFF2-40B4-BE49-F238E27FC236}">
                <a16:creationId xmlns:a16="http://schemas.microsoft.com/office/drawing/2014/main" id="{F40655D1-AD93-4387-B0EE-12A8CEB1512F}"/>
              </a:ext>
            </a:extLst>
          </p:cNvPr>
          <p:cNvSpPr>
            <a:spLocks xmlns:a="http://schemas.openxmlformats.org/drawingml/2006/main" noGrp="1"/>
          </p:cNvSpPr>
          <p:nvPr/>
        </p:nvSpPr>
        <p:spPr>
          <a:xfrm xmlns:a="http://schemas.openxmlformats.org/drawingml/2006/main">
            <a:off x="628650" y="4191000"/>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Carrier portāli</a:t>
            </a:r>
          </a:p>
        </p:txBody>
      </p:sp>
      <p:sp>
        <p:nvSpPr>
          <p:cNvPr id="13" name="">
            <a:extLst xmlns:a="http://schemas.openxmlformats.org/drawingml/2006/main">
              <a:ext uri="{FF2B5EF4-FFF2-40B4-BE49-F238E27FC236}">
                <a16:creationId xmlns:a16="http://schemas.microsoft.com/office/drawing/2014/main" id="{AF6A7A48-CF76-4A7D-B645-EFD489766807}"/>
              </a:ext>
            </a:extLst>
          </p:cNvPr>
          <p:cNvSpPr>
            <a:spLocks xmlns:a="http://schemas.openxmlformats.org/drawingml/2006/main" noGrp="1"/>
          </p:cNvSpPr>
          <p:nvPr/>
        </p:nvSpPr>
        <p:spPr>
          <a:xfrm xmlns:a="http://schemas.openxmlformats.org/drawingml/2006/main">
            <a:off x="2581275" y="4191000"/>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123A63"/>
                </a:solidFill>
                <a:latin typeface="Helvetica Neue"/>
                <a:ea typeface="Helvetica Neue"/>
                <a:cs typeface="Helvetica Neue"/>
              </a:defRPr>
            </a:pPr>
            <a:r>
              <a:rPr sz="1350" b="1">
                <a:solidFill>
                  <a:srgbClr val="123A63"/>
                </a:solidFill>
                <a:latin typeface="Helvetica Neue"/>
                <a:ea typeface="Helvetica Neue"/>
                <a:cs typeface="Helvetica Neue"/>
              </a:rPr>
              <a:t>Banka</a:t>
            </a:r>
          </a:p>
        </p:txBody>
      </p:sp>
      <p:sp>
        <p:nvSpPr>
          <p:cNvPr id="14" name="">
            <a:extLst xmlns:a="http://schemas.openxmlformats.org/drawingml/2006/main">
              <a:ext uri="{FF2B5EF4-FFF2-40B4-BE49-F238E27FC236}">
                <a16:creationId xmlns:a16="http://schemas.microsoft.com/office/drawing/2014/main" id="{0FDCD778-F486-4D95-A2E1-1F08C11AB609}"/>
              </a:ext>
            </a:extLst>
          </p:cNvPr>
          <p:cNvSpPr>
            <a:spLocks xmlns:a="http://schemas.openxmlformats.org/drawingml/2006/main" noGrp="1"/>
          </p:cNvSpPr>
          <p:nvPr/>
        </p:nvSpPr>
        <p:spPr>
          <a:xfrm xmlns:a="http://schemas.openxmlformats.org/drawingml/2006/main">
            <a:off x="4619625" y="2076450"/>
            <a:ext cx="19050" cy="3067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F4F32A5-6816-47CE-AB41-BB085742CC97}"/>
              </a:ext>
            </a:extLst>
          </p:cNvPr>
          <p:cNvSpPr>
            <a:spLocks xmlns:a="http://schemas.openxmlformats.org/drawingml/2006/main" noGrp="1"/>
          </p:cNvSpPr>
          <p:nvPr/>
        </p:nvSpPr>
        <p:spPr>
          <a:xfrm xmlns:a="http://schemas.openxmlformats.org/drawingml/2006/main">
            <a:off x="4848225" y="2828925"/>
            <a:ext cx="904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5100" b="1">
                <a:solidFill>
                  <a:srgbClr val="E66A5C"/>
                </a:solidFill>
                <a:latin typeface="Helvetica Neue"/>
                <a:ea typeface="Helvetica Neue"/>
                <a:cs typeface="Helvetica Neue"/>
              </a:defRPr>
            </a:pPr>
            <a:r>
              <a:rPr sz="5100" b="1">
                <a:solidFill>
                  <a:srgbClr val="E66A5C"/>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525A43DB-8F86-47BB-8665-1BE9AE1BE489}"/>
              </a:ext>
            </a:extLst>
          </p:cNvPr>
          <p:cNvSpPr>
            <a:spLocks xmlns:a="http://schemas.openxmlformats.org/drawingml/2006/main" noGrp="1"/>
          </p:cNvSpPr>
          <p:nvPr/>
        </p:nvSpPr>
        <p:spPr>
          <a:xfrm xmlns:a="http://schemas.openxmlformats.org/drawingml/2006/main">
            <a:off x="4733925" y="3714750"/>
            <a:ext cx="1162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1999"/>
          </a:bodyPr>
          <a:lstStyle xmlns:a="http://schemas.openxmlformats.org/drawingml/2006/main"/>
          <a:p xmlns:a="http://schemas.openxmlformats.org/drawingml/2006/main">
            <a:pPr algn="ctr">
              <a:lnSpc>
                <a:spcPct val="104000"/>
              </a:lnSpc>
              <a:buNone/>
              <a:defRPr sz="1350" b="1">
                <a:solidFill>
                  <a:srgbClr val="64748B"/>
                </a:solidFill>
                <a:latin typeface="Helvetica Neue"/>
                <a:ea typeface="Helvetica Neue"/>
                <a:cs typeface="Helvetica Neue"/>
              </a:defRPr>
            </a:pPr>
            <a:r>
              <a:rPr sz="1350" b="1">
                <a:solidFill>
                  <a:srgbClr val="64748B"/>
                </a:solidFill>
                <a:latin typeface="Helvetica Neue"/>
                <a:ea typeface="Helvetica Neue"/>
                <a:cs typeface="Helvetica Neue"/>
              </a:rPr>
              <a:t>NESAISTĪTA</a:t>
            </a:r>
          </a:p>
          <a:p xmlns:a="http://schemas.openxmlformats.org/drawingml/2006/main">
            <a:pPr algn="ctr">
              <a:lnSpc>
                <a:spcPct val="104000"/>
              </a:lnSpc>
              <a:buNone/>
              <a:defRPr sz="1350" b="1">
                <a:solidFill>
                  <a:srgbClr val="64748B"/>
                </a:solidFill>
                <a:latin typeface="Helvetica Neue"/>
                <a:ea typeface="Helvetica Neue"/>
                <a:cs typeface="Helvetica Neue"/>
              </a:defRPr>
            </a:pPr>
            <a:r>
              <a:rPr sz="1350" b="1">
                <a:solidFill>
                  <a:srgbClr val="64748B"/>
                </a:solidFill>
                <a:latin typeface="Helvetica Neue"/>
                <a:ea typeface="Helvetica Neue"/>
                <a:cs typeface="Helvetica Neue"/>
              </a:rPr>
              <a:t>INFORMĀCIJA</a:t>
            </a:r>
          </a:p>
        </p:txBody>
      </p:sp>
      <p:sp>
        <p:nvSpPr>
          <p:cNvPr id="17" name="">
            <a:extLst xmlns:a="http://schemas.openxmlformats.org/drawingml/2006/main">
              <a:ext uri="{FF2B5EF4-FFF2-40B4-BE49-F238E27FC236}">
                <a16:creationId xmlns:a16="http://schemas.microsoft.com/office/drawing/2014/main" id="{30D807E2-A75E-44EF-A6A8-26F231243049}"/>
              </a:ext>
            </a:extLst>
          </p:cNvPr>
          <p:cNvSpPr>
            <a:spLocks xmlns:a="http://schemas.openxmlformats.org/drawingml/2006/main" noGrp="1"/>
          </p:cNvSpPr>
          <p:nvPr/>
        </p:nvSpPr>
        <p:spPr>
          <a:xfrm xmlns:a="http://schemas.openxmlformats.org/drawingml/2006/main">
            <a:off x="6334125" y="1943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Atkārtota manuāla ievade</a:t>
            </a:r>
          </a:p>
        </p:txBody>
      </p:sp>
      <p:sp>
        <p:nvSpPr>
          <p:cNvPr id="18" name="">
            <a:extLst xmlns:a="http://schemas.openxmlformats.org/drawingml/2006/main">
              <a:ext uri="{FF2B5EF4-FFF2-40B4-BE49-F238E27FC236}">
                <a16:creationId xmlns:a16="http://schemas.microsoft.com/office/drawing/2014/main" id="{F0554D10-FB86-46CD-A163-51D44D380633}"/>
              </a:ext>
            </a:extLst>
          </p:cNvPr>
          <p:cNvSpPr>
            <a:spLocks xmlns:a="http://schemas.openxmlformats.org/drawingml/2006/main" noGrp="1"/>
          </p:cNvSpPr>
          <p:nvPr/>
        </p:nvSpPr>
        <p:spPr>
          <a:xfrm xmlns:a="http://schemas.openxmlformats.org/drawingml/2006/main">
            <a:off x="6334125" y="24955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Manuāli reporti</a:t>
            </a:r>
          </a:p>
        </p:txBody>
      </p:sp>
      <p:sp>
        <p:nvSpPr>
          <p:cNvPr id="19" name="">
            <a:extLst xmlns:a="http://schemas.openxmlformats.org/drawingml/2006/main">
              <a:ext uri="{FF2B5EF4-FFF2-40B4-BE49-F238E27FC236}">
                <a16:creationId xmlns:a16="http://schemas.microsoft.com/office/drawing/2014/main" id="{C1025709-E48B-4392-9F61-0AF9F38C33B5}"/>
              </a:ext>
            </a:extLst>
          </p:cNvPr>
          <p:cNvSpPr>
            <a:spLocks xmlns:a="http://schemas.openxmlformats.org/drawingml/2006/main" noGrp="1"/>
          </p:cNvSpPr>
          <p:nvPr/>
        </p:nvSpPr>
        <p:spPr>
          <a:xfrm xmlns:a="http://schemas.openxmlformats.org/drawingml/2006/main">
            <a:off x="6334125" y="30480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Datu kvalitātes problēmas</a:t>
            </a:r>
          </a:p>
        </p:txBody>
      </p:sp>
      <p:sp>
        <p:nvSpPr>
          <p:cNvPr id="20" name="">
            <a:extLst xmlns:a="http://schemas.openxmlformats.org/drawingml/2006/main">
              <a:ext uri="{FF2B5EF4-FFF2-40B4-BE49-F238E27FC236}">
                <a16:creationId xmlns:a16="http://schemas.microsoft.com/office/drawing/2014/main" id="{3D5199EB-90BA-445D-BBBA-50A8EE5CDFF3}"/>
              </a:ext>
            </a:extLst>
          </p:cNvPr>
          <p:cNvSpPr>
            <a:spLocks xmlns:a="http://schemas.openxmlformats.org/drawingml/2006/main" noGrp="1"/>
          </p:cNvSpPr>
          <p:nvPr/>
        </p:nvSpPr>
        <p:spPr>
          <a:xfrm xmlns:a="http://schemas.openxmlformats.org/drawingml/2006/main">
            <a:off x="6334125" y="36004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Grūti redzēt peļņu pa shipment</a:t>
            </a:r>
          </a:p>
        </p:txBody>
      </p:sp>
      <p:sp>
        <p:nvSpPr>
          <p:cNvPr id="21" name="">
            <a:extLst xmlns:a="http://schemas.openxmlformats.org/drawingml/2006/main">
              <a:ext uri="{FF2B5EF4-FFF2-40B4-BE49-F238E27FC236}">
                <a16:creationId xmlns:a16="http://schemas.microsoft.com/office/drawing/2014/main" id="{0186A3DA-B808-457D-9AFD-FEF271E98E0B}"/>
              </a:ext>
            </a:extLst>
          </p:cNvPr>
          <p:cNvSpPr>
            <a:spLocks xmlns:a="http://schemas.openxmlformats.org/drawingml/2006/main" noGrp="1"/>
          </p:cNvSpPr>
          <p:nvPr/>
        </p:nvSpPr>
        <p:spPr>
          <a:xfrm xmlns:a="http://schemas.openxmlformats.org/drawingml/2006/main">
            <a:off x="6334125" y="41529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Vēsture nav izsekojama</a:t>
            </a:r>
          </a:p>
        </p:txBody>
      </p:sp>
      <p:sp>
        <p:nvSpPr>
          <p:cNvPr id="22" name="">
            <a:extLst xmlns:a="http://schemas.openxmlformats.org/drawingml/2006/main">
              <a:ext uri="{FF2B5EF4-FFF2-40B4-BE49-F238E27FC236}">
                <a16:creationId xmlns:a16="http://schemas.microsoft.com/office/drawing/2014/main" id="{BFDABA7A-4527-47F3-B12C-9ABC1A5B7DBD}"/>
              </a:ext>
            </a:extLst>
          </p:cNvPr>
          <p:cNvSpPr>
            <a:spLocks xmlns:a="http://schemas.openxmlformats.org/drawingml/2006/main" noGrp="1"/>
          </p:cNvSpPr>
          <p:nvPr/>
        </p:nvSpPr>
        <p:spPr>
          <a:xfrm xmlns:a="http://schemas.openxmlformats.org/drawingml/2006/main">
            <a:off x="6334125" y="47053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Lēmumi no vairākiem avotiem</a:t>
            </a:r>
          </a:p>
        </p:txBody>
      </p:sp>
      <p:sp>
        <p:nvSpPr>
          <p:cNvPr id="23" name="">
            <a:extLst xmlns:a="http://schemas.openxmlformats.org/drawingml/2006/main">
              <a:ext uri="{FF2B5EF4-FFF2-40B4-BE49-F238E27FC236}">
                <a16:creationId xmlns:a16="http://schemas.microsoft.com/office/drawing/2014/main" id="{0F977D9C-DEF2-4272-90A8-2274028A5ABB}"/>
              </a:ext>
            </a:extLst>
          </p:cNvPr>
          <p:cNvSpPr>
            <a:spLocks xmlns:a="http://schemas.openxmlformats.org/drawingml/2006/main" noGrp="1"/>
          </p:cNvSpPr>
          <p:nvPr/>
        </p:nvSpPr>
        <p:spPr>
          <a:xfrm xmlns:a="http://schemas.openxmlformats.org/drawingml/2006/main">
            <a:off x="628650" y="5562600"/>
            <a:ext cx="10467975" cy="552450"/>
          </a:xfrm>
          <a:prstGeom xmlns:a="http://schemas.openxmlformats.org/drawingml/2006/main" prst="roundRect">
            <a:avLst>
              <a:gd name="adj" fmla="val 20690"/>
            </a:avLst>
          </a:prstGeom>
          <a:solidFill xmlns:a="http://schemas.openxmlformats.org/drawingml/2006/main">
            <a:srgbClr val="EAF4FA"/>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025" b="1">
                <a:solidFill>
                  <a:srgbClr val="071525"/>
                </a:solidFill>
                <a:latin typeface="Helvetica Neue"/>
                <a:ea typeface="Helvetica Neue"/>
                <a:cs typeface="Helvetica Neue"/>
              </a:defRPr>
            </a:pPr>
            <a:r>
              <a:rPr sz="2025" b="1">
                <a:solidFill>
                  <a:srgbClr val="071525"/>
                </a:solidFill>
                <a:latin typeface="Helvetica Neue"/>
                <a:ea typeface="Helvetica Neue"/>
                <a:cs typeface="Helvetica Neue"/>
              </a:rPr>
              <a:t>Problēma nav datu trūkums. Problēma ir tas, ka dati nedarbojas kā viena sistēma.</a:t>
            </a:r>
          </a:p>
        </p:txBody>
      </p:sp>
      <p:sp>
        <p:nvSpPr>
          <p:cNvPr id="24" name="">
            <a:extLst xmlns:a="http://schemas.openxmlformats.org/drawingml/2006/main">
              <a:ext uri="{FF2B5EF4-FFF2-40B4-BE49-F238E27FC236}">
                <a16:creationId xmlns:a16="http://schemas.microsoft.com/office/drawing/2014/main" id="{3183411F-D5A8-4C32-8FBA-912FF760FA7A}"/>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Hipotēze, kas jāpārbauda klientu intervijās</a:t>
            </a:r>
          </a:p>
        </p:txBody>
      </p:sp>
    </p:spTree>
    <p:extLst>
      <p:ext uri="{BB962C8B-B14F-4D97-AF65-F5344CB8AC3E}">
        <p14:creationId xmlns:p14="http://schemas.microsoft.com/office/powerpoint/2010/main" val="1583601788"/>
      </p:ext>
    </p:extLst>
  </p:cSld>
</p:sld>
</file>

<file path=ppt/slides/slide3.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3BD899D-4C2A-4513-932E-7203389625DE}"/>
              </a:ext>
            </a:extLst>
          </p:cNvPr>
          <p:cNvSpPr>
            <a:spLocks xmlns:a="http://schemas.openxmlformats.org/drawingml/2006/main" noGrp="1"/>
          </p:cNvSpPr>
          <p:nvPr/>
        </p:nvSpPr>
        <p:spPr>
          <a:xfrm xmlns:a="http://schemas.openxmlformats.org/drawingml/2006/main">
            <a:off x="552450" y="495300"/>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1055"/>
          </a:bodyPr>
          <a:lstStyle xmlns:a="http://schemas.openxmlformats.org/drawingml/2006/main"/>
          <a:p xmlns:a="http://schemas.openxmlformats.org/drawingml/2006/main">
            <a:pPr algn="l">
              <a:lnSpc>
                <a:spcPct val="104000"/>
              </a:lnSpc>
              <a:buNone/>
              <a:defRPr sz="3300" b="1">
                <a:solidFill>
                  <a:srgbClr val="F8FAFC"/>
                </a:solidFill>
                <a:latin typeface="Helvetica Neue"/>
                <a:ea typeface="Helvetica Neue"/>
                <a:cs typeface="Helvetica Neue"/>
              </a:defRPr>
            </a:pPr>
            <a:r>
              <a:rPr sz="3300" b="1">
                <a:solidFill>
                  <a:srgbClr val="F8FAFC"/>
                </a:solidFill>
                <a:latin typeface="Helvetica Neue"/>
                <a:ea typeface="Helvetica Neue"/>
                <a:cs typeface="Helvetica Neue"/>
              </a:rPr>
              <a:t>TWIN pamatideja</a:t>
            </a:r>
          </a:p>
        </p:txBody>
      </p:sp>
      <p:sp>
        <p:nvSpPr>
          <p:cNvPr id="2" name="">
            <a:extLst xmlns:a="http://schemas.openxmlformats.org/drawingml/2006/main">
              <a:ext uri="{FF2B5EF4-FFF2-40B4-BE49-F238E27FC236}">
                <a16:creationId xmlns:a16="http://schemas.microsoft.com/office/drawing/2014/main" id="{BD75C113-991B-458A-A6A8-C446E15D2A10}"/>
              </a:ext>
            </a:extLst>
          </p:cNvPr>
          <p:cNvSpPr>
            <a:spLocks xmlns:a="http://schemas.openxmlformats.org/drawingml/2006/main" noGrp="1"/>
          </p:cNvSpPr>
          <p:nvPr/>
        </p:nvSpPr>
        <p:spPr>
          <a:xfrm xmlns:a="http://schemas.openxmlformats.org/drawingml/2006/main">
            <a:off x="571500" y="1104900"/>
            <a:ext cx="685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8339"/>
          </a:bodyPr>
          <a:lstStyle xmlns:a="http://schemas.openxmlformats.org/drawingml/2006/main"/>
          <a:p xmlns:a="http://schemas.openxmlformats.org/drawingml/2006/main">
            <a:pPr algn="l">
              <a:lnSpc>
                <a:spcPct val="104000"/>
              </a:lnSpc>
              <a:buNone/>
              <a:defRPr sz="1650" b="0">
                <a:solidFill>
                  <a:srgbClr val="7DD3FC"/>
                </a:solidFill>
                <a:latin typeface="Helvetica Neue"/>
                <a:ea typeface="Helvetica Neue"/>
                <a:cs typeface="Helvetica Neue"/>
              </a:defRPr>
            </a:pPr>
            <a:r>
              <a:rPr sz="1650" b="0">
                <a:solidFill>
                  <a:srgbClr val="7DD3FC"/>
                </a:solidFill>
                <a:latin typeface="Helvetica Neue"/>
                <a:ea typeface="Helvetica Neue"/>
                <a:cs typeface="Helvetica Neue"/>
              </a:rPr>
              <a:t>Vispirms struktūra. Tad inteliģence.</a:t>
            </a:r>
          </a:p>
        </p:txBody>
      </p:sp>
      <p:sp>
        <p:nvSpPr>
          <p:cNvPr id="3" name="">
            <a:extLst xmlns:a="http://schemas.openxmlformats.org/drawingml/2006/main">
              <a:ext uri="{FF2B5EF4-FFF2-40B4-BE49-F238E27FC236}">
                <a16:creationId xmlns:a16="http://schemas.microsoft.com/office/drawing/2014/main" id="{54CA4A2E-39D1-4524-BD63-C2773A9CF4F0}"/>
              </a:ext>
            </a:extLst>
          </p:cNvPr>
          <p:cNvSpPr>
            <a:spLocks xmlns:a="http://schemas.openxmlformats.org/drawingml/2006/main" noGrp="1"/>
          </p:cNvSpPr>
          <p:nvPr/>
        </p:nvSpPr>
        <p:spPr>
          <a:xfrm xmlns:a="http://schemas.openxmlformats.org/drawingml/2006/main">
            <a:off x="628650" y="2114550"/>
            <a:ext cx="3048000" cy="1562100"/>
          </a:xfrm>
          <a:prstGeom xmlns:a="http://schemas.openxmlformats.org/drawingml/2006/main" prst="roundRect">
            <a:avLst>
              <a:gd name="adj" fmla="val 8537"/>
            </a:avLst>
          </a:prstGeom>
          <a:solidFill xmlns:a="http://schemas.openxmlformats.org/drawingml/2006/main">
            <a:srgbClr val="102A44"/>
          </a:solidFill>
          <a:ln xmlns:a="http://schemas.openxmlformats.org/drawingml/2006/main" w="9525">
            <a:solidFill>
              <a:srgbClr val="244A6B"/>
            </a:solidFill>
            <a:prstDash val="solid"/>
          </a:ln>
        </p:spPr>
      </p:sp>
      <p:sp>
        <p:nvSpPr>
          <p:cNvPr id="4" name="">
            <a:extLst xmlns:a="http://schemas.openxmlformats.org/drawingml/2006/main">
              <a:ext uri="{FF2B5EF4-FFF2-40B4-BE49-F238E27FC236}">
                <a16:creationId xmlns:a16="http://schemas.microsoft.com/office/drawing/2014/main" id="{173B2426-0953-4734-A2CE-A946DAE5602E}"/>
              </a:ext>
            </a:extLst>
          </p:cNvPr>
          <p:cNvSpPr>
            <a:spLocks xmlns:a="http://schemas.openxmlformats.org/drawingml/2006/main" noGrp="1"/>
          </p:cNvSpPr>
          <p:nvPr/>
        </p:nvSpPr>
        <p:spPr>
          <a:xfrm xmlns:a="http://schemas.openxmlformats.org/drawingml/2006/main">
            <a:off x="819150" y="22574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4697"/>
          </a:bodyPr>
          <a:lstStyle xmlns:a="http://schemas.openxmlformats.org/drawingml/2006/main"/>
          <a:p xmlns:a="http://schemas.openxmlformats.org/drawingml/2006/main">
            <a:pPr algn="l">
              <a:lnSpc>
                <a:spcPct val="104000"/>
              </a:lnSpc>
              <a:buNone/>
              <a:defRPr sz="1650" b="1">
                <a:solidFill>
                  <a:srgbClr val="F8FAFC"/>
                </a:solidFill>
                <a:latin typeface="Helvetica Neue"/>
                <a:ea typeface="Helvetica Neue"/>
                <a:cs typeface="Helvetica Neue"/>
              </a:defRPr>
            </a:pPr>
            <a:r>
              <a:rPr sz="1650" b="1">
                <a:solidFill>
                  <a:srgbClr val="F8FAFC"/>
                </a:solidFill>
                <a:latin typeface="Helvetica Neue"/>
                <a:ea typeface="Helvetica Neue"/>
                <a:cs typeface="Helvetica Neue"/>
              </a:rPr>
              <a:t>SADRUMSTALOTI AVOTI</a:t>
            </a:r>
          </a:p>
        </p:txBody>
      </p:sp>
      <p:sp>
        <p:nvSpPr>
          <p:cNvPr id="5" name="">
            <a:extLst xmlns:a="http://schemas.openxmlformats.org/drawingml/2006/main">
              <a:ext uri="{FF2B5EF4-FFF2-40B4-BE49-F238E27FC236}">
                <a16:creationId xmlns:a16="http://schemas.microsoft.com/office/drawing/2014/main" id="{0908C657-5C5E-4518-BFC2-B31DC1B7E200}"/>
              </a:ext>
            </a:extLst>
          </p:cNvPr>
          <p:cNvSpPr>
            <a:spLocks xmlns:a="http://schemas.openxmlformats.org/drawingml/2006/main" noGrp="1"/>
          </p:cNvSpPr>
          <p:nvPr/>
        </p:nvSpPr>
        <p:spPr>
          <a:xfrm xmlns:a="http://schemas.openxmlformats.org/drawingml/2006/main">
            <a:off x="819150" y="2628900"/>
            <a:ext cx="26670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CBD5E1"/>
                </a:solidFill>
                <a:latin typeface="Helvetica Neue"/>
                <a:ea typeface="Helvetica Neue"/>
                <a:cs typeface="Helvetica Neue"/>
              </a:defRPr>
            </a:pPr>
            <a:r>
              <a:rPr sz="1425" b="0">
                <a:solidFill>
                  <a:srgbClr val="CBD5E1"/>
                </a:solidFill>
                <a:latin typeface="Helvetica Neue"/>
                <a:ea typeface="Helvetica Neue"/>
                <a:cs typeface="Helvetica Neue"/>
              </a:rPr>
              <a:t>Faili • sistēmas • API</a:t>
            </a:r>
          </a:p>
        </p:txBody>
      </p:sp>
      <p:sp>
        <p:nvSpPr>
          <p:cNvPr id="6" name="">
            <a:extLst xmlns:a="http://schemas.openxmlformats.org/drawingml/2006/main">
              <a:ext uri="{FF2B5EF4-FFF2-40B4-BE49-F238E27FC236}">
                <a16:creationId xmlns:a16="http://schemas.microsoft.com/office/drawing/2014/main" id="{B4C70DE2-E7BE-4949-B879-9277A16E1F60}"/>
              </a:ext>
            </a:extLst>
          </p:cNvPr>
          <p:cNvSpPr>
            <a:spLocks xmlns:a="http://schemas.openxmlformats.org/drawingml/2006/main" noGrp="1"/>
          </p:cNvSpPr>
          <p:nvPr/>
        </p:nvSpPr>
        <p:spPr>
          <a:xfrm xmlns:a="http://schemas.openxmlformats.org/drawingml/2006/main">
            <a:off x="3781425" y="2514600"/>
            <a:ext cx="457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76392"/>
          </a:bodyPr>
          <a:lstStyle xmlns:a="http://schemas.openxmlformats.org/drawingml/2006/main"/>
          <a:p xmlns:a="http://schemas.openxmlformats.org/drawingml/2006/main">
            <a:pPr algn="ctr">
              <a:lnSpc>
                <a:spcPct val="104000"/>
              </a:lnSpc>
              <a:buNone/>
              <a:defRPr sz="3150" b="0">
                <a:solidFill>
                  <a:srgbClr val="7DD3FC"/>
                </a:solidFill>
                <a:latin typeface="Helvetica Neue"/>
                <a:ea typeface="Helvetica Neue"/>
                <a:cs typeface="Helvetica Neue"/>
              </a:defRPr>
            </a:pPr>
            <a:r>
              <a:rPr sz="3150" b="0">
                <a:solidFill>
                  <a:srgbClr val="7DD3FC"/>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5241FCBC-C1AA-4200-9E02-B36D42AA4603}"/>
              </a:ext>
            </a:extLst>
          </p:cNvPr>
          <p:cNvSpPr>
            <a:spLocks xmlns:a="http://schemas.openxmlformats.org/drawingml/2006/main" noGrp="1"/>
          </p:cNvSpPr>
          <p:nvPr/>
        </p:nvSpPr>
        <p:spPr>
          <a:xfrm xmlns:a="http://schemas.openxmlformats.org/drawingml/2006/main">
            <a:off x="4343400" y="2114550"/>
            <a:ext cx="3048000" cy="1562100"/>
          </a:xfrm>
          <a:prstGeom xmlns:a="http://schemas.openxmlformats.org/drawingml/2006/main" prst="roundRect">
            <a:avLst>
              <a:gd name="adj" fmla="val 8537"/>
            </a:avLst>
          </a:prstGeom>
          <a:solidFill xmlns:a="http://schemas.openxmlformats.org/drawingml/2006/main">
            <a:srgbClr val="38BDF8"/>
          </a:solidFill>
          <a:ln xmlns:a="http://schemas.openxmlformats.org/drawingml/2006/main" w="9525">
            <a:solidFill>
              <a:srgbClr val="38BDF8"/>
            </a:solidFill>
            <a:prstDash val="solid"/>
          </a:ln>
        </p:spPr>
      </p:sp>
      <p:sp>
        <p:nvSpPr>
          <p:cNvPr id="8" name="">
            <a:extLst xmlns:a="http://schemas.openxmlformats.org/drawingml/2006/main">
              <a:ext uri="{FF2B5EF4-FFF2-40B4-BE49-F238E27FC236}">
                <a16:creationId xmlns:a16="http://schemas.microsoft.com/office/drawing/2014/main" id="{134AEEDD-E51D-4FD6-988B-DEFC80172068}"/>
              </a:ext>
            </a:extLst>
          </p:cNvPr>
          <p:cNvSpPr>
            <a:spLocks xmlns:a="http://schemas.openxmlformats.org/drawingml/2006/main" noGrp="1"/>
          </p:cNvSpPr>
          <p:nvPr/>
        </p:nvSpPr>
        <p:spPr>
          <a:xfrm xmlns:a="http://schemas.openxmlformats.org/drawingml/2006/main">
            <a:off x="4533900" y="22574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4697"/>
          </a:bodyPr>
          <a:lstStyle xmlns:a="http://schemas.openxmlformats.org/drawingml/2006/main"/>
          <a:p xmlns:a="http://schemas.openxmlformats.org/drawingml/2006/main">
            <a:pPr algn="l">
              <a:lnSpc>
                <a:spcPct val="104000"/>
              </a:lnSpc>
              <a:buNone/>
              <a:defRPr sz="1650" b="1">
                <a:solidFill>
                  <a:srgbClr val="071525"/>
                </a:solidFill>
                <a:latin typeface="Helvetica Neue"/>
                <a:ea typeface="Helvetica Neue"/>
                <a:cs typeface="Helvetica Neue"/>
              </a:defRPr>
            </a:pPr>
            <a:r>
              <a:rPr sz="1650" b="1">
                <a:solidFill>
                  <a:srgbClr val="071525"/>
                </a:solidFill>
                <a:latin typeface="Helvetica Neue"/>
                <a:ea typeface="Helvetica Neue"/>
                <a:cs typeface="Helvetica Neue"/>
              </a:rPr>
              <a:t>TWIN DATA HUB</a:t>
            </a:r>
          </a:p>
        </p:txBody>
      </p:sp>
      <p:sp>
        <p:nvSpPr>
          <p:cNvPr id="9" name="">
            <a:extLst xmlns:a="http://schemas.openxmlformats.org/drawingml/2006/main">
              <a:ext uri="{FF2B5EF4-FFF2-40B4-BE49-F238E27FC236}">
                <a16:creationId xmlns:a16="http://schemas.microsoft.com/office/drawing/2014/main" id="{AAA2239D-E2B1-4DA8-B648-F5972C0E17FE}"/>
              </a:ext>
            </a:extLst>
          </p:cNvPr>
          <p:cNvSpPr>
            <a:spLocks xmlns:a="http://schemas.openxmlformats.org/drawingml/2006/main" noGrp="1"/>
          </p:cNvSpPr>
          <p:nvPr/>
        </p:nvSpPr>
        <p:spPr>
          <a:xfrm xmlns:a="http://schemas.openxmlformats.org/drawingml/2006/main">
            <a:off x="4533900" y="2628900"/>
            <a:ext cx="26670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123A63"/>
                </a:solidFill>
                <a:latin typeface="Helvetica Neue"/>
                <a:ea typeface="Helvetica Neue"/>
                <a:cs typeface="Helvetica Neue"/>
              </a:defRPr>
            </a:pPr>
            <a:r>
              <a:rPr sz="1425" b="0">
                <a:solidFill>
                  <a:srgbClr val="123A63"/>
                </a:solidFill>
                <a:latin typeface="Helvetica Neue"/>
                <a:ea typeface="Helvetica Neue"/>
                <a:cs typeface="Helvetica Neue"/>
              </a:rPr>
              <a:t>Ievade • kartēšana • validācija</a:t>
            </a:r>
          </a:p>
        </p:txBody>
      </p:sp>
      <p:sp>
        <p:nvSpPr>
          <p:cNvPr id="10" name="">
            <a:extLst xmlns:a="http://schemas.openxmlformats.org/drawingml/2006/main">
              <a:ext uri="{FF2B5EF4-FFF2-40B4-BE49-F238E27FC236}">
                <a16:creationId xmlns:a16="http://schemas.microsoft.com/office/drawing/2014/main" id="{C6778376-56FD-42C4-A3EF-C4E3B34225D8}"/>
              </a:ext>
            </a:extLst>
          </p:cNvPr>
          <p:cNvSpPr>
            <a:spLocks xmlns:a="http://schemas.openxmlformats.org/drawingml/2006/main" noGrp="1"/>
          </p:cNvSpPr>
          <p:nvPr/>
        </p:nvSpPr>
        <p:spPr>
          <a:xfrm xmlns:a="http://schemas.openxmlformats.org/drawingml/2006/main">
            <a:off x="7496175" y="2514600"/>
            <a:ext cx="457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76392"/>
          </a:bodyPr>
          <a:lstStyle xmlns:a="http://schemas.openxmlformats.org/drawingml/2006/main"/>
          <a:p xmlns:a="http://schemas.openxmlformats.org/drawingml/2006/main">
            <a:pPr algn="ctr">
              <a:lnSpc>
                <a:spcPct val="104000"/>
              </a:lnSpc>
              <a:buNone/>
              <a:defRPr sz="3150" b="0">
                <a:solidFill>
                  <a:srgbClr val="7DD3FC"/>
                </a:solidFill>
                <a:latin typeface="Helvetica Neue"/>
                <a:ea typeface="Helvetica Neue"/>
                <a:cs typeface="Helvetica Neue"/>
              </a:defRPr>
            </a:pPr>
            <a:r>
              <a:rPr sz="3150" b="0">
                <a:solidFill>
                  <a:srgbClr val="7DD3FC"/>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1DD90D8A-FA03-4A0F-926A-0FFBDA2B207A}"/>
              </a:ext>
            </a:extLst>
          </p:cNvPr>
          <p:cNvSpPr>
            <a:spLocks xmlns:a="http://schemas.openxmlformats.org/drawingml/2006/main" noGrp="1"/>
          </p:cNvSpPr>
          <p:nvPr/>
        </p:nvSpPr>
        <p:spPr>
          <a:xfrm xmlns:a="http://schemas.openxmlformats.org/drawingml/2006/main">
            <a:off x="8058150" y="2114550"/>
            <a:ext cx="3048000" cy="1562100"/>
          </a:xfrm>
          <a:prstGeom xmlns:a="http://schemas.openxmlformats.org/drawingml/2006/main" prst="roundRect">
            <a:avLst>
              <a:gd name="adj" fmla="val 8537"/>
            </a:avLst>
          </a:prstGeom>
          <a:solidFill xmlns:a="http://schemas.openxmlformats.org/drawingml/2006/main">
            <a:srgbClr val="102A44"/>
          </a:solidFill>
          <a:ln xmlns:a="http://schemas.openxmlformats.org/drawingml/2006/main" w="9525">
            <a:solidFill>
              <a:srgbClr val="244A6B"/>
            </a:solidFill>
            <a:prstDash val="solid"/>
          </a:ln>
        </p:spPr>
      </p:sp>
      <p:sp>
        <p:nvSpPr>
          <p:cNvPr id="12" name="">
            <a:extLst xmlns:a="http://schemas.openxmlformats.org/drawingml/2006/main">
              <a:ext uri="{FF2B5EF4-FFF2-40B4-BE49-F238E27FC236}">
                <a16:creationId xmlns:a16="http://schemas.microsoft.com/office/drawing/2014/main" id="{575AA1E4-C3ED-41CF-873E-AC274344DE22}"/>
              </a:ext>
            </a:extLst>
          </p:cNvPr>
          <p:cNvSpPr>
            <a:spLocks xmlns:a="http://schemas.openxmlformats.org/drawingml/2006/main" noGrp="1"/>
          </p:cNvSpPr>
          <p:nvPr/>
        </p:nvSpPr>
        <p:spPr>
          <a:xfrm xmlns:a="http://schemas.openxmlformats.org/drawingml/2006/main">
            <a:off x="8248650" y="22574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4697"/>
          </a:bodyPr>
          <a:lstStyle xmlns:a="http://schemas.openxmlformats.org/drawingml/2006/main"/>
          <a:p xmlns:a="http://schemas.openxmlformats.org/drawingml/2006/main">
            <a:pPr algn="l">
              <a:lnSpc>
                <a:spcPct val="104000"/>
              </a:lnSpc>
              <a:buNone/>
              <a:defRPr sz="1650" b="1">
                <a:solidFill>
                  <a:srgbClr val="F8FAFC"/>
                </a:solidFill>
                <a:latin typeface="Helvetica Neue"/>
                <a:ea typeface="Helvetica Neue"/>
                <a:cs typeface="Helvetica Neue"/>
              </a:defRPr>
            </a:pPr>
            <a:r>
              <a:rPr sz="1650" b="1">
                <a:solidFill>
                  <a:srgbClr val="F8FAFC"/>
                </a:solidFill>
                <a:latin typeface="Helvetica Neue"/>
                <a:ea typeface="Helvetica Neue"/>
                <a:cs typeface="Helvetica Neue"/>
              </a:rPr>
              <a:t>UZTICAMS DATU SLĀNIS</a:t>
            </a:r>
          </a:p>
        </p:txBody>
      </p:sp>
      <p:sp>
        <p:nvSpPr>
          <p:cNvPr id="13" name="">
            <a:extLst xmlns:a="http://schemas.openxmlformats.org/drawingml/2006/main">
              <a:ext uri="{FF2B5EF4-FFF2-40B4-BE49-F238E27FC236}">
                <a16:creationId xmlns:a16="http://schemas.microsoft.com/office/drawing/2014/main" id="{34F741F1-4852-4FA3-80A2-B070B0045CCC}"/>
              </a:ext>
            </a:extLst>
          </p:cNvPr>
          <p:cNvSpPr>
            <a:spLocks xmlns:a="http://schemas.openxmlformats.org/drawingml/2006/main" noGrp="1"/>
          </p:cNvSpPr>
          <p:nvPr/>
        </p:nvSpPr>
        <p:spPr>
          <a:xfrm xmlns:a="http://schemas.openxmlformats.org/drawingml/2006/main">
            <a:off x="8248650" y="2628900"/>
            <a:ext cx="26670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CBD5E1"/>
                </a:solidFill>
                <a:latin typeface="Helvetica Neue"/>
                <a:ea typeface="Helvetica Neue"/>
                <a:cs typeface="Helvetica Neue"/>
              </a:defRPr>
            </a:pPr>
            <a:r>
              <a:rPr sz="1425" b="0">
                <a:solidFill>
                  <a:srgbClr val="CBD5E1"/>
                </a:solidFill>
                <a:latin typeface="Helvetica Neue"/>
                <a:ea typeface="Helvetica Neue"/>
                <a:cs typeface="Helvetica Neue"/>
              </a:rPr>
              <a:t>Vienoti uzņēmuma objekti</a:t>
            </a:r>
          </a:p>
        </p:txBody>
      </p:sp>
      <p:sp>
        <p:nvSpPr>
          <p:cNvPr id="14" name="">
            <a:extLst xmlns:a="http://schemas.openxmlformats.org/drawingml/2006/main">
              <a:ext uri="{FF2B5EF4-FFF2-40B4-BE49-F238E27FC236}">
                <a16:creationId xmlns:a16="http://schemas.microsoft.com/office/drawing/2014/main" id="{1FDE3DF6-EE17-4AC4-A17E-C9DBBA459441}"/>
              </a:ext>
            </a:extLst>
          </p:cNvPr>
          <p:cNvSpPr>
            <a:spLocks xmlns:a="http://schemas.openxmlformats.org/drawingml/2006/main" noGrp="1"/>
          </p:cNvSpPr>
          <p:nvPr/>
        </p:nvSpPr>
        <p:spPr>
          <a:xfrm xmlns:a="http://schemas.openxmlformats.org/drawingml/2006/main">
            <a:off x="638175" y="4324350"/>
            <a:ext cx="1943100" cy="628650"/>
          </a:xfrm>
          <a:prstGeom xmlns:a="http://schemas.openxmlformats.org/drawingml/2006/main" prst="roundRect">
            <a:avLst>
              <a:gd name="adj" fmla="val 18182"/>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Automatizācija</a:t>
            </a:r>
          </a:p>
        </p:txBody>
      </p:sp>
      <p:sp>
        <p:nvSpPr>
          <p:cNvPr id="15" name="">
            <a:extLst xmlns:a="http://schemas.openxmlformats.org/drawingml/2006/main">
              <a:ext uri="{FF2B5EF4-FFF2-40B4-BE49-F238E27FC236}">
                <a16:creationId xmlns:a16="http://schemas.microsoft.com/office/drawing/2014/main" id="{F4772C4A-E5F7-4DA2-80C2-4C6B7B8CB99E}"/>
              </a:ext>
            </a:extLst>
          </p:cNvPr>
          <p:cNvSpPr>
            <a:spLocks xmlns:a="http://schemas.openxmlformats.org/drawingml/2006/main" noGrp="1"/>
          </p:cNvSpPr>
          <p:nvPr/>
        </p:nvSpPr>
        <p:spPr>
          <a:xfrm xmlns:a="http://schemas.openxmlformats.org/drawingml/2006/main">
            <a:off x="2838450" y="4324350"/>
            <a:ext cx="1943100" cy="628650"/>
          </a:xfrm>
          <a:prstGeom xmlns:a="http://schemas.openxmlformats.org/drawingml/2006/main" prst="roundRect">
            <a:avLst>
              <a:gd name="adj" fmla="val 18182"/>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Analītika</a:t>
            </a:r>
          </a:p>
        </p:txBody>
      </p:sp>
      <p:sp>
        <p:nvSpPr>
          <p:cNvPr id="16" name="">
            <a:extLst xmlns:a="http://schemas.openxmlformats.org/drawingml/2006/main">
              <a:ext uri="{FF2B5EF4-FFF2-40B4-BE49-F238E27FC236}">
                <a16:creationId xmlns:a16="http://schemas.microsoft.com/office/drawing/2014/main" id="{E3A530B9-B30C-4CC7-A371-5D23002A1C5B}"/>
              </a:ext>
            </a:extLst>
          </p:cNvPr>
          <p:cNvSpPr>
            <a:spLocks xmlns:a="http://schemas.openxmlformats.org/drawingml/2006/main" noGrp="1"/>
          </p:cNvSpPr>
          <p:nvPr/>
        </p:nvSpPr>
        <p:spPr>
          <a:xfrm xmlns:a="http://schemas.openxmlformats.org/drawingml/2006/main">
            <a:off x="5038725" y="4324350"/>
            <a:ext cx="1943100" cy="628650"/>
          </a:xfrm>
          <a:prstGeom xmlns:a="http://schemas.openxmlformats.org/drawingml/2006/main" prst="roundRect">
            <a:avLst>
              <a:gd name="adj" fmla="val 18182"/>
            </a:avLst>
          </a:prstGeom>
          <a:solidFill xmlns:a="http://schemas.openxmlformats.org/drawingml/2006/main">
            <a:srgbClr val="13273D"/>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AI analīze</a:t>
            </a:r>
          </a:p>
        </p:txBody>
      </p:sp>
      <p:sp>
        <p:nvSpPr>
          <p:cNvPr id="17" name="">
            <a:extLst xmlns:a="http://schemas.openxmlformats.org/drawingml/2006/main">
              <a:ext uri="{FF2B5EF4-FFF2-40B4-BE49-F238E27FC236}">
                <a16:creationId xmlns:a16="http://schemas.microsoft.com/office/drawing/2014/main" id="{54E2B996-4E73-43DD-9F99-36A150039E1E}"/>
              </a:ext>
            </a:extLst>
          </p:cNvPr>
          <p:cNvSpPr>
            <a:spLocks xmlns:a="http://schemas.openxmlformats.org/drawingml/2006/main" noGrp="1"/>
          </p:cNvSpPr>
          <p:nvPr/>
        </p:nvSpPr>
        <p:spPr>
          <a:xfrm xmlns:a="http://schemas.openxmlformats.org/drawingml/2006/main">
            <a:off x="7239000" y="4324350"/>
            <a:ext cx="1943100" cy="628650"/>
          </a:xfrm>
          <a:prstGeom xmlns:a="http://schemas.openxmlformats.org/drawingml/2006/main" prst="roundRect">
            <a:avLst>
              <a:gd name="adj" fmla="val 18182"/>
            </a:avLst>
          </a:prstGeom>
          <a:solidFill xmlns:a="http://schemas.openxmlformats.org/drawingml/2006/main">
            <a:srgbClr val="13273D"/>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Prognozes</a:t>
            </a:r>
          </a:p>
        </p:txBody>
      </p:sp>
      <p:sp>
        <p:nvSpPr>
          <p:cNvPr id="18" name="">
            <a:extLst xmlns:a="http://schemas.openxmlformats.org/drawingml/2006/main">
              <a:ext uri="{FF2B5EF4-FFF2-40B4-BE49-F238E27FC236}">
                <a16:creationId xmlns:a16="http://schemas.microsoft.com/office/drawing/2014/main" id="{D4930E4E-5C2A-4EE7-9FD4-E6C528B62449}"/>
              </a:ext>
            </a:extLst>
          </p:cNvPr>
          <p:cNvSpPr>
            <a:spLocks xmlns:a="http://schemas.openxmlformats.org/drawingml/2006/main" noGrp="1"/>
          </p:cNvSpPr>
          <p:nvPr/>
        </p:nvSpPr>
        <p:spPr>
          <a:xfrm xmlns:a="http://schemas.openxmlformats.org/drawingml/2006/main">
            <a:off x="9439275" y="4324350"/>
            <a:ext cx="1943100" cy="628650"/>
          </a:xfrm>
          <a:prstGeom xmlns:a="http://schemas.openxmlformats.org/drawingml/2006/main" prst="roundRect">
            <a:avLst>
              <a:gd name="adj" fmla="val 18182"/>
            </a:avLst>
          </a:prstGeom>
          <a:solidFill xmlns:a="http://schemas.openxmlformats.org/drawingml/2006/main">
            <a:srgbClr val="13273D"/>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Simulācijas</a:t>
            </a:r>
          </a:p>
        </p:txBody>
      </p:sp>
      <p:sp>
        <p:nvSpPr>
          <p:cNvPr id="19" name="">
            <a:extLst xmlns:a="http://schemas.openxmlformats.org/drawingml/2006/main">
              <a:ext uri="{FF2B5EF4-FFF2-40B4-BE49-F238E27FC236}">
                <a16:creationId xmlns:a16="http://schemas.microsoft.com/office/drawing/2014/main" id="{79003684-2D3A-4EA7-BAA9-5598DAA3AE32}"/>
              </a:ext>
            </a:extLst>
          </p:cNvPr>
          <p:cNvSpPr>
            <a:spLocks xmlns:a="http://schemas.openxmlformats.org/drawingml/2006/main" noGrp="1"/>
          </p:cNvSpPr>
          <p:nvPr/>
        </p:nvSpPr>
        <p:spPr>
          <a:xfrm xmlns:a="http://schemas.openxmlformats.org/drawingml/2006/main">
            <a:off x="666750" y="513397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7298"/>
          </a:bodyPr>
          <a:lstStyle xmlns:a="http://schemas.openxmlformats.org/drawingml/2006/main"/>
          <a:p xmlns:a="http://schemas.openxmlformats.org/drawingml/2006/main">
            <a:pPr algn="l">
              <a:lnSpc>
                <a:spcPct val="104000"/>
              </a:lnSpc>
              <a:buNone/>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REALIZĒTS PAMATS</a:t>
            </a:r>
          </a:p>
        </p:txBody>
      </p:sp>
      <p:sp>
        <p:nvSpPr>
          <p:cNvPr id="20" name="">
            <a:extLst xmlns:a="http://schemas.openxmlformats.org/drawingml/2006/main">
              <a:ext uri="{FF2B5EF4-FFF2-40B4-BE49-F238E27FC236}">
                <a16:creationId xmlns:a16="http://schemas.microsoft.com/office/drawing/2014/main" id="{B8950EA3-D396-401F-A86C-741CD76DBACD}"/>
              </a:ext>
            </a:extLst>
          </p:cNvPr>
          <p:cNvSpPr>
            <a:spLocks xmlns:a="http://schemas.openxmlformats.org/drawingml/2006/main" noGrp="1"/>
          </p:cNvSpPr>
          <p:nvPr/>
        </p:nvSpPr>
        <p:spPr>
          <a:xfrm xmlns:a="http://schemas.openxmlformats.org/drawingml/2006/main">
            <a:off x="5648325" y="513397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7298"/>
          </a:bodyPr>
          <a:lstStyle xmlns:a="http://schemas.openxmlformats.org/drawingml/2006/main"/>
          <a:p xmlns:a="http://schemas.openxmlformats.org/drawingml/2006/main">
            <a:pPr algn="r">
              <a:lnSpc>
                <a:spcPct val="104000"/>
              </a:lnSpc>
              <a:buNone/>
              <a:defRPr sz="1050" b="1">
                <a:solidFill>
                  <a:srgbClr val="94A3B8"/>
                </a:solidFill>
                <a:latin typeface="Helvetica Neue"/>
                <a:ea typeface="Helvetica Neue"/>
                <a:cs typeface="Helvetica Neue"/>
              </a:defRPr>
            </a:pPr>
            <a:r>
              <a:rPr sz="1050" b="1">
                <a:solidFill>
                  <a:srgbClr val="94A3B8"/>
                </a:solidFill>
                <a:latin typeface="Helvetica Neue"/>
                <a:ea typeface="Helvetica Neue"/>
                <a:cs typeface="Helvetica Neue"/>
              </a:rPr>
              <a:t>PLĀNOTS / ILGTERMIŅA VĪZIJA</a:t>
            </a:r>
          </a:p>
        </p:txBody>
      </p:sp>
      <p:sp>
        <p:nvSpPr>
          <p:cNvPr id="21" name="">
            <a:extLst xmlns:a="http://schemas.openxmlformats.org/drawingml/2006/main">
              <a:ext uri="{FF2B5EF4-FFF2-40B4-BE49-F238E27FC236}">
                <a16:creationId xmlns:a16="http://schemas.microsoft.com/office/drawing/2014/main" id="{281D7D97-A9F9-4B99-A299-0D87BA091529}"/>
              </a:ext>
            </a:extLst>
          </p:cNvPr>
          <p:cNvSpPr>
            <a:spLocks xmlns:a="http://schemas.openxmlformats.org/drawingml/2006/main" noGrp="1"/>
          </p:cNvSpPr>
          <p:nvPr/>
        </p:nvSpPr>
        <p:spPr>
          <a:xfrm xmlns:a="http://schemas.openxmlformats.org/drawingml/2006/main">
            <a:off x="628650" y="5753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725" b="0">
                <a:solidFill>
                  <a:srgbClr val="F8FAFC"/>
                </a:solidFill>
                <a:latin typeface="Helvetica Neue"/>
                <a:ea typeface="Helvetica Neue"/>
                <a:cs typeface="Helvetica Neue"/>
              </a:defRPr>
            </a:pPr>
            <a:r>
              <a:rPr sz="1725" b="0">
                <a:solidFill>
                  <a:srgbClr val="F8FAFC"/>
                </a:solidFill>
                <a:latin typeface="Helvetica Neue"/>
                <a:ea typeface="Helvetica Neue"/>
                <a:cs typeface="Helvetica Neue"/>
              </a:rPr>
              <a:t>AI nedrīkst izgudrot faktus. Tas strādā virs deterministiski aprēķinātas un izsekojamas informācijas.</a:t>
            </a:r>
          </a:p>
        </p:txBody>
      </p:sp>
    </p:spTree>
    <p:extLst>
      <p:ext uri="{BB962C8B-B14F-4D97-AF65-F5344CB8AC3E}">
        <p14:creationId xmlns:p14="http://schemas.microsoft.com/office/powerpoint/2010/main" val="766378165"/>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CF64EF9-DA50-4F17-B573-D0A6290318BC}"/>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96067180-AC39-4A94-A7CF-5C67943C3AB2}"/>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80B39AA5-298A-4446-80B2-833C904B6223}"/>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Viena darba vide, divi attīstības horizonti</a:t>
            </a:r>
          </a:p>
        </p:txBody>
      </p:sp>
      <p:sp>
        <p:nvSpPr>
          <p:cNvPr id="4" name="">
            <a:extLst xmlns:a="http://schemas.openxmlformats.org/drawingml/2006/main">
              <a:ext uri="{FF2B5EF4-FFF2-40B4-BE49-F238E27FC236}">
                <a16:creationId xmlns:a16="http://schemas.microsoft.com/office/drawing/2014/main" id="{BE422029-75EF-43FB-9E94-2C609A51CF1C}"/>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Pārlūkā pieejams operacionālais kodols ar skaidri nošķirtu nākotnes slāni</a:t>
            </a:r>
          </a:p>
        </p:txBody>
      </p:sp>
      <p:sp>
        <p:nvSpPr>
          <p:cNvPr id="5" name="">
            <a:extLst xmlns:a="http://schemas.openxmlformats.org/drawingml/2006/main">
              <a:ext uri="{FF2B5EF4-FFF2-40B4-BE49-F238E27FC236}">
                <a16:creationId xmlns:a16="http://schemas.microsoft.com/office/drawing/2014/main" id="{BE28517A-4EE5-4C2F-AB4B-DAD595A5BA21}"/>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81C8E93-0E02-4BE3-B789-123BC200C4C5}"/>
              </a:ext>
            </a:extLst>
          </p:cNvPr>
          <p:cNvSpPr>
            <a:spLocks xmlns:a="http://schemas.openxmlformats.org/drawingml/2006/main" noGrp="1"/>
          </p:cNvSpPr>
          <p:nvPr/>
        </p:nvSpPr>
        <p:spPr>
          <a:xfrm xmlns:a="http://schemas.openxmlformats.org/drawingml/2006/main">
            <a:off x="590550" y="1952625"/>
            <a:ext cx="11010900" cy="3600450"/>
          </a:xfrm>
          <a:prstGeom xmlns:a="http://schemas.openxmlformats.org/drawingml/2006/main" prst="roundRect">
            <a:avLst>
              <a:gd name="adj" fmla="val 4233"/>
            </a:avLst>
          </a:prstGeom>
          <a:solidFill xmlns:a="http://schemas.openxmlformats.org/drawingml/2006/main">
            <a:srgbClr val="F1F5F9"/>
          </a:solidFill>
          <a:ln xmlns:a="http://schemas.openxmlformats.org/drawingml/2006/main" w="9525">
            <a:solidFill>
              <a:srgbClr val="C7D7E2"/>
            </a:solidFill>
            <a:prstDash val="solid"/>
          </a:ln>
        </p:spPr>
      </p:sp>
      <p:sp>
        <p:nvSpPr>
          <p:cNvPr id="7" name="">
            <a:extLst xmlns:a="http://schemas.openxmlformats.org/drawingml/2006/main">
              <a:ext uri="{FF2B5EF4-FFF2-40B4-BE49-F238E27FC236}">
                <a16:creationId xmlns:a16="http://schemas.microsoft.com/office/drawing/2014/main" id="{5A5599AD-6941-498D-ABF9-F5EAD9D20A84}"/>
              </a:ext>
            </a:extLst>
          </p:cNvPr>
          <p:cNvSpPr>
            <a:spLocks xmlns:a="http://schemas.openxmlformats.org/drawingml/2006/main" noGrp="1"/>
          </p:cNvSpPr>
          <p:nvPr/>
        </p:nvSpPr>
        <p:spPr>
          <a:xfrm xmlns:a="http://schemas.openxmlformats.org/drawingml/2006/main">
            <a:off x="590550" y="1952625"/>
            <a:ext cx="11010900" cy="381000"/>
          </a:xfrm>
          <a:prstGeom xmlns:a="http://schemas.openxmlformats.org/drawingml/2006/main" prst="roundRect">
            <a:avLst>
              <a:gd name="adj" fmla="val 40000"/>
            </a:avLst>
          </a:prstGeom>
          <a:solidFill xmlns:a="http://schemas.openxmlformats.org/drawingml/2006/main">
            <a:srgbClr val="07152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823366-2C79-448F-87E5-0382B1ABA113}"/>
              </a:ext>
            </a:extLst>
          </p:cNvPr>
          <p:cNvSpPr>
            <a:spLocks xmlns:a="http://schemas.openxmlformats.org/drawingml/2006/main" noGrp="1"/>
          </p:cNvSpPr>
          <p:nvPr/>
        </p:nvSpPr>
        <p:spPr>
          <a:xfrm xmlns:a="http://schemas.openxmlformats.org/drawingml/2006/main">
            <a:off x="590550" y="2181225"/>
            <a:ext cx="11010900" cy="152400"/>
          </a:xfrm>
          <a:prstGeom xmlns:a="http://schemas.openxmlformats.org/drawingml/2006/main" prst="rect">
            <a:avLst/>
          </a:prstGeom>
          <a:solidFill xmlns:a="http://schemas.openxmlformats.org/drawingml/2006/main">
            <a:srgbClr val="07152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608BC39-5471-4C8B-BB77-E96BDC307D17}"/>
              </a:ext>
            </a:extLst>
          </p:cNvPr>
          <p:cNvSpPr>
            <a:spLocks xmlns:a="http://schemas.openxmlformats.org/drawingml/2006/main" noGrp="1"/>
          </p:cNvSpPr>
          <p:nvPr/>
        </p:nvSpPr>
        <p:spPr>
          <a:xfrm xmlns:a="http://schemas.openxmlformats.org/drawingml/2006/main">
            <a:off x="800100" y="2095500"/>
            <a:ext cx="76200" cy="76200"/>
          </a:xfrm>
          <a:prstGeom xmlns:a="http://schemas.openxmlformats.org/drawingml/2006/main" prst="roundRect">
            <a:avLst>
              <a:gd name="adj" fmla="val 50000"/>
            </a:avLst>
          </a:prstGeom>
          <a:solidFill xmlns:a="http://schemas.openxmlformats.org/drawingml/2006/main">
            <a:srgbClr val="E66A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E6C2135-8AF2-467B-B2F5-6FF970BFDCBA}"/>
              </a:ext>
            </a:extLst>
          </p:cNvPr>
          <p:cNvSpPr>
            <a:spLocks xmlns:a="http://schemas.openxmlformats.org/drawingml/2006/main" noGrp="1"/>
          </p:cNvSpPr>
          <p:nvPr/>
        </p:nvSpPr>
        <p:spPr>
          <a:xfrm xmlns:a="http://schemas.openxmlformats.org/drawingml/2006/main">
            <a:off x="990600" y="2095500"/>
            <a:ext cx="76200" cy="762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9915402-A1E6-42E3-BD40-BF11A5FD7A88}"/>
              </a:ext>
            </a:extLst>
          </p:cNvPr>
          <p:cNvSpPr>
            <a:spLocks xmlns:a="http://schemas.openxmlformats.org/drawingml/2006/main" noGrp="1"/>
          </p:cNvSpPr>
          <p:nvPr/>
        </p:nvSpPr>
        <p:spPr>
          <a:xfrm xmlns:a="http://schemas.openxmlformats.org/drawingml/2006/main">
            <a:off x="1181100" y="2095500"/>
            <a:ext cx="76200" cy="76200"/>
          </a:xfrm>
          <a:prstGeom xmlns:a="http://schemas.openxmlformats.org/drawingml/2006/main" prst="roundRect">
            <a:avLst>
              <a:gd name="adj" fmla="val 50000"/>
            </a:avLst>
          </a:prstGeom>
          <a:solidFill xmlns:a="http://schemas.openxmlformats.org/drawingml/2006/main">
            <a:srgbClr val="94A3B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1849F8-584B-454F-9029-EE5E4BB79900}"/>
              </a:ext>
            </a:extLst>
          </p:cNvPr>
          <p:cNvSpPr>
            <a:spLocks xmlns:a="http://schemas.openxmlformats.org/drawingml/2006/main" noGrp="1"/>
          </p:cNvSpPr>
          <p:nvPr/>
        </p:nvSpPr>
        <p:spPr>
          <a:xfrm xmlns:a="http://schemas.openxmlformats.org/drawingml/2006/main">
            <a:off x="857250" y="2562225"/>
            <a:ext cx="1809750" cy="266700"/>
          </a:xfrm>
          <a:prstGeom xmlns:a="http://schemas.openxmlformats.org/drawingml/2006/main" prst="roundRect">
            <a:avLst>
              <a:gd name="adj" fmla="val 50000"/>
            </a:avLst>
          </a:prstGeom>
          <a:solidFill xmlns:a="http://schemas.openxmlformats.org/drawingml/2006/main">
            <a:srgbClr val="071525"/>
          </a:solidFill>
          <a:ln xmlns:a="http://schemas.openxmlformats.org/drawingml/2006/main" w="0">
            <a:noFill/>
            <a:prstDash val="solid"/>
          </a:ln>
        </p:spPr>
        <p:txBody>
          <a:bodyPr xmlns:a="http://schemas.openxmlformats.org/drawingml/2006/main" lIns="76200" tIns="19050" rIns="76200" bIns="19050" anchor="ctr">
            <a:normAutofit fontScale="90425"/>
          </a:bodyPr>
          <a:lstStyle xmlns:a="http://schemas.openxmlformats.org/drawingml/2006/main"/>
          <a:p xmlns:a="http://schemas.openxmlformats.org/drawingml/2006/main">
            <a:pPr algn="ctr">
              <a:lnSpc>
                <a:spcPct val="104000"/>
              </a:lnSpc>
              <a:buNone/>
              <a:defRPr sz="1050" b="1">
                <a:solidFill>
                  <a:srgbClr val="F8FAFC"/>
                </a:solidFill>
                <a:latin typeface="Helvetica Neue"/>
                <a:ea typeface="Helvetica Neue"/>
                <a:cs typeface="Helvetica Neue"/>
              </a:defRPr>
            </a:pPr>
            <a:r>
              <a:rPr sz="1050" b="1">
                <a:solidFill>
                  <a:srgbClr val="F8FAFC"/>
                </a:solidFill>
                <a:latin typeface="Helvetica Neue"/>
                <a:ea typeface="Helvetica Neue"/>
                <a:cs typeface="Helvetica Neue"/>
              </a:rPr>
              <a:t>ŠOBRĪD REALIZĒTS</a:t>
            </a:r>
          </a:p>
        </p:txBody>
      </p:sp>
      <p:sp>
        <p:nvSpPr>
          <p:cNvPr id="13" name="">
            <a:extLst xmlns:a="http://schemas.openxmlformats.org/drawingml/2006/main">
              <a:ext uri="{FF2B5EF4-FFF2-40B4-BE49-F238E27FC236}">
                <a16:creationId xmlns:a16="http://schemas.microsoft.com/office/drawing/2014/main" id="{1451E18E-1970-4784-872F-299C774CE802}"/>
              </a:ext>
            </a:extLst>
          </p:cNvPr>
          <p:cNvSpPr>
            <a:spLocks xmlns:a="http://schemas.openxmlformats.org/drawingml/2006/main" noGrp="1"/>
          </p:cNvSpPr>
          <p:nvPr/>
        </p:nvSpPr>
        <p:spPr>
          <a:xfrm xmlns:a="http://schemas.openxmlformats.org/drawingml/2006/main">
            <a:off x="857250" y="303847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Overview</a:t>
            </a:r>
          </a:p>
        </p:txBody>
      </p:sp>
      <p:sp>
        <p:nvSpPr>
          <p:cNvPr id="14" name="">
            <a:extLst xmlns:a="http://schemas.openxmlformats.org/drawingml/2006/main">
              <a:ext uri="{FF2B5EF4-FFF2-40B4-BE49-F238E27FC236}">
                <a16:creationId xmlns:a16="http://schemas.microsoft.com/office/drawing/2014/main" id="{0CC02AEB-183A-4C87-A62B-B5DEE44F36D3}"/>
              </a:ext>
            </a:extLst>
          </p:cNvPr>
          <p:cNvSpPr>
            <a:spLocks xmlns:a="http://schemas.openxmlformats.org/drawingml/2006/main" noGrp="1"/>
          </p:cNvSpPr>
          <p:nvPr/>
        </p:nvSpPr>
        <p:spPr>
          <a:xfrm xmlns:a="http://schemas.openxmlformats.org/drawingml/2006/main">
            <a:off x="3409950" y="303847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Data</a:t>
            </a:r>
          </a:p>
        </p:txBody>
      </p:sp>
      <p:sp>
        <p:nvSpPr>
          <p:cNvPr id="15" name="">
            <a:extLst xmlns:a="http://schemas.openxmlformats.org/drawingml/2006/main">
              <a:ext uri="{FF2B5EF4-FFF2-40B4-BE49-F238E27FC236}">
                <a16:creationId xmlns:a16="http://schemas.microsoft.com/office/drawing/2014/main" id="{48403A21-45B0-4B72-805D-89BE55C87560}"/>
              </a:ext>
            </a:extLst>
          </p:cNvPr>
          <p:cNvSpPr>
            <a:spLocks xmlns:a="http://schemas.openxmlformats.org/drawingml/2006/main" noGrp="1"/>
          </p:cNvSpPr>
          <p:nvPr/>
        </p:nvSpPr>
        <p:spPr>
          <a:xfrm xmlns:a="http://schemas.openxmlformats.org/drawingml/2006/main">
            <a:off x="5962650" y="303847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Documents</a:t>
            </a:r>
          </a:p>
        </p:txBody>
      </p:sp>
      <p:sp>
        <p:nvSpPr>
          <p:cNvPr id="16" name="">
            <a:extLst xmlns:a="http://schemas.openxmlformats.org/drawingml/2006/main">
              <a:ext uri="{FF2B5EF4-FFF2-40B4-BE49-F238E27FC236}">
                <a16:creationId xmlns:a16="http://schemas.microsoft.com/office/drawing/2014/main" id="{AF677E17-2737-494E-ACBA-6405D73C5001}"/>
              </a:ext>
            </a:extLst>
          </p:cNvPr>
          <p:cNvSpPr>
            <a:spLocks xmlns:a="http://schemas.openxmlformats.org/drawingml/2006/main" noGrp="1"/>
          </p:cNvSpPr>
          <p:nvPr/>
        </p:nvSpPr>
        <p:spPr>
          <a:xfrm xmlns:a="http://schemas.openxmlformats.org/drawingml/2006/main">
            <a:off x="8515350" y="303847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Shipments</a:t>
            </a:r>
          </a:p>
        </p:txBody>
      </p:sp>
      <p:sp>
        <p:nvSpPr>
          <p:cNvPr id="17" name="">
            <a:extLst xmlns:a="http://schemas.openxmlformats.org/drawingml/2006/main">
              <a:ext uri="{FF2B5EF4-FFF2-40B4-BE49-F238E27FC236}">
                <a16:creationId xmlns:a16="http://schemas.microsoft.com/office/drawing/2014/main" id="{35C4C4D3-1BF0-4026-9AE3-1BCCD83A0F05}"/>
              </a:ext>
            </a:extLst>
          </p:cNvPr>
          <p:cNvSpPr>
            <a:spLocks xmlns:a="http://schemas.openxmlformats.org/drawingml/2006/main" noGrp="1"/>
          </p:cNvSpPr>
          <p:nvPr/>
        </p:nvSpPr>
        <p:spPr>
          <a:xfrm xmlns:a="http://schemas.openxmlformats.org/drawingml/2006/main">
            <a:off x="857250" y="385762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Invoices</a:t>
            </a:r>
          </a:p>
        </p:txBody>
      </p:sp>
      <p:sp>
        <p:nvSpPr>
          <p:cNvPr id="18" name="">
            <a:extLst xmlns:a="http://schemas.openxmlformats.org/drawingml/2006/main">
              <a:ext uri="{FF2B5EF4-FFF2-40B4-BE49-F238E27FC236}">
                <a16:creationId xmlns:a16="http://schemas.microsoft.com/office/drawing/2014/main" id="{D0E013D6-AE68-4BFB-9478-A708D1D6268F}"/>
              </a:ext>
            </a:extLst>
          </p:cNvPr>
          <p:cNvSpPr>
            <a:spLocks xmlns:a="http://schemas.openxmlformats.org/drawingml/2006/main" noGrp="1"/>
          </p:cNvSpPr>
          <p:nvPr/>
        </p:nvSpPr>
        <p:spPr>
          <a:xfrm xmlns:a="http://schemas.openxmlformats.org/drawingml/2006/main">
            <a:off x="3409950" y="385762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B/L</a:t>
            </a:r>
          </a:p>
        </p:txBody>
      </p:sp>
      <p:sp>
        <p:nvSpPr>
          <p:cNvPr id="19" name="">
            <a:extLst xmlns:a="http://schemas.openxmlformats.org/drawingml/2006/main">
              <a:ext uri="{FF2B5EF4-FFF2-40B4-BE49-F238E27FC236}">
                <a16:creationId xmlns:a16="http://schemas.microsoft.com/office/drawing/2014/main" id="{F426804A-32CE-4381-BBE0-F6C650F55A35}"/>
              </a:ext>
            </a:extLst>
          </p:cNvPr>
          <p:cNvSpPr>
            <a:spLocks xmlns:a="http://schemas.openxmlformats.org/drawingml/2006/main" noGrp="1"/>
          </p:cNvSpPr>
          <p:nvPr/>
        </p:nvSpPr>
        <p:spPr>
          <a:xfrm xmlns:a="http://schemas.openxmlformats.org/drawingml/2006/main">
            <a:off x="5962650" y="385762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Analytics</a:t>
            </a:r>
          </a:p>
        </p:txBody>
      </p:sp>
      <p:sp>
        <p:nvSpPr>
          <p:cNvPr id="20" name="">
            <a:extLst xmlns:a="http://schemas.openxmlformats.org/drawingml/2006/main">
              <a:ext uri="{FF2B5EF4-FFF2-40B4-BE49-F238E27FC236}">
                <a16:creationId xmlns:a16="http://schemas.microsoft.com/office/drawing/2014/main" id="{0F6856C5-2DF2-4562-98B3-C09909AC8477}"/>
              </a:ext>
            </a:extLst>
          </p:cNvPr>
          <p:cNvSpPr>
            <a:spLocks xmlns:a="http://schemas.openxmlformats.org/drawingml/2006/main" noGrp="1"/>
          </p:cNvSpPr>
          <p:nvPr/>
        </p:nvSpPr>
        <p:spPr>
          <a:xfrm xmlns:a="http://schemas.openxmlformats.org/drawingml/2006/main">
            <a:off x="857250" y="4867275"/>
            <a:ext cx="1000125" cy="26670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19050" rIns="76200" bIns="19050" anchor="ctr">
            <a:normAutofit fontScale="90425"/>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21" name="">
            <a:extLst xmlns:a="http://schemas.openxmlformats.org/drawingml/2006/main">
              <a:ext uri="{FF2B5EF4-FFF2-40B4-BE49-F238E27FC236}">
                <a16:creationId xmlns:a16="http://schemas.microsoft.com/office/drawing/2014/main" id="{D720EC27-642C-433E-B5EF-49ED56527048}"/>
              </a:ext>
            </a:extLst>
          </p:cNvPr>
          <p:cNvSpPr>
            <a:spLocks xmlns:a="http://schemas.openxmlformats.org/drawingml/2006/main" noGrp="1"/>
          </p:cNvSpPr>
          <p:nvPr/>
        </p:nvSpPr>
        <p:spPr>
          <a:xfrm xmlns:a="http://schemas.openxmlformats.org/drawingml/2006/main">
            <a:off x="2085975" y="48006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Finance darba telpa  •  AI Analyst  •  FIN//TWIN simulators  •  Automations  •  pilna administrēšana</a:t>
            </a:r>
          </a:p>
        </p:txBody>
      </p:sp>
      <p:sp>
        <p:nvSpPr>
          <p:cNvPr id="22" name="">
            <a:extLst xmlns:a="http://schemas.openxmlformats.org/drawingml/2006/main">
              <a:ext uri="{FF2B5EF4-FFF2-40B4-BE49-F238E27FC236}">
                <a16:creationId xmlns:a16="http://schemas.microsoft.com/office/drawing/2014/main" id="{ADF808D3-F503-4F9A-8B75-2D76B04B7FAA}"/>
              </a:ext>
            </a:extLst>
          </p:cNvPr>
          <p:cNvSpPr>
            <a:spLocks xmlns:a="http://schemas.openxmlformats.org/drawingml/2006/main" noGrp="1"/>
          </p:cNvSpPr>
          <p:nvPr/>
        </p:nvSpPr>
        <p:spPr>
          <a:xfrm xmlns:a="http://schemas.openxmlformats.org/drawingml/2006/main">
            <a:off x="600075"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6467"/>
          </a:bodyPr>
          <a:lstStyle xmlns:a="http://schemas.openxmlformats.org/drawingml/2006/main"/>
          <a:p xmlns:a="http://schemas.openxmlformats.org/drawingml/2006/main">
            <a:pPr algn="ctr">
              <a:lnSpc>
                <a:spcPct val="104000"/>
              </a:lnSpc>
              <a:buNone/>
              <a:defRPr sz="1725" b="1">
                <a:solidFill>
                  <a:srgbClr val="123A63"/>
                </a:solidFill>
                <a:latin typeface="Helvetica Neue"/>
                <a:ea typeface="Helvetica Neue"/>
                <a:cs typeface="Helvetica Neue"/>
              </a:defRPr>
            </a:pPr>
            <a:r>
              <a:rPr sz="1725" b="1">
                <a:solidFill>
                  <a:srgbClr val="123A63"/>
                </a:solidFill>
                <a:latin typeface="Helvetica Neue"/>
                <a:ea typeface="Helvetica Neue"/>
                <a:cs typeface="Helvetica Neue"/>
              </a:rPr>
              <a:t>TWIN nav galvenokārt importer, parseris, chatbot vai vēl viens dashboard. Tas ir savienojošs datu un inteliģences slānis.</a:t>
            </a:r>
          </a:p>
        </p:txBody>
      </p:sp>
      <p:sp>
        <p:nvSpPr>
          <p:cNvPr id="23" name="">
            <a:extLst xmlns:a="http://schemas.openxmlformats.org/drawingml/2006/main">
              <a:ext uri="{FF2B5EF4-FFF2-40B4-BE49-F238E27FC236}">
                <a16:creationId xmlns:a16="http://schemas.microsoft.com/office/drawing/2014/main" id="{3C17A206-672C-4891-9CF9-5C55BBF36E87}"/>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Moduļu statuss balstīts pašreizējā repozitorijā</a:t>
            </a:r>
          </a:p>
        </p:txBody>
      </p:sp>
    </p:spTree>
    <p:extLst>
      <p:ext uri="{BB962C8B-B14F-4D97-AF65-F5344CB8AC3E}">
        <p14:creationId xmlns:p14="http://schemas.microsoft.com/office/powerpoint/2010/main" val="88546241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C6C43F5-9DFA-493E-B98B-EA4DA32DD483}"/>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A19D4E42-CB11-47AE-ABE3-93606BE12FA0}"/>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254E634-CC21-4B3E-9BA5-485AC17FA056}"/>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Data Hub: vairāk nekā failu imports</a:t>
            </a:r>
          </a:p>
        </p:txBody>
      </p:sp>
      <p:sp>
        <p:nvSpPr>
          <p:cNvPr id="4" name="">
            <a:extLst xmlns:a="http://schemas.openxmlformats.org/drawingml/2006/main">
              <a:ext uri="{FF2B5EF4-FFF2-40B4-BE49-F238E27FC236}">
                <a16:creationId xmlns:a16="http://schemas.microsoft.com/office/drawing/2014/main" id="{A3027F9C-53E0-44C5-9C9C-4C59A44A4188}"/>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Četri datu ienākšanas veidi, viens pārvaldīts ceļš līdz uzņēmuma datu modelim</a:t>
            </a:r>
          </a:p>
        </p:txBody>
      </p:sp>
      <p:sp>
        <p:nvSpPr>
          <p:cNvPr id="5" name="">
            <a:extLst xmlns:a="http://schemas.openxmlformats.org/drawingml/2006/main">
              <a:ext uri="{FF2B5EF4-FFF2-40B4-BE49-F238E27FC236}">
                <a16:creationId xmlns:a16="http://schemas.microsoft.com/office/drawing/2014/main" id="{0C3AC865-85D5-422B-9F19-E9B7545B8C31}"/>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BDF8E42-B790-473E-9C55-5C209DB325FC}"/>
              </a:ext>
            </a:extLst>
          </p:cNvPr>
          <p:cNvSpPr>
            <a:spLocks xmlns:a="http://schemas.openxmlformats.org/drawingml/2006/main" noGrp="1"/>
          </p:cNvSpPr>
          <p:nvPr/>
        </p:nvSpPr>
        <p:spPr>
          <a:xfrm xmlns:a="http://schemas.openxmlformats.org/drawingml/2006/main">
            <a:off x="590550" y="1952625"/>
            <a:ext cx="2114550" cy="2238375"/>
          </a:xfrm>
          <a:prstGeom xmlns:a="http://schemas.openxmlformats.org/drawingml/2006/main" prst="roundRect">
            <a:avLst>
              <a:gd name="adj" fmla="val 6306"/>
            </a:avLst>
          </a:prstGeom>
          <a:solidFill xmlns:a="http://schemas.openxmlformats.org/drawingml/2006/main">
            <a:srgbClr val="EAF4FA"/>
          </a:solidFill>
          <a:ln xmlns:a="http://schemas.openxmlformats.org/drawingml/2006/main" w="9525">
            <a:solidFill>
              <a:srgbClr val="38BDF8"/>
            </a:solidFill>
            <a:prstDash val="solid"/>
          </a:ln>
        </p:spPr>
      </p:sp>
      <p:sp>
        <p:nvSpPr>
          <p:cNvPr id="7" name="">
            <a:extLst xmlns:a="http://schemas.openxmlformats.org/drawingml/2006/main">
              <a:ext uri="{FF2B5EF4-FFF2-40B4-BE49-F238E27FC236}">
                <a16:creationId xmlns:a16="http://schemas.microsoft.com/office/drawing/2014/main" id="{A6E1504C-C94C-41A3-B1EE-72AA5162F985}"/>
              </a:ext>
            </a:extLst>
          </p:cNvPr>
          <p:cNvSpPr>
            <a:spLocks xmlns:a="http://schemas.openxmlformats.org/drawingml/2006/main" noGrp="1"/>
          </p:cNvSpPr>
          <p:nvPr/>
        </p:nvSpPr>
        <p:spPr>
          <a:xfrm xmlns:a="http://schemas.openxmlformats.org/drawingml/2006/main">
            <a:off x="590550" y="1952625"/>
            <a:ext cx="66675" cy="2238375"/>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F20C2A-5071-438E-90A9-D9F06664CB11}"/>
              </a:ext>
            </a:extLst>
          </p:cNvPr>
          <p:cNvSpPr>
            <a:spLocks xmlns:a="http://schemas.openxmlformats.org/drawingml/2006/main" noGrp="1"/>
          </p:cNvSpPr>
          <p:nvPr/>
        </p:nvSpPr>
        <p:spPr>
          <a:xfrm xmlns:a="http://schemas.openxmlformats.org/drawingml/2006/main">
            <a:off x="781050" y="209550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0F172A"/>
                </a:solidFill>
                <a:latin typeface="Helvetica Neue"/>
                <a:ea typeface="Helvetica Neue"/>
                <a:cs typeface="Helvetica Neue"/>
              </a:defRPr>
            </a:pPr>
            <a:r>
              <a:rPr sz="1425" b="1">
                <a:solidFill>
                  <a:srgbClr val="0F172A"/>
                </a:solidFill>
                <a:latin typeface="Helvetica Neue"/>
                <a:ea typeface="Helvetica Neue"/>
                <a:cs typeface="Helvetica Neue"/>
              </a:rPr>
              <a:t>FAILI</a:t>
            </a:r>
          </a:p>
        </p:txBody>
      </p:sp>
      <p:sp>
        <p:nvSpPr>
          <p:cNvPr id="9" name="">
            <a:extLst xmlns:a="http://schemas.openxmlformats.org/drawingml/2006/main">
              <a:ext uri="{FF2B5EF4-FFF2-40B4-BE49-F238E27FC236}">
                <a16:creationId xmlns:a16="http://schemas.microsoft.com/office/drawing/2014/main" id="{A45AFAF2-9B7C-43B5-9B18-7D2675A52B81}"/>
              </a:ext>
            </a:extLst>
          </p:cNvPr>
          <p:cNvSpPr>
            <a:spLocks xmlns:a="http://schemas.openxmlformats.org/drawingml/2006/main" noGrp="1"/>
          </p:cNvSpPr>
          <p:nvPr/>
        </p:nvSpPr>
        <p:spPr>
          <a:xfrm xmlns:a="http://schemas.openxmlformats.org/drawingml/2006/main">
            <a:off x="781050" y="2466975"/>
            <a:ext cx="17335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Excel / CSV</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Rēķini</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Bills of Lading</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Citi dokumenti</a:t>
            </a:r>
          </a:p>
        </p:txBody>
      </p:sp>
      <p:sp>
        <p:nvSpPr>
          <p:cNvPr id="10" name="">
            <a:extLst xmlns:a="http://schemas.openxmlformats.org/drawingml/2006/main">
              <a:ext uri="{FF2B5EF4-FFF2-40B4-BE49-F238E27FC236}">
                <a16:creationId xmlns:a16="http://schemas.microsoft.com/office/drawing/2014/main" id="{65794AFE-0B4D-4C3E-883D-00FF4B079530}"/>
              </a:ext>
            </a:extLst>
          </p:cNvPr>
          <p:cNvSpPr>
            <a:spLocks xmlns:a="http://schemas.openxmlformats.org/drawingml/2006/main" noGrp="1"/>
          </p:cNvSpPr>
          <p:nvPr/>
        </p:nvSpPr>
        <p:spPr>
          <a:xfrm xmlns:a="http://schemas.openxmlformats.org/drawingml/2006/main">
            <a:off x="2962275" y="1952625"/>
            <a:ext cx="2114550" cy="2238375"/>
          </a:xfrm>
          <a:prstGeom xmlns:a="http://schemas.openxmlformats.org/drawingml/2006/main" prst="roundRect">
            <a:avLst>
              <a:gd name="adj" fmla="val 6306"/>
            </a:avLst>
          </a:prstGeom>
          <a:solidFill xmlns:a="http://schemas.openxmlformats.org/drawingml/2006/main">
            <a:srgbClr val="F1F5F9"/>
          </a:solidFill>
          <a:ln xmlns:a="http://schemas.openxmlformats.org/drawingml/2006/main" w="9525">
            <a:solidFill>
              <a:srgbClr val="C7D7E2"/>
            </a:solidFill>
            <a:prstDash val="solid"/>
          </a:ln>
        </p:spPr>
      </p:sp>
      <p:sp>
        <p:nvSpPr>
          <p:cNvPr id="11" name="">
            <a:extLst xmlns:a="http://schemas.openxmlformats.org/drawingml/2006/main">
              <a:ext uri="{FF2B5EF4-FFF2-40B4-BE49-F238E27FC236}">
                <a16:creationId xmlns:a16="http://schemas.microsoft.com/office/drawing/2014/main" id="{4B10B86B-0E45-4E11-8D2C-ED0E2ECCBE3A}"/>
              </a:ext>
            </a:extLst>
          </p:cNvPr>
          <p:cNvSpPr>
            <a:spLocks xmlns:a="http://schemas.openxmlformats.org/drawingml/2006/main" noGrp="1"/>
          </p:cNvSpPr>
          <p:nvPr/>
        </p:nvSpPr>
        <p:spPr>
          <a:xfrm xmlns:a="http://schemas.openxmlformats.org/drawingml/2006/main">
            <a:off x="3152775" y="209550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0F172A"/>
                </a:solidFill>
                <a:latin typeface="Helvetica Neue"/>
                <a:ea typeface="Helvetica Neue"/>
                <a:cs typeface="Helvetica Neue"/>
              </a:defRPr>
            </a:pPr>
            <a:r>
              <a:rPr sz="1425" b="1">
                <a:solidFill>
                  <a:srgbClr val="0F172A"/>
                </a:solidFill>
                <a:latin typeface="Helvetica Neue"/>
                <a:ea typeface="Helvetica Neue"/>
                <a:cs typeface="Helvetica Neue"/>
              </a:rPr>
              <a:t>SISTĒMAS</a:t>
            </a:r>
          </a:p>
        </p:txBody>
      </p:sp>
      <p:sp>
        <p:nvSpPr>
          <p:cNvPr id="12" name="">
            <a:extLst xmlns:a="http://schemas.openxmlformats.org/drawingml/2006/main">
              <a:ext uri="{FF2B5EF4-FFF2-40B4-BE49-F238E27FC236}">
                <a16:creationId xmlns:a16="http://schemas.microsoft.com/office/drawing/2014/main" id="{896C0FF4-052F-4B06-9F7C-DC3EE2384B9F}"/>
              </a:ext>
            </a:extLst>
          </p:cNvPr>
          <p:cNvSpPr>
            <a:spLocks xmlns:a="http://schemas.openxmlformats.org/drawingml/2006/main" noGrp="1"/>
          </p:cNvSpPr>
          <p:nvPr/>
        </p:nvSpPr>
        <p:spPr>
          <a:xfrm xmlns:a="http://schemas.openxmlformats.org/drawingml/2006/main">
            <a:off x="3152775" y="2466975"/>
            <a:ext cx="17335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TMS</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ERP</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Grāmatvedība</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CRM / banka / e-pasts</a:t>
            </a:r>
          </a:p>
        </p:txBody>
      </p:sp>
      <p:sp>
        <p:nvSpPr>
          <p:cNvPr id="13" name="">
            <a:extLst xmlns:a="http://schemas.openxmlformats.org/drawingml/2006/main">
              <a:ext uri="{FF2B5EF4-FFF2-40B4-BE49-F238E27FC236}">
                <a16:creationId xmlns:a16="http://schemas.microsoft.com/office/drawing/2014/main" id="{01D38F29-5248-45E2-8AF8-CDAA56A6146B}"/>
              </a:ext>
            </a:extLst>
          </p:cNvPr>
          <p:cNvSpPr>
            <a:spLocks xmlns:a="http://schemas.openxmlformats.org/drawingml/2006/main" noGrp="1"/>
          </p:cNvSpPr>
          <p:nvPr/>
        </p:nvSpPr>
        <p:spPr>
          <a:xfrm xmlns:a="http://schemas.openxmlformats.org/drawingml/2006/main">
            <a:off x="5334000" y="1952625"/>
            <a:ext cx="2114550" cy="2238375"/>
          </a:xfrm>
          <a:prstGeom xmlns:a="http://schemas.openxmlformats.org/drawingml/2006/main" prst="roundRect">
            <a:avLst>
              <a:gd name="adj" fmla="val 6306"/>
            </a:avLst>
          </a:prstGeom>
          <a:solidFill xmlns:a="http://schemas.openxmlformats.org/drawingml/2006/main">
            <a:srgbClr val="F1F5F9"/>
          </a:solidFill>
          <a:ln xmlns:a="http://schemas.openxmlformats.org/drawingml/2006/main" w="9525">
            <a:solidFill>
              <a:srgbClr val="C7D7E2"/>
            </a:solidFill>
            <a:prstDash val="solid"/>
          </a:ln>
        </p:spPr>
      </p:sp>
      <p:sp>
        <p:nvSpPr>
          <p:cNvPr id="14" name="">
            <a:extLst xmlns:a="http://schemas.openxmlformats.org/drawingml/2006/main">
              <a:ext uri="{FF2B5EF4-FFF2-40B4-BE49-F238E27FC236}">
                <a16:creationId xmlns:a16="http://schemas.microsoft.com/office/drawing/2014/main" id="{F03037FF-4B6E-4280-AB85-E1D2E80A739C}"/>
              </a:ext>
            </a:extLst>
          </p:cNvPr>
          <p:cNvSpPr>
            <a:spLocks xmlns:a="http://schemas.openxmlformats.org/drawingml/2006/main" noGrp="1"/>
          </p:cNvSpPr>
          <p:nvPr/>
        </p:nvSpPr>
        <p:spPr>
          <a:xfrm xmlns:a="http://schemas.openxmlformats.org/drawingml/2006/main">
            <a:off x="5524500" y="209550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0F172A"/>
                </a:solidFill>
                <a:latin typeface="Helvetica Neue"/>
                <a:ea typeface="Helvetica Neue"/>
                <a:cs typeface="Helvetica Neue"/>
              </a:defRPr>
            </a:pPr>
            <a:r>
              <a:rPr sz="1425" b="1">
                <a:solidFill>
                  <a:srgbClr val="0F172A"/>
                </a:solidFill>
                <a:latin typeface="Helvetica Neue"/>
                <a:ea typeface="Helvetica Neue"/>
                <a:cs typeface="Helvetica Neue"/>
              </a:rPr>
              <a:t>DZĪVIE AVOTI</a:t>
            </a:r>
          </a:p>
        </p:txBody>
      </p:sp>
      <p:sp>
        <p:nvSpPr>
          <p:cNvPr id="15" name="">
            <a:extLst xmlns:a="http://schemas.openxmlformats.org/drawingml/2006/main">
              <a:ext uri="{FF2B5EF4-FFF2-40B4-BE49-F238E27FC236}">
                <a16:creationId xmlns:a16="http://schemas.microsoft.com/office/drawing/2014/main" id="{C8CDB80E-AE36-4FB8-9D45-4143FFF68892}"/>
              </a:ext>
            </a:extLst>
          </p:cNvPr>
          <p:cNvSpPr>
            <a:spLocks xmlns:a="http://schemas.openxmlformats.org/drawingml/2006/main" noGrp="1"/>
          </p:cNvSpPr>
          <p:nvPr/>
        </p:nvSpPr>
        <p:spPr>
          <a:xfrm xmlns:a="http://schemas.openxmlformats.org/drawingml/2006/main">
            <a:off x="5524500" y="2466975"/>
            <a:ext cx="17335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Carrier API</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Tracking API</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Vessel dati</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Valūtu kursi</a:t>
            </a:r>
          </a:p>
        </p:txBody>
      </p:sp>
      <p:sp>
        <p:nvSpPr>
          <p:cNvPr id="16" name="">
            <a:extLst xmlns:a="http://schemas.openxmlformats.org/drawingml/2006/main">
              <a:ext uri="{FF2B5EF4-FFF2-40B4-BE49-F238E27FC236}">
                <a16:creationId xmlns:a16="http://schemas.microsoft.com/office/drawing/2014/main" id="{34085FBE-934E-4D7A-AC2B-AF73E578DFB7}"/>
              </a:ext>
            </a:extLst>
          </p:cNvPr>
          <p:cNvSpPr>
            <a:spLocks xmlns:a="http://schemas.openxmlformats.org/drawingml/2006/main" noGrp="1"/>
          </p:cNvSpPr>
          <p:nvPr/>
        </p:nvSpPr>
        <p:spPr>
          <a:xfrm xmlns:a="http://schemas.openxmlformats.org/drawingml/2006/main">
            <a:off x="7753350" y="26765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77465"/>
          </a:bodyPr>
          <a:lstStyle xmlns:a="http://schemas.openxmlformats.org/drawingml/2006/main"/>
          <a:p xmlns:a="http://schemas.openxmlformats.org/drawingml/2006/main">
            <a:pPr algn="ctr">
              <a:lnSpc>
                <a:spcPct val="104000"/>
              </a:lnSpc>
              <a:buNone/>
              <a:defRPr sz="3300" b="0">
                <a:solidFill>
                  <a:srgbClr val="38BDF8"/>
                </a:solidFill>
                <a:latin typeface="Helvetica Neue"/>
                <a:ea typeface="Helvetica Neue"/>
                <a:cs typeface="Helvetica Neue"/>
              </a:defRPr>
            </a:pPr>
            <a:r>
              <a:rPr sz="3300" b="0">
                <a:solidFill>
                  <a:srgbClr val="38BDF8"/>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5FD5A10F-AAF9-445F-A741-1864D2A586BB}"/>
              </a:ext>
            </a:extLst>
          </p:cNvPr>
          <p:cNvSpPr>
            <a:spLocks xmlns:a="http://schemas.openxmlformats.org/drawingml/2006/main" noGrp="1"/>
          </p:cNvSpPr>
          <p:nvPr/>
        </p:nvSpPr>
        <p:spPr>
          <a:xfrm xmlns:a="http://schemas.openxmlformats.org/drawingml/2006/main">
            <a:off x="8334375" y="1924050"/>
            <a:ext cx="3200400" cy="3486150"/>
          </a:xfrm>
          <a:prstGeom xmlns:a="http://schemas.openxmlformats.org/drawingml/2006/main" prst="roundRect">
            <a:avLst>
              <a:gd name="adj" fmla="val 5357"/>
            </a:avLst>
          </a:prstGeom>
          <a:solidFill xmlns:a="http://schemas.openxmlformats.org/drawingml/2006/main">
            <a:srgbClr val="07152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F5C60CA-339B-4B4A-8335-62FB6206FC13}"/>
              </a:ext>
            </a:extLst>
          </p:cNvPr>
          <p:cNvSpPr>
            <a:spLocks xmlns:a="http://schemas.openxmlformats.org/drawingml/2006/main" noGrp="1"/>
          </p:cNvSpPr>
          <p:nvPr/>
        </p:nvSpPr>
        <p:spPr>
          <a:xfrm xmlns:a="http://schemas.openxmlformats.org/drawingml/2006/main">
            <a:off x="8610600" y="2124075"/>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025" b="1">
                <a:solidFill>
                  <a:srgbClr val="F8FAFC"/>
                </a:solidFill>
                <a:latin typeface="Helvetica Neue"/>
                <a:ea typeface="Helvetica Neue"/>
                <a:cs typeface="Helvetica Neue"/>
              </a:defRPr>
            </a:pPr>
            <a:r>
              <a:rPr sz="2025" b="1">
                <a:solidFill>
                  <a:srgbClr val="F8FAFC"/>
                </a:solidFill>
                <a:latin typeface="Helvetica Neue"/>
                <a:ea typeface="Helvetica Neue"/>
                <a:cs typeface="Helvetica Neue"/>
              </a:rPr>
              <a:t>TWIN DATA HUB</a:t>
            </a:r>
          </a:p>
        </p:txBody>
      </p:sp>
      <p:sp>
        <p:nvSpPr>
          <p:cNvPr id="19" name="">
            <a:extLst xmlns:a="http://schemas.openxmlformats.org/drawingml/2006/main">
              <a:ext uri="{FF2B5EF4-FFF2-40B4-BE49-F238E27FC236}">
                <a16:creationId xmlns:a16="http://schemas.microsoft.com/office/drawing/2014/main" id="{C2690D70-5BE9-4778-B535-ADCFA101B39C}"/>
              </a:ext>
            </a:extLst>
          </p:cNvPr>
          <p:cNvSpPr>
            <a:spLocks xmlns:a="http://schemas.openxmlformats.org/drawingml/2006/main" noGrp="1"/>
          </p:cNvSpPr>
          <p:nvPr/>
        </p:nvSpPr>
        <p:spPr>
          <a:xfrm xmlns:a="http://schemas.openxmlformats.org/drawingml/2006/main">
            <a:off x="8705850" y="2762250"/>
            <a:ext cx="2486025" cy="428625"/>
          </a:xfrm>
          <a:prstGeom xmlns:a="http://schemas.openxmlformats.org/drawingml/2006/main" prst="roundRect">
            <a:avLst>
              <a:gd name="adj" fmla="val 20000"/>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0">
                <a:solidFill>
                  <a:srgbClr val="F8FAFC"/>
                </a:solidFill>
                <a:latin typeface="Helvetica Neue"/>
                <a:ea typeface="Helvetica Neue"/>
                <a:cs typeface="Helvetica Neue"/>
              </a:defRPr>
            </a:pPr>
            <a:r>
              <a:rPr sz="1350" b="0">
                <a:solidFill>
                  <a:srgbClr val="F8FAFC"/>
                </a:solidFill>
                <a:latin typeface="Helvetica Neue"/>
                <a:ea typeface="Helvetica Neue"/>
                <a:cs typeface="Helvetica Neue"/>
              </a:rPr>
              <a:t>1  Kartēšana un normalizācija</a:t>
            </a:r>
          </a:p>
        </p:txBody>
      </p:sp>
      <p:sp>
        <p:nvSpPr>
          <p:cNvPr id="20" name="">
            <a:extLst xmlns:a="http://schemas.openxmlformats.org/drawingml/2006/main">
              <a:ext uri="{FF2B5EF4-FFF2-40B4-BE49-F238E27FC236}">
                <a16:creationId xmlns:a16="http://schemas.microsoft.com/office/drawing/2014/main" id="{F96D2624-C9B7-4532-9D2C-7E222EC26C81}"/>
              </a:ext>
            </a:extLst>
          </p:cNvPr>
          <p:cNvSpPr>
            <a:spLocks xmlns:a="http://schemas.openxmlformats.org/drawingml/2006/main" noGrp="1"/>
          </p:cNvSpPr>
          <p:nvPr/>
        </p:nvSpPr>
        <p:spPr>
          <a:xfrm xmlns:a="http://schemas.openxmlformats.org/drawingml/2006/main">
            <a:off x="8705850" y="3343275"/>
            <a:ext cx="2486025" cy="428625"/>
          </a:xfrm>
          <a:prstGeom xmlns:a="http://schemas.openxmlformats.org/drawingml/2006/main" prst="roundRect">
            <a:avLst>
              <a:gd name="adj" fmla="val 20000"/>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0">
                <a:solidFill>
                  <a:srgbClr val="F8FAFC"/>
                </a:solidFill>
                <a:latin typeface="Helvetica Neue"/>
                <a:ea typeface="Helvetica Neue"/>
                <a:cs typeface="Helvetica Neue"/>
              </a:defRPr>
            </a:pPr>
            <a:r>
              <a:rPr sz="1350" b="0">
                <a:solidFill>
                  <a:srgbClr val="F8FAFC"/>
                </a:solidFill>
                <a:latin typeface="Helvetica Neue"/>
                <a:ea typeface="Helvetica Neue"/>
                <a:cs typeface="Helvetica Neue"/>
              </a:rPr>
              <a:t>2  Validācija</a:t>
            </a:r>
          </a:p>
        </p:txBody>
      </p:sp>
      <p:sp>
        <p:nvSpPr>
          <p:cNvPr id="21" name="">
            <a:extLst xmlns:a="http://schemas.openxmlformats.org/drawingml/2006/main">
              <a:ext uri="{FF2B5EF4-FFF2-40B4-BE49-F238E27FC236}">
                <a16:creationId xmlns:a16="http://schemas.microsoft.com/office/drawing/2014/main" id="{5CAA0657-A5CE-4EC8-94B5-0B9550047782}"/>
              </a:ext>
            </a:extLst>
          </p:cNvPr>
          <p:cNvSpPr>
            <a:spLocks xmlns:a="http://schemas.openxmlformats.org/drawingml/2006/main" noGrp="1"/>
          </p:cNvSpPr>
          <p:nvPr/>
        </p:nvSpPr>
        <p:spPr>
          <a:xfrm xmlns:a="http://schemas.openxmlformats.org/drawingml/2006/main">
            <a:off x="8705850" y="3924300"/>
            <a:ext cx="2486025" cy="428625"/>
          </a:xfrm>
          <a:prstGeom xmlns:a="http://schemas.openxmlformats.org/drawingml/2006/main" prst="roundRect">
            <a:avLst>
              <a:gd name="adj" fmla="val 20000"/>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0">
                <a:solidFill>
                  <a:srgbClr val="F8FAFC"/>
                </a:solidFill>
                <a:latin typeface="Helvetica Neue"/>
                <a:ea typeface="Helvetica Neue"/>
                <a:cs typeface="Helvetica Neue"/>
              </a:defRPr>
            </a:pPr>
            <a:r>
              <a:rPr sz="1350" b="0">
                <a:solidFill>
                  <a:srgbClr val="F8FAFC"/>
                </a:solidFill>
                <a:latin typeface="Helvetica Neue"/>
                <a:ea typeface="Helvetica Neue"/>
                <a:cs typeface="Helvetica Neue"/>
              </a:rPr>
              <a:t>3  Objektu sasaistīšana</a:t>
            </a:r>
          </a:p>
        </p:txBody>
      </p:sp>
      <p:sp>
        <p:nvSpPr>
          <p:cNvPr id="22" name="">
            <a:extLst xmlns:a="http://schemas.openxmlformats.org/drawingml/2006/main">
              <a:ext uri="{FF2B5EF4-FFF2-40B4-BE49-F238E27FC236}">
                <a16:creationId xmlns:a16="http://schemas.microsoft.com/office/drawing/2014/main" id="{DE59F792-2493-4062-B3F8-B89B0E3CB4A7}"/>
              </a:ext>
            </a:extLst>
          </p:cNvPr>
          <p:cNvSpPr>
            <a:spLocks xmlns:a="http://schemas.openxmlformats.org/drawingml/2006/main" noGrp="1"/>
          </p:cNvSpPr>
          <p:nvPr/>
        </p:nvSpPr>
        <p:spPr>
          <a:xfrm xmlns:a="http://schemas.openxmlformats.org/drawingml/2006/main">
            <a:off x="8705850" y="4505325"/>
            <a:ext cx="2486025" cy="428625"/>
          </a:xfrm>
          <a:prstGeom xmlns:a="http://schemas.openxmlformats.org/drawingml/2006/main" prst="roundRect">
            <a:avLst>
              <a:gd name="adj" fmla="val 20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71525"/>
                </a:solidFill>
                <a:latin typeface="Helvetica Neue"/>
                <a:ea typeface="Helvetica Neue"/>
                <a:cs typeface="Helvetica Neue"/>
              </a:defRPr>
            </a:pPr>
            <a:r>
              <a:rPr sz="1350" b="1">
                <a:solidFill>
                  <a:srgbClr val="071525"/>
                </a:solidFill>
                <a:latin typeface="Helvetica Neue"/>
                <a:ea typeface="Helvetica Neue"/>
                <a:cs typeface="Helvetica Neue"/>
              </a:rPr>
              <a:t>4  Vienotais datu modelis</a:t>
            </a:r>
          </a:p>
        </p:txBody>
      </p:sp>
      <p:sp>
        <p:nvSpPr>
          <p:cNvPr id="23" name="">
            <a:extLst xmlns:a="http://schemas.openxmlformats.org/drawingml/2006/main">
              <a:ext uri="{FF2B5EF4-FFF2-40B4-BE49-F238E27FC236}">
                <a16:creationId xmlns:a16="http://schemas.microsoft.com/office/drawing/2014/main" id="{00199808-733E-41FA-AB3E-342D89195D2A}"/>
              </a:ext>
            </a:extLst>
          </p:cNvPr>
          <p:cNvSpPr>
            <a:spLocks xmlns:a="http://schemas.openxmlformats.org/drawingml/2006/main" noGrp="1"/>
          </p:cNvSpPr>
          <p:nvPr/>
        </p:nvSpPr>
        <p:spPr>
          <a:xfrm xmlns:a="http://schemas.openxmlformats.org/drawingml/2006/main">
            <a:off x="600075" y="4514850"/>
            <a:ext cx="1571625" cy="266700"/>
          </a:xfrm>
          <a:prstGeom xmlns:a="http://schemas.openxmlformats.org/drawingml/2006/main" prst="roundRect">
            <a:avLst>
              <a:gd name="adj" fmla="val 50000"/>
            </a:avLst>
          </a:prstGeom>
          <a:solidFill xmlns:a="http://schemas.openxmlformats.org/drawingml/2006/main">
            <a:srgbClr val="071525"/>
          </a:solidFill>
          <a:ln xmlns:a="http://schemas.openxmlformats.org/drawingml/2006/main" w="0">
            <a:noFill/>
            <a:prstDash val="solid"/>
          </a:ln>
        </p:spPr>
        <p:txBody>
          <a:bodyPr xmlns:a="http://schemas.openxmlformats.org/drawingml/2006/main" lIns="76200" tIns="19050" rIns="76200" bIns="19050" anchor="ctr">
            <a:normAutofit fontScale="90425"/>
          </a:bodyPr>
          <a:lstStyle xmlns:a="http://schemas.openxmlformats.org/drawingml/2006/main"/>
          <a:p xmlns:a="http://schemas.openxmlformats.org/drawingml/2006/main">
            <a:pPr algn="ctr">
              <a:lnSpc>
                <a:spcPct val="104000"/>
              </a:lnSpc>
              <a:buNone/>
              <a:defRPr sz="1050" b="1">
                <a:solidFill>
                  <a:srgbClr val="F8FAFC"/>
                </a:solidFill>
                <a:latin typeface="Helvetica Neue"/>
                <a:ea typeface="Helvetica Neue"/>
                <a:cs typeface="Helvetica Neue"/>
              </a:defRPr>
            </a:pPr>
            <a:r>
              <a:rPr sz="1050" b="1">
                <a:solidFill>
                  <a:srgbClr val="F8FAFC"/>
                </a:solidFill>
                <a:latin typeface="Helvetica Neue"/>
                <a:ea typeface="Helvetica Neue"/>
                <a:cs typeface="Helvetica Neue"/>
              </a:rPr>
              <a:t>PROTOTIPĀ ŠODIEN</a:t>
            </a:r>
          </a:p>
        </p:txBody>
      </p:sp>
      <p:sp>
        <p:nvSpPr>
          <p:cNvPr id="24" name="">
            <a:extLst xmlns:a="http://schemas.openxmlformats.org/drawingml/2006/main">
              <a:ext uri="{FF2B5EF4-FFF2-40B4-BE49-F238E27FC236}">
                <a16:creationId xmlns:a16="http://schemas.microsoft.com/office/drawing/2014/main" id="{0F02BC18-AA5D-4B1F-8C40-61FFDAACF07B}"/>
              </a:ext>
            </a:extLst>
          </p:cNvPr>
          <p:cNvSpPr>
            <a:spLocks xmlns:a="http://schemas.openxmlformats.org/drawingml/2006/main" noGrp="1"/>
          </p:cNvSpPr>
          <p:nvPr/>
        </p:nvSpPr>
        <p:spPr>
          <a:xfrm xmlns:a="http://schemas.openxmlformats.org/drawingml/2006/main">
            <a:off x="2333625" y="4467225"/>
            <a:ext cx="538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Failu imports + manuāla labošanas/review plūsma</a:t>
            </a:r>
          </a:p>
        </p:txBody>
      </p:sp>
      <p:sp>
        <p:nvSpPr>
          <p:cNvPr id="25" name="">
            <a:extLst xmlns:a="http://schemas.openxmlformats.org/drawingml/2006/main">
              <a:ext uri="{FF2B5EF4-FFF2-40B4-BE49-F238E27FC236}">
                <a16:creationId xmlns:a16="http://schemas.microsoft.com/office/drawing/2014/main" id="{6EA77AF2-6D82-4690-8E85-B6D520582636}"/>
              </a:ext>
            </a:extLst>
          </p:cNvPr>
          <p:cNvSpPr>
            <a:spLocks xmlns:a="http://schemas.openxmlformats.org/drawingml/2006/main" noGrp="1"/>
          </p:cNvSpPr>
          <p:nvPr/>
        </p:nvSpPr>
        <p:spPr>
          <a:xfrm xmlns:a="http://schemas.openxmlformats.org/drawingml/2006/main">
            <a:off x="600075" y="5010150"/>
            <a:ext cx="1000125" cy="26670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19050" rIns="76200" bIns="19050" anchor="ctr">
            <a:normAutofit fontScale="90425"/>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26" name="">
            <a:extLst xmlns:a="http://schemas.openxmlformats.org/drawingml/2006/main">
              <a:ext uri="{FF2B5EF4-FFF2-40B4-BE49-F238E27FC236}">
                <a16:creationId xmlns:a16="http://schemas.microsoft.com/office/drawing/2014/main" id="{A79DD979-3EEF-4A3C-9E3E-C20F9BE7C891}"/>
              </a:ext>
            </a:extLst>
          </p:cNvPr>
          <p:cNvSpPr>
            <a:spLocks xmlns:a="http://schemas.openxmlformats.org/drawingml/2006/main" noGrp="1"/>
          </p:cNvSpPr>
          <p:nvPr/>
        </p:nvSpPr>
        <p:spPr>
          <a:xfrm xmlns:a="http://schemas.openxmlformats.org/drawingml/2006/main">
            <a:off x="1752600" y="4962525"/>
            <a:ext cx="596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9272"/>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Tiešie sistēmu savienojumi, API/event plūsmas un sinhronizācijas pārvaldība</a:t>
            </a:r>
          </a:p>
        </p:txBody>
      </p:sp>
      <p:sp>
        <p:nvSpPr>
          <p:cNvPr id="27" name="">
            <a:extLst xmlns:a="http://schemas.openxmlformats.org/drawingml/2006/main">
              <a:ext uri="{FF2B5EF4-FFF2-40B4-BE49-F238E27FC236}">
                <a16:creationId xmlns:a16="http://schemas.microsoft.com/office/drawing/2014/main" id="{50683826-04D5-450E-BD3B-E34952AF5BEF}"/>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TWIN</a:t>
            </a:r>
          </a:p>
        </p:txBody>
      </p:sp>
    </p:spTree>
    <p:extLst>
      <p:ext uri="{BB962C8B-B14F-4D97-AF65-F5344CB8AC3E}">
        <p14:creationId xmlns:p14="http://schemas.microsoft.com/office/powerpoint/2010/main" val="179718439"/>
      </p:ext>
    </p:extLst>
  </p:cSld>
</p:sld>
</file>

<file path=ppt/slides/slide6.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4DEB1D8-A885-4C2B-B012-B60EBAD5DE44}"/>
              </a:ext>
            </a:extLst>
          </p:cNvPr>
          <p:cNvSpPr>
            <a:spLocks xmlns:a="http://schemas.openxmlformats.org/drawingml/2006/main" noGrp="1"/>
          </p:cNvSpPr>
          <p:nvPr/>
        </p:nvSpPr>
        <p:spPr>
          <a:xfrm xmlns:a="http://schemas.openxmlformats.org/drawingml/2006/main">
            <a:off x="552450" y="4953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3172"/>
          </a:bodyPr>
          <a:lstStyle xmlns:a="http://schemas.openxmlformats.org/drawingml/2006/main"/>
          <a:p xmlns:a="http://schemas.openxmlformats.org/drawingml/2006/main">
            <a:pPr algn="l">
              <a:lnSpc>
                <a:spcPct val="104000"/>
              </a:lnSpc>
              <a:buNone/>
              <a:defRPr sz="3225" b="1">
                <a:solidFill>
                  <a:srgbClr val="F8FAFC"/>
                </a:solidFill>
                <a:latin typeface="Helvetica Neue"/>
                <a:ea typeface="Helvetica Neue"/>
                <a:cs typeface="Helvetica Neue"/>
              </a:defRPr>
            </a:pPr>
            <a:r>
              <a:rPr sz="3225" b="1">
                <a:solidFill>
                  <a:srgbClr val="F8FAFC"/>
                </a:solidFill>
                <a:latin typeface="Helvetica Neue"/>
                <a:ea typeface="Helvetica Neue"/>
                <a:cs typeface="Helvetica Neue"/>
              </a:rPr>
              <a:t>Viens shipment, nevis trīs nesaistīti ieraksti</a:t>
            </a:r>
          </a:p>
        </p:txBody>
      </p:sp>
      <p:sp>
        <p:nvSpPr>
          <p:cNvPr id="2" name="">
            <a:extLst xmlns:a="http://schemas.openxmlformats.org/drawingml/2006/main">
              <a:ext uri="{FF2B5EF4-FFF2-40B4-BE49-F238E27FC236}">
                <a16:creationId xmlns:a16="http://schemas.microsoft.com/office/drawing/2014/main" id="{EF7C51E2-02F4-48B7-98E7-34D45F7429DA}"/>
              </a:ext>
            </a:extLst>
          </p:cNvPr>
          <p:cNvSpPr>
            <a:spLocks xmlns:a="http://schemas.openxmlformats.org/drawingml/2006/main" noGrp="1"/>
          </p:cNvSpPr>
          <p:nvPr/>
        </p:nvSpPr>
        <p:spPr>
          <a:xfrm xmlns:a="http://schemas.openxmlformats.org/drawingml/2006/main">
            <a:off x="571500" y="112395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1575"/>
          </a:bodyPr>
          <a:lstStyle xmlns:a="http://schemas.openxmlformats.org/drawingml/2006/main"/>
          <a:p xmlns:a="http://schemas.openxmlformats.org/drawingml/2006/main">
            <a:pPr algn="l">
              <a:lnSpc>
                <a:spcPct val="104000"/>
              </a:lnSpc>
              <a:buNone/>
              <a:defRPr sz="1575" b="0">
                <a:solidFill>
                  <a:srgbClr val="7DD3FC"/>
                </a:solidFill>
                <a:latin typeface="Helvetica Neue"/>
                <a:ea typeface="Helvetica Neue"/>
                <a:cs typeface="Helvetica Neue"/>
              </a:defRPr>
            </a:pPr>
            <a:r>
              <a:rPr sz="1575" b="0">
                <a:solidFill>
                  <a:srgbClr val="7DD3FC"/>
                </a:solidFill>
                <a:latin typeface="Helvetica Neue"/>
                <a:ea typeface="Helvetica Neue"/>
                <a:cs typeface="Helvetica Neue"/>
              </a:rPr>
              <a:t>Vienotais uzņēmuma datu modelis sasaista operacionālo un finanšu kontekstu</a:t>
            </a:r>
          </a:p>
        </p:txBody>
      </p:sp>
      <p:sp>
        <p:nvSpPr>
          <p:cNvPr id="3" name="">
            <a:extLst xmlns:a="http://schemas.openxmlformats.org/drawingml/2006/main">
              <a:ext uri="{FF2B5EF4-FFF2-40B4-BE49-F238E27FC236}">
                <a16:creationId xmlns:a16="http://schemas.microsoft.com/office/drawing/2014/main" id="{D84845EE-39D8-4E5A-AD66-858160653554}"/>
              </a:ext>
            </a:extLst>
          </p:cNvPr>
          <p:cNvSpPr>
            <a:spLocks xmlns:a="http://schemas.openxmlformats.org/drawingml/2006/main" noGrp="1"/>
          </p:cNvSpPr>
          <p:nvPr/>
        </p:nvSpPr>
        <p:spPr>
          <a:xfrm xmlns:a="http://schemas.openxmlformats.org/drawingml/2006/main">
            <a:off x="4095750" y="2238375"/>
            <a:ext cx="3429000" cy="1981200"/>
          </a:xfrm>
          <a:prstGeom xmlns:a="http://schemas.openxmlformats.org/drawingml/2006/main" prst="roundRect">
            <a:avLst>
              <a:gd name="adj" fmla="val 8654"/>
            </a:avLst>
          </a:prstGeom>
          <a:solidFill xmlns:a="http://schemas.openxmlformats.org/drawingml/2006/main">
            <a:srgbClr val="38BDF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78B4F8-D903-465B-808E-FA48C0DB953E}"/>
              </a:ext>
            </a:extLst>
          </p:cNvPr>
          <p:cNvSpPr>
            <a:spLocks xmlns:a="http://schemas.openxmlformats.org/drawingml/2006/main" noGrp="1"/>
          </p:cNvSpPr>
          <p:nvPr/>
        </p:nvSpPr>
        <p:spPr>
          <a:xfrm xmlns:a="http://schemas.openxmlformats.org/drawingml/2006/main">
            <a:off x="4572000" y="2628900"/>
            <a:ext cx="247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550" b="1">
                <a:solidFill>
                  <a:srgbClr val="071525"/>
                </a:solidFill>
                <a:latin typeface="Helvetica Neue"/>
                <a:ea typeface="Helvetica Neue"/>
                <a:cs typeface="Helvetica Neue"/>
              </a:defRPr>
            </a:pPr>
            <a:r>
              <a:rPr sz="2550" b="1">
                <a:solidFill>
                  <a:srgbClr val="071525"/>
                </a:solidFill>
                <a:latin typeface="Helvetica Neue"/>
                <a:ea typeface="Helvetica Neue"/>
                <a:cs typeface="Helvetica Neue"/>
              </a:rPr>
              <a:t>SHIPMENT</a:t>
            </a:r>
          </a:p>
          <a:p xmlns:a="http://schemas.openxmlformats.org/drawingml/2006/main">
            <a:pPr algn="ctr">
              <a:lnSpc>
                <a:spcPct val="104000"/>
              </a:lnSpc>
              <a:buNone/>
              <a:defRPr sz="2550" b="1">
                <a:solidFill>
                  <a:srgbClr val="071525"/>
                </a:solidFill>
                <a:latin typeface="Helvetica Neue"/>
                <a:ea typeface="Helvetica Neue"/>
                <a:cs typeface="Helvetica Neue"/>
              </a:defRPr>
            </a:pPr>
            <a:r>
              <a:rPr sz="2550" b="1">
                <a:solidFill>
                  <a:srgbClr val="071525"/>
                </a:solidFill>
                <a:latin typeface="Helvetica Neue"/>
                <a:ea typeface="Helvetica Neue"/>
                <a:cs typeface="Helvetica Neue"/>
              </a:rPr>
              <a:t>SHP-12831</a:t>
            </a:r>
          </a:p>
        </p:txBody>
      </p:sp>
      <p:sp>
        <p:nvSpPr>
          <p:cNvPr id="5" name="">
            <a:extLst xmlns:a="http://schemas.openxmlformats.org/drawingml/2006/main">
              <a:ext uri="{FF2B5EF4-FFF2-40B4-BE49-F238E27FC236}">
                <a16:creationId xmlns:a16="http://schemas.microsoft.com/office/drawing/2014/main" id="{DAF334B8-72A2-4BCB-B7CC-2A93C8879A99}"/>
              </a:ext>
            </a:extLst>
          </p:cNvPr>
          <p:cNvSpPr>
            <a:spLocks xmlns:a="http://schemas.openxmlformats.org/drawingml/2006/main" noGrp="1"/>
          </p:cNvSpPr>
          <p:nvPr/>
        </p:nvSpPr>
        <p:spPr>
          <a:xfrm xmlns:a="http://schemas.openxmlformats.org/drawingml/2006/main">
            <a:off x="666750" y="2047875"/>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6" name="">
            <a:extLst xmlns:a="http://schemas.openxmlformats.org/drawingml/2006/main">
              <a:ext uri="{FF2B5EF4-FFF2-40B4-BE49-F238E27FC236}">
                <a16:creationId xmlns:a16="http://schemas.microsoft.com/office/drawing/2014/main" id="{34552B96-7B09-4049-BFDE-D04FBB82A312}"/>
              </a:ext>
            </a:extLst>
          </p:cNvPr>
          <p:cNvSpPr>
            <a:spLocks xmlns:a="http://schemas.openxmlformats.org/drawingml/2006/main" noGrp="1"/>
          </p:cNvSpPr>
          <p:nvPr/>
        </p:nvSpPr>
        <p:spPr>
          <a:xfrm xmlns:a="http://schemas.openxmlformats.org/drawingml/2006/main">
            <a:off x="857250" y="2190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CUSTOMER</a:t>
            </a:r>
          </a:p>
        </p:txBody>
      </p:sp>
      <p:sp>
        <p:nvSpPr>
          <p:cNvPr id="7" name="">
            <a:extLst xmlns:a="http://schemas.openxmlformats.org/drawingml/2006/main">
              <a:ext uri="{FF2B5EF4-FFF2-40B4-BE49-F238E27FC236}">
                <a16:creationId xmlns:a16="http://schemas.microsoft.com/office/drawing/2014/main" id="{2DBE8C22-42F2-42CE-B237-AB540EBA910E}"/>
              </a:ext>
            </a:extLst>
          </p:cNvPr>
          <p:cNvSpPr>
            <a:spLocks xmlns:a="http://schemas.openxmlformats.org/drawingml/2006/main" noGrp="1"/>
          </p:cNvSpPr>
          <p:nvPr/>
        </p:nvSpPr>
        <p:spPr>
          <a:xfrm xmlns:a="http://schemas.openxmlformats.org/drawingml/2006/main">
            <a:off x="857250" y="2562225"/>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Klienta identitāte</a:t>
            </a:r>
          </a:p>
        </p:txBody>
      </p:sp>
      <p:sp>
        <p:nvSpPr>
          <p:cNvPr id="8" name="">
            <a:extLst xmlns:a="http://schemas.openxmlformats.org/drawingml/2006/main">
              <a:ext uri="{FF2B5EF4-FFF2-40B4-BE49-F238E27FC236}">
                <a16:creationId xmlns:a16="http://schemas.microsoft.com/office/drawing/2014/main" id="{CD0A4CA0-53CA-4162-9C9A-E09458E4699A}"/>
              </a:ext>
            </a:extLst>
          </p:cNvPr>
          <p:cNvSpPr>
            <a:spLocks xmlns:a="http://schemas.openxmlformats.org/drawingml/2006/main" noGrp="1"/>
          </p:cNvSpPr>
          <p:nvPr/>
        </p:nvSpPr>
        <p:spPr>
          <a:xfrm xmlns:a="http://schemas.openxmlformats.org/drawingml/2006/main">
            <a:off x="666750" y="3619500"/>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9" name="">
            <a:extLst xmlns:a="http://schemas.openxmlformats.org/drawingml/2006/main">
              <a:ext uri="{FF2B5EF4-FFF2-40B4-BE49-F238E27FC236}">
                <a16:creationId xmlns:a16="http://schemas.microsoft.com/office/drawing/2014/main" id="{01A497E1-F4B8-4DD2-B990-7D46BD8DE0F5}"/>
              </a:ext>
            </a:extLst>
          </p:cNvPr>
          <p:cNvSpPr>
            <a:spLocks xmlns:a="http://schemas.openxmlformats.org/drawingml/2006/main" noGrp="1"/>
          </p:cNvSpPr>
          <p:nvPr/>
        </p:nvSpPr>
        <p:spPr>
          <a:xfrm xmlns:a="http://schemas.openxmlformats.org/drawingml/2006/main">
            <a:off x="857250" y="37623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BILL OF LADING</a:t>
            </a:r>
          </a:p>
        </p:txBody>
      </p:sp>
      <p:sp>
        <p:nvSpPr>
          <p:cNvPr id="10" name="">
            <a:extLst xmlns:a="http://schemas.openxmlformats.org/drawingml/2006/main">
              <a:ext uri="{FF2B5EF4-FFF2-40B4-BE49-F238E27FC236}">
                <a16:creationId xmlns:a16="http://schemas.microsoft.com/office/drawing/2014/main" id="{64104FF1-38E3-4142-840C-76B4ED274827}"/>
              </a:ext>
            </a:extLst>
          </p:cNvPr>
          <p:cNvSpPr>
            <a:spLocks xmlns:a="http://schemas.openxmlformats.org/drawingml/2006/main" noGrp="1"/>
          </p:cNvSpPr>
          <p:nvPr/>
        </p:nvSpPr>
        <p:spPr>
          <a:xfrm xmlns:a="http://schemas.openxmlformats.org/drawingml/2006/main">
            <a:off x="857250" y="4133850"/>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Vessel • voyage • POL/POD</a:t>
            </a:r>
          </a:p>
        </p:txBody>
      </p:sp>
      <p:sp>
        <p:nvSpPr>
          <p:cNvPr id="11" name="">
            <a:extLst xmlns:a="http://schemas.openxmlformats.org/drawingml/2006/main">
              <a:ext uri="{FF2B5EF4-FFF2-40B4-BE49-F238E27FC236}">
                <a16:creationId xmlns:a16="http://schemas.microsoft.com/office/drawing/2014/main" id="{17A2343B-BAE8-43D3-907A-6FC02F08FDBD}"/>
              </a:ext>
            </a:extLst>
          </p:cNvPr>
          <p:cNvSpPr>
            <a:spLocks xmlns:a="http://schemas.openxmlformats.org/drawingml/2006/main" noGrp="1"/>
          </p:cNvSpPr>
          <p:nvPr/>
        </p:nvSpPr>
        <p:spPr>
          <a:xfrm xmlns:a="http://schemas.openxmlformats.org/drawingml/2006/main">
            <a:off x="7962900" y="1828800"/>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12" name="">
            <a:extLst xmlns:a="http://schemas.openxmlformats.org/drawingml/2006/main">
              <a:ext uri="{FF2B5EF4-FFF2-40B4-BE49-F238E27FC236}">
                <a16:creationId xmlns:a16="http://schemas.microsoft.com/office/drawing/2014/main" id="{5BF834E1-2551-40F6-91BE-F2A6EAB63B5D}"/>
              </a:ext>
            </a:extLst>
          </p:cNvPr>
          <p:cNvSpPr>
            <a:spLocks xmlns:a="http://schemas.openxmlformats.org/drawingml/2006/main" noGrp="1"/>
          </p:cNvSpPr>
          <p:nvPr/>
        </p:nvSpPr>
        <p:spPr>
          <a:xfrm xmlns:a="http://schemas.openxmlformats.org/drawingml/2006/main">
            <a:off x="8153400" y="19716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CONTAINERS</a:t>
            </a:r>
          </a:p>
        </p:txBody>
      </p:sp>
      <p:sp>
        <p:nvSpPr>
          <p:cNvPr id="13" name="">
            <a:extLst xmlns:a="http://schemas.openxmlformats.org/drawingml/2006/main">
              <a:ext uri="{FF2B5EF4-FFF2-40B4-BE49-F238E27FC236}">
                <a16:creationId xmlns:a16="http://schemas.microsoft.com/office/drawing/2014/main" id="{C672A5AB-6145-4891-BB3F-B67ED1C79A6D}"/>
              </a:ext>
            </a:extLst>
          </p:cNvPr>
          <p:cNvSpPr>
            <a:spLocks xmlns:a="http://schemas.openxmlformats.org/drawingml/2006/main" noGrp="1"/>
          </p:cNvSpPr>
          <p:nvPr/>
        </p:nvSpPr>
        <p:spPr>
          <a:xfrm xmlns:a="http://schemas.openxmlformats.org/drawingml/2006/main">
            <a:off x="8153400" y="2343150"/>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ISO 6346 • TEU • svars</a:t>
            </a:r>
          </a:p>
        </p:txBody>
      </p:sp>
      <p:sp>
        <p:nvSpPr>
          <p:cNvPr id="14" name="">
            <a:extLst xmlns:a="http://schemas.openxmlformats.org/drawingml/2006/main">
              <a:ext uri="{FF2B5EF4-FFF2-40B4-BE49-F238E27FC236}">
                <a16:creationId xmlns:a16="http://schemas.microsoft.com/office/drawing/2014/main" id="{D62EB3B5-A250-4A9C-8F08-479A3AC58395}"/>
              </a:ext>
            </a:extLst>
          </p:cNvPr>
          <p:cNvSpPr>
            <a:spLocks xmlns:a="http://schemas.openxmlformats.org/drawingml/2006/main" noGrp="1"/>
          </p:cNvSpPr>
          <p:nvPr/>
        </p:nvSpPr>
        <p:spPr>
          <a:xfrm xmlns:a="http://schemas.openxmlformats.org/drawingml/2006/main">
            <a:off x="7962900" y="3086100"/>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15" name="">
            <a:extLst xmlns:a="http://schemas.openxmlformats.org/drawingml/2006/main">
              <a:ext uri="{FF2B5EF4-FFF2-40B4-BE49-F238E27FC236}">
                <a16:creationId xmlns:a16="http://schemas.microsoft.com/office/drawing/2014/main" id="{F5ABB37D-FCAE-40CE-8CA3-ADE4F00DEB47}"/>
              </a:ext>
            </a:extLst>
          </p:cNvPr>
          <p:cNvSpPr>
            <a:spLocks xmlns:a="http://schemas.openxmlformats.org/drawingml/2006/main" noGrp="1"/>
          </p:cNvSpPr>
          <p:nvPr/>
        </p:nvSpPr>
        <p:spPr>
          <a:xfrm xmlns:a="http://schemas.openxmlformats.org/drawingml/2006/main">
            <a:off x="8153400" y="32289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INVOICES</a:t>
            </a:r>
          </a:p>
        </p:txBody>
      </p:sp>
      <p:sp>
        <p:nvSpPr>
          <p:cNvPr id="16" name="">
            <a:extLst xmlns:a="http://schemas.openxmlformats.org/drawingml/2006/main">
              <a:ext uri="{FF2B5EF4-FFF2-40B4-BE49-F238E27FC236}">
                <a16:creationId xmlns:a16="http://schemas.microsoft.com/office/drawing/2014/main" id="{6315E69E-807B-40EE-8965-379891599D84}"/>
              </a:ext>
            </a:extLst>
          </p:cNvPr>
          <p:cNvSpPr>
            <a:spLocks xmlns:a="http://schemas.openxmlformats.org/drawingml/2006/main" noGrp="1"/>
          </p:cNvSpPr>
          <p:nvPr/>
        </p:nvSpPr>
        <p:spPr>
          <a:xfrm xmlns:a="http://schemas.openxmlformats.org/drawingml/2006/main">
            <a:off x="8153400" y="3600450"/>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Ieņēmumi • PVN • statuss</a:t>
            </a:r>
          </a:p>
        </p:txBody>
      </p:sp>
      <p:sp>
        <p:nvSpPr>
          <p:cNvPr id="17" name="">
            <a:extLst xmlns:a="http://schemas.openxmlformats.org/drawingml/2006/main">
              <a:ext uri="{FF2B5EF4-FFF2-40B4-BE49-F238E27FC236}">
                <a16:creationId xmlns:a16="http://schemas.microsoft.com/office/drawing/2014/main" id="{BD606B66-0324-4785-8FA6-4DFB926DB83B}"/>
              </a:ext>
            </a:extLst>
          </p:cNvPr>
          <p:cNvSpPr>
            <a:spLocks xmlns:a="http://schemas.openxmlformats.org/drawingml/2006/main" noGrp="1"/>
          </p:cNvSpPr>
          <p:nvPr/>
        </p:nvSpPr>
        <p:spPr>
          <a:xfrm xmlns:a="http://schemas.openxmlformats.org/drawingml/2006/main">
            <a:off x="7962900" y="4343400"/>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18" name="">
            <a:extLst xmlns:a="http://schemas.openxmlformats.org/drawingml/2006/main">
              <a:ext uri="{FF2B5EF4-FFF2-40B4-BE49-F238E27FC236}">
                <a16:creationId xmlns:a16="http://schemas.microsoft.com/office/drawing/2014/main" id="{0B19D843-34E7-4C8B-8984-11E14096E318}"/>
              </a:ext>
            </a:extLst>
          </p:cNvPr>
          <p:cNvSpPr>
            <a:spLocks xmlns:a="http://schemas.openxmlformats.org/drawingml/2006/main" noGrp="1"/>
          </p:cNvSpPr>
          <p:nvPr/>
        </p:nvSpPr>
        <p:spPr>
          <a:xfrm xmlns:a="http://schemas.openxmlformats.org/drawingml/2006/main">
            <a:off x="8153400" y="44862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COSTS &amp; PAYMENTS</a:t>
            </a:r>
          </a:p>
        </p:txBody>
      </p:sp>
      <p:sp>
        <p:nvSpPr>
          <p:cNvPr id="19" name="">
            <a:extLst xmlns:a="http://schemas.openxmlformats.org/drawingml/2006/main">
              <a:ext uri="{FF2B5EF4-FFF2-40B4-BE49-F238E27FC236}">
                <a16:creationId xmlns:a16="http://schemas.microsoft.com/office/drawing/2014/main" id="{ACCC359E-B38A-45E0-A7A2-DFCB8C3FBDA8}"/>
              </a:ext>
            </a:extLst>
          </p:cNvPr>
          <p:cNvSpPr>
            <a:spLocks xmlns:a="http://schemas.openxmlformats.org/drawingml/2006/main" noGrp="1"/>
          </p:cNvSpPr>
          <p:nvPr/>
        </p:nvSpPr>
        <p:spPr>
          <a:xfrm xmlns:a="http://schemas.openxmlformats.org/drawingml/2006/main">
            <a:off x="8153400" y="4857750"/>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Izmaksas • apmaksa</a:t>
            </a:r>
          </a:p>
        </p:txBody>
      </p:sp>
      <p:sp>
        <p:nvSpPr>
          <p:cNvPr id="20" name="">
            <a:extLst xmlns:a="http://schemas.openxmlformats.org/drawingml/2006/main">
              <a:ext uri="{FF2B5EF4-FFF2-40B4-BE49-F238E27FC236}">
                <a16:creationId xmlns:a16="http://schemas.microsoft.com/office/drawing/2014/main" id="{99583C08-DAE1-4DDB-99ED-22FD52E3DF87}"/>
              </a:ext>
            </a:extLst>
          </p:cNvPr>
          <p:cNvSpPr>
            <a:spLocks xmlns:a="http://schemas.openxmlformats.org/drawingml/2006/main" noGrp="1"/>
          </p:cNvSpPr>
          <p:nvPr/>
        </p:nvSpPr>
        <p:spPr>
          <a:xfrm xmlns:a="http://schemas.openxmlformats.org/drawingml/2006/main">
            <a:off x="3619500" y="2514600"/>
            <a:ext cx="4762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784FC02-9DCE-4B4F-B729-7876DD96DC86}"/>
              </a:ext>
            </a:extLst>
          </p:cNvPr>
          <p:cNvSpPr>
            <a:spLocks xmlns:a="http://schemas.openxmlformats.org/drawingml/2006/main" noGrp="1"/>
          </p:cNvSpPr>
          <p:nvPr/>
        </p:nvSpPr>
        <p:spPr>
          <a:xfrm xmlns:a="http://schemas.openxmlformats.org/drawingml/2006/main">
            <a:off x="3619500" y="4086225"/>
            <a:ext cx="4762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9813BA1-8E35-4C3F-9ED6-F9A7A8FA18A1}"/>
              </a:ext>
            </a:extLst>
          </p:cNvPr>
          <p:cNvSpPr>
            <a:spLocks xmlns:a="http://schemas.openxmlformats.org/drawingml/2006/main" noGrp="1"/>
          </p:cNvSpPr>
          <p:nvPr/>
        </p:nvSpPr>
        <p:spPr>
          <a:xfrm xmlns:a="http://schemas.openxmlformats.org/drawingml/2006/main">
            <a:off x="7524750" y="2324100"/>
            <a:ext cx="4381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F8E29DD-E6A2-4AFF-B294-E401EF53A6DC}"/>
              </a:ext>
            </a:extLst>
          </p:cNvPr>
          <p:cNvSpPr>
            <a:spLocks xmlns:a="http://schemas.openxmlformats.org/drawingml/2006/main" noGrp="1"/>
          </p:cNvSpPr>
          <p:nvPr/>
        </p:nvSpPr>
        <p:spPr>
          <a:xfrm xmlns:a="http://schemas.openxmlformats.org/drawingml/2006/main">
            <a:off x="7524750" y="3581400"/>
            <a:ext cx="4381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D2F172E-0521-4829-BF81-1DA574AB79E3}"/>
              </a:ext>
            </a:extLst>
          </p:cNvPr>
          <p:cNvSpPr>
            <a:spLocks xmlns:a="http://schemas.openxmlformats.org/drawingml/2006/main" noGrp="1"/>
          </p:cNvSpPr>
          <p:nvPr/>
        </p:nvSpPr>
        <p:spPr>
          <a:xfrm xmlns:a="http://schemas.openxmlformats.org/drawingml/2006/main">
            <a:off x="7524750" y="4838700"/>
            <a:ext cx="4381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97E1FE2-24D7-47A8-83E6-634352DB8B7B}"/>
              </a:ext>
            </a:extLst>
          </p:cNvPr>
          <p:cNvSpPr>
            <a:spLocks xmlns:a="http://schemas.openxmlformats.org/drawingml/2006/main" noGrp="1"/>
          </p:cNvSpPr>
          <p:nvPr/>
        </p:nvSpPr>
        <p:spPr>
          <a:xfrm xmlns:a="http://schemas.openxmlformats.org/drawingml/2006/main">
            <a:off x="657225" y="5667375"/>
            <a:ext cx="10287000" cy="438150"/>
          </a:xfrm>
          <a:prstGeom xmlns:a="http://schemas.openxmlformats.org/drawingml/2006/main" prst="roundRect">
            <a:avLst>
              <a:gd name="adj" fmla="val 21739"/>
            </a:avLst>
          </a:prstGeom>
          <a:solidFill xmlns:a="http://schemas.openxmlformats.org/drawingml/2006/main">
            <a:srgbClr val="102A44"/>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425" b="0">
                <a:solidFill>
                  <a:srgbClr val="F8FAFC"/>
                </a:solidFill>
                <a:latin typeface="Helvetica Neue"/>
                <a:ea typeface="Helvetica Neue"/>
                <a:cs typeface="Helvetica Neue"/>
              </a:defRPr>
            </a:pPr>
            <a:r>
              <a:rPr sz="1425" b="0">
                <a:solidFill>
                  <a:srgbClr val="F8FAFC"/>
                </a:solidFill>
                <a:latin typeface="Helvetica Neue"/>
                <a:ea typeface="Helvetica Neue"/>
                <a:cs typeface="Helvetica Neue"/>
              </a:rPr>
              <a:t>Excel → booking informācija     •     B/L → transporta fakti     •     Invoice → finanšu fakti     •     API → nākotnē ETA/tracking</a:t>
            </a:r>
          </a:p>
        </p:txBody>
      </p:sp>
    </p:spTree>
    <p:extLst>
      <p:ext uri="{BB962C8B-B14F-4D97-AF65-F5344CB8AC3E}">
        <p14:creationId xmlns:p14="http://schemas.microsoft.com/office/powerpoint/2010/main" val="373992016"/>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42037F8-D0D9-4E1B-BC89-B616C042BECC}"/>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AC00E741-D192-4693-B00F-B8CFCD389700}"/>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104C95C6-A703-4FB5-B83E-66B6DDCFECFD}"/>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Ko esam jau uzbūvējuši</a:t>
            </a:r>
          </a:p>
        </p:txBody>
      </p:sp>
      <p:sp>
        <p:nvSpPr>
          <p:cNvPr id="4" name="">
            <a:extLst xmlns:a="http://schemas.openxmlformats.org/drawingml/2006/main">
              <a:ext uri="{FF2B5EF4-FFF2-40B4-BE49-F238E27FC236}">
                <a16:creationId xmlns:a16="http://schemas.microsoft.com/office/drawing/2014/main" id="{91EC7F61-77B9-413C-87BF-05179103F8FF}"/>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Tehniskais pamats ir strādājošs prototips, ne tikai ideja</a:t>
            </a:r>
          </a:p>
        </p:txBody>
      </p:sp>
      <p:sp>
        <p:nvSpPr>
          <p:cNvPr id="5" name="">
            <a:extLst xmlns:a="http://schemas.openxmlformats.org/drawingml/2006/main">
              <a:ext uri="{FF2B5EF4-FFF2-40B4-BE49-F238E27FC236}">
                <a16:creationId xmlns:a16="http://schemas.microsoft.com/office/drawing/2014/main" id="{EC31F787-41CE-4695-82F8-E614793BF3D7}"/>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5AF6EE-309C-4689-BA18-91558AE2DA4A}"/>
              </a:ext>
            </a:extLst>
          </p:cNvPr>
          <p:cNvSpPr>
            <a:spLocks xmlns:a="http://schemas.openxmlformats.org/drawingml/2006/main" noGrp="1"/>
          </p:cNvSpPr>
          <p:nvPr/>
        </p:nvSpPr>
        <p:spPr>
          <a:xfrm xmlns:a="http://schemas.openxmlformats.org/drawingml/2006/main">
            <a:off x="590550" y="2057400"/>
            <a:ext cx="2457450" cy="3076575"/>
          </a:xfrm>
          <a:prstGeom xmlns:a="http://schemas.openxmlformats.org/drawingml/2006/main" prst="roundRect">
            <a:avLst>
              <a:gd name="adj" fmla="val 5814"/>
            </a:avLst>
          </a:prstGeom>
          <a:solidFill xmlns:a="http://schemas.openxmlformats.org/drawingml/2006/main">
            <a:srgbClr val="F1F5F9"/>
          </a:solidFill>
          <a:ln xmlns:a="http://schemas.openxmlformats.org/drawingml/2006/main" w="9525">
            <a:solidFill>
              <a:srgbClr val="C7D7E2"/>
            </a:solidFill>
            <a:prstDash val="solid"/>
          </a:ln>
        </p:spPr>
      </p:sp>
      <p:sp>
        <p:nvSpPr>
          <p:cNvPr id="7" name="">
            <a:extLst xmlns:a="http://schemas.openxmlformats.org/drawingml/2006/main">
              <a:ext uri="{FF2B5EF4-FFF2-40B4-BE49-F238E27FC236}">
                <a16:creationId xmlns:a16="http://schemas.microsoft.com/office/drawing/2014/main" id="{4A2471FB-29F8-4D11-909E-1AA88795D5FD}"/>
              </a:ext>
            </a:extLst>
          </p:cNvPr>
          <p:cNvSpPr>
            <a:spLocks xmlns:a="http://schemas.openxmlformats.org/drawingml/2006/main" noGrp="1"/>
          </p:cNvSpPr>
          <p:nvPr/>
        </p:nvSpPr>
        <p:spPr>
          <a:xfrm xmlns:a="http://schemas.openxmlformats.org/drawingml/2006/main">
            <a:off x="762000" y="2209800"/>
            <a:ext cx="704850" cy="361950"/>
          </a:xfrm>
          <a:prstGeom xmlns:a="http://schemas.openxmlformats.org/drawingml/2006/main" prst="roundRect">
            <a:avLst>
              <a:gd name="adj" fmla="val 26316"/>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M1</a:t>
            </a:r>
          </a:p>
        </p:txBody>
      </p:sp>
      <p:sp>
        <p:nvSpPr>
          <p:cNvPr id="8" name="">
            <a:extLst xmlns:a="http://schemas.openxmlformats.org/drawingml/2006/main">
              <a:ext uri="{FF2B5EF4-FFF2-40B4-BE49-F238E27FC236}">
                <a16:creationId xmlns:a16="http://schemas.microsoft.com/office/drawing/2014/main" id="{FB91BFFC-D06E-4172-A8D3-F82C09A9DA43}"/>
              </a:ext>
            </a:extLst>
          </p:cNvPr>
          <p:cNvSpPr>
            <a:spLocks xmlns:a="http://schemas.openxmlformats.org/drawingml/2006/main" noGrp="1"/>
          </p:cNvSpPr>
          <p:nvPr/>
        </p:nvSpPr>
        <p:spPr>
          <a:xfrm xmlns:a="http://schemas.openxmlformats.org/drawingml/2006/main">
            <a:off x="762000" y="28003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Datu imports</a:t>
            </a:r>
          </a:p>
        </p:txBody>
      </p:sp>
      <p:sp>
        <p:nvSpPr>
          <p:cNvPr id="9" name="">
            <a:extLst xmlns:a="http://schemas.openxmlformats.org/drawingml/2006/main">
              <a:ext uri="{FF2B5EF4-FFF2-40B4-BE49-F238E27FC236}">
                <a16:creationId xmlns:a16="http://schemas.microsoft.com/office/drawing/2014/main" id="{4C2B74E4-2D2B-4635-B1BA-B68A2031A41B}"/>
              </a:ext>
            </a:extLst>
          </p:cNvPr>
          <p:cNvSpPr>
            <a:spLocks xmlns:a="http://schemas.openxmlformats.org/drawingml/2006/main" noGrp="1"/>
          </p:cNvSpPr>
          <p:nvPr/>
        </p:nvSpPr>
        <p:spPr>
          <a:xfrm xmlns:a="http://schemas.openxmlformats.org/drawingml/2006/main">
            <a:off x="762000" y="3562350"/>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CSV/XLSX • kartēšana</a:t>
            </a:r>
          </a:p>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normalizācija • validācija</a:t>
            </a:r>
          </a:p>
        </p:txBody>
      </p:sp>
      <p:sp>
        <p:nvSpPr>
          <p:cNvPr id="10" name="">
            <a:extLst xmlns:a="http://schemas.openxmlformats.org/drawingml/2006/main">
              <a:ext uri="{FF2B5EF4-FFF2-40B4-BE49-F238E27FC236}">
                <a16:creationId xmlns:a16="http://schemas.microsoft.com/office/drawing/2014/main" id="{FB402F1D-B9A2-4AB9-AA07-A64ADEDEFB22}"/>
              </a:ext>
            </a:extLst>
          </p:cNvPr>
          <p:cNvSpPr>
            <a:spLocks xmlns:a="http://schemas.openxmlformats.org/drawingml/2006/main" noGrp="1"/>
          </p:cNvSpPr>
          <p:nvPr/>
        </p:nvSpPr>
        <p:spPr>
          <a:xfrm xmlns:a="http://schemas.openxmlformats.org/drawingml/2006/main">
            <a:off x="762000"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2456"/>
          </a:bodyPr>
          <a:lstStyle xmlns:a="http://schemas.openxmlformats.org/drawingml/2006/main"/>
          <a:p xmlns:a="http://schemas.openxmlformats.org/drawingml/2006/main">
            <a:pPr algn="l">
              <a:lnSpc>
                <a:spcPct val="104000"/>
              </a:lnSpc>
              <a:buNone/>
              <a:defRPr sz="975" b="1">
                <a:solidFill>
                  <a:srgbClr val="0EA5A4"/>
                </a:solidFill>
                <a:latin typeface="Helvetica Neue"/>
                <a:ea typeface="Helvetica Neue"/>
                <a:cs typeface="Helvetica Neue"/>
              </a:defRPr>
            </a:pPr>
            <a:r>
              <a:rPr sz="975" b="1">
                <a:solidFill>
                  <a:srgbClr val="0EA5A4"/>
                </a:solidFill>
                <a:latin typeface="Helvetica Neue"/>
                <a:ea typeface="Helvetica Neue"/>
                <a:cs typeface="Helvetica Neue"/>
              </a:rPr>
              <a:t>REALIZĒTS</a:t>
            </a:r>
          </a:p>
        </p:txBody>
      </p:sp>
      <p:sp>
        <p:nvSpPr>
          <p:cNvPr id="11" name="">
            <a:extLst xmlns:a="http://schemas.openxmlformats.org/drawingml/2006/main">
              <a:ext uri="{FF2B5EF4-FFF2-40B4-BE49-F238E27FC236}">
                <a16:creationId xmlns:a16="http://schemas.microsoft.com/office/drawing/2014/main" id="{FADAAD95-9791-4F3B-AEAA-4140BC3878C6}"/>
              </a:ext>
            </a:extLst>
          </p:cNvPr>
          <p:cNvSpPr>
            <a:spLocks xmlns:a="http://schemas.openxmlformats.org/drawingml/2006/main" noGrp="1"/>
          </p:cNvSpPr>
          <p:nvPr/>
        </p:nvSpPr>
        <p:spPr>
          <a:xfrm xmlns:a="http://schemas.openxmlformats.org/drawingml/2006/main">
            <a:off x="3362325" y="2057400"/>
            <a:ext cx="2457450" cy="3076575"/>
          </a:xfrm>
          <a:prstGeom xmlns:a="http://schemas.openxmlformats.org/drawingml/2006/main" prst="roundRect">
            <a:avLst>
              <a:gd name="adj" fmla="val 5814"/>
            </a:avLst>
          </a:prstGeom>
          <a:solidFill xmlns:a="http://schemas.openxmlformats.org/drawingml/2006/main">
            <a:srgbClr val="F1F5F9"/>
          </a:solidFill>
          <a:ln xmlns:a="http://schemas.openxmlformats.org/drawingml/2006/main" w="9525">
            <a:solidFill>
              <a:srgbClr val="C7D7E2"/>
            </a:solidFill>
            <a:prstDash val="solid"/>
          </a:ln>
        </p:spPr>
      </p:sp>
      <p:sp>
        <p:nvSpPr>
          <p:cNvPr id="12" name="">
            <a:extLst xmlns:a="http://schemas.openxmlformats.org/drawingml/2006/main">
              <a:ext uri="{FF2B5EF4-FFF2-40B4-BE49-F238E27FC236}">
                <a16:creationId xmlns:a16="http://schemas.microsoft.com/office/drawing/2014/main" id="{EB7A7DCE-8175-46EA-810F-D1486837C0CB}"/>
              </a:ext>
            </a:extLst>
          </p:cNvPr>
          <p:cNvSpPr>
            <a:spLocks xmlns:a="http://schemas.openxmlformats.org/drawingml/2006/main" noGrp="1"/>
          </p:cNvSpPr>
          <p:nvPr/>
        </p:nvSpPr>
        <p:spPr>
          <a:xfrm xmlns:a="http://schemas.openxmlformats.org/drawingml/2006/main">
            <a:off x="3533775" y="2209800"/>
            <a:ext cx="704850" cy="361950"/>
          </a:xfrm>
          <a:prstGeom xmlns:a="http://schemas.openxmlformats.org/drawingml/2006/main" prst="roundRect">
            <a:avLst>
              <a:gd name="adj" fmla="val 26316"/>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M2</a:t>
            </a:r>
          </a:p>
        </p:txBody>
      </p:sp>
      <p:sp>
        <p:nvSpPr>
          <p:cNvPr id="13" name="">
            <a:extLst xmlns:a="http://schemas.openxmlformats.org/drawingml/2006/main">
              <a:ext uri="{FF2B5EF4-FFF2-40B4-BE49-F238E27FC236}">
                <a16:creationId xmlns:a16="http://schemas.microsoft.com/office/drawing/2014/main" id="{53BA38D5-413F-4400-872C-9DFCE4EA4352}"/>
              </a:ext>
            </a:extLst>
          </p:cNvPr>
          <p:cNvSpPr>
            <a:spLocks xmlns:a="http://schemas.openxmlformats.org/drawingml/2006/main" noGrp="1"/>
          </p:cNvSpPr>
          <p:nvPr/>
        </p:nvSpPr>
        <p:spPr>
          <a:xfrm xmlns:a="http://schemas.openxmlformats.org/drawingml/2006/main">
            <a:off x="3533775" y="28003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2827"/>
          </a:bodyPr>
          <a:lstStyle xmlns:a="http://schemas.openxmlformats.org/drawingml/2006/main"/>
          <a:p xmlns:a="http://schemas.openxmlformats.org/drawingml/2006/main">
            <a:pPr algn="l">
              <a:lnSpc>
                <a:spcPct val="104000"/>
              </a:lnSpc>
              <a:buNone/>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Review un kvalitāte</a:t>
            </a:r>
          </a:p>
        </p:txBody>
      </p:sp>
      <p:sp>
        <p:nvSpPr>
          <p:cNvPr id="14" name="">
            <a:extLst xmlns:a="http://schemas.openxmlformats.org/drawingml/2006/main">
              <a:ext uri="{FF2B5EF4-FFF2-40B4-BE49-F238E27FC236}">
                <a16:creationId xmlns:a16="http://schemas.microsoft.com/office/drawing/2014/main" id="{3020A9FE-7BDE-4253-AD7D-45E4A93DDAD3}"/>
              </a:ext>
            </a:extLst>
          </p:cNvPr>
          <p:cNvSpPr>
            <a:spLocks xmlns:a="http://schemas.openxmlformats.org/drawingml/2006/main" noGrp="1"/>
          </p:cNvSpPr>
          <p:nvPr/>
        </p:nvSpPr>
        <p:spPr>
          <a:xfrm xmlns:a="http://schemas.openxmlformats.org/drawingml/2006/main">
            <a:off x="3533775" y="3562350"/>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korekcijas • revalidācija</a:t>
            </a:r>
          </a:p>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learned mappings • audit trail</a:t>
            </a:r>
          </a:p>
        </p:txBody>
      </p:sp>
      <p:sp>
        <p:nvSpPr>
          <p:cNvPr id="15" name="">
            <a:extLst xmlns:a="http://schemas.openxmlformats.org/drawingml/2006/main">
              <a:ext uri="{FF2B5EF4-FFF2-40B4-BE49-F238E27FC236}">
                <a16:creationId xmlns:a16="http://schemas.microsoft.com/office/drawing/2014/main" id="{A42C1561-D66A-4534-AD0D-796CEFCB3008}"/>
              </a:ext>
            </a:extLst>
          </p:cNvPr>
          <p:cNvSpPr>
            <a:spLocks xmlns:a="http://schemas.openxmlformats.org/drawingml/2006/main" noGrp="1"/>
          </p:cNvSpPr>
          <p:nvPr/>
        </p:nvSpPr>
        <p:spPr>
          <a:xfrm xmlns:a="http://schemas.openxmlformats.org/drawingml/2006/main">
            <a:off x="3533775"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2456"/>
          </a:bodyPr>
          <a:lstStyle xmlns:a="http://schemas.openxmlformats.org/drawingml/2006/main"/>
          <a:p xmlns:a="http://schemas.openxmlformats.org/drawingml/2006/main">
            <a:pPr algn="l">
              <a:lnSpc>
                <a:spcPct val="104000"/>
              </a:lnSpc>
              <a:buNone/>
              <a:defRPr sz="975" b="1">
                <a:solidFill>
                  <a:srgbClr val="0EA5A4"/>
                </a:solidFill>
                <a:latin typeface="Helvetica Neue"/>
                <a:ea typeface="Helvetica Neue"/>
                <a:cs typeface="Helvetica Neue"/>
              </a:defRPr>
            </a:pPr>
            <a:r>
              <a:rPr sz="975" b="1">
                <a:solidFill>
                  <a:srgbClr val="0EA5A4"/>
                </a:solidFill>
                <a:latin typeface="Helvetica Neue"/>
                <a:ea typeface="Helvetica Neue"/>
                <a:cs typeface="Helvetica Neue"/>
              </a:rPr>
              <a:t>REALIZĒTS</a:t>
            </a:r>
          </a:p>
        </p:txBody>
      </p:sp>
      <p:sp>
        <p:nvSpPr>
          <p:cNvPr id="16" name="">
            <a:extLst xmlns:a="http://schemas.openxmlformats.org/drawingml/2006/main">
              <a:ext uri="{FF2B5EF4-FFF2-40B4-BE49-F238E27FC236}">
                <a16:creationId xmlns:a16="http://schemas.microsoft.com/office/drawing/2014/main" id="{0F29F081-7F71-4EFE-801D-98B465972531}"/>
              </a:ext>
            </a:extLst>
          </p:cNvPr>
          <p:cNvSpPr>
            <a:spLocks xmlns:a="http://schemas.openxmlformats.org/drawingml/2006/main" noGrp="1"/>
          </p:cNvSpPr>
          <p:nvPr/>
        </p:nvSpPr>
        <p:spPr>
          <a:xfrm xmlns:a="http://schemas.openxmlformats.org/drawingml/2006/main">
            <a:off x="6134100" y="2057400"/>
            <a:ext cx="2457450" cy="3076575"/>
          </a:xfrm>
          <a:prstGeom xmlns:a="http://schemas.openxmlformats.org/drawingml/2006/main" prst="roundRect">
            <a:avLst>
              <a:gd name="adj" fmla="val 5814"/>
            </a:avLst>
          </a:prstGeom>
          <a:solidFill xmlns:a="http://schemas.openxmlformats.org/drawingml/2006/main">
            <a:srgbClr val="F1F5F9"/>
          </a:solidFill>
          <a:ln xmlns:a="http://schemas.openxmlformats.org/drawingml/2006/main" w="9525">
            <a:solidFill>
              <a:srgbClr val="C7D7E2"/>
            </a:solidFill>
            <a:prstDash val="solid"/>
          </a:ln>
        </p:spPr>
      </p:sp>
      <p:sp>
        <p:nvSpPr>
          <p:cNvPr id="17" name="">
            <a:extLst xmlns:a="http://schemas.openxmlformats.org/drawingml/2006/main">
              <a:ext uri="{FF2B5EF4-FFF2-40B4-BE49-F238E27FC236}">
                <a16:creationId xmlns:a16="http://schemas.microsoft.com/office/drawing/2014/main" id="{F4B782B4-962B-4D03-8638-B25CB46BA5FD}"/>
              </a:ext>
            </a:extLst>
          </p:cNvPr>
          <p:cNvSpPr>
            <a:spLocks xmlns:a="http://schemas.openxmlformats.org/drawingml/2006/main" noGrp="1"/>
          </p:cNvSpPr>
          <p:nvPr/>
        </p:nvSpPr>
        <p:spPr>
          <a:xfrm xmlns:a="http://schemas.openxmlformats.org/drawingml/2006/main">
            <a:off x="6305550" y="2209800"/>
            <a:ext cx="704850" cy="361950"/>
          </a:xfrm>
          <a:prstGeom xmlns:a="http://schemas.openxmlformats.org/drawingml/2006/main" prst="roundRect">
            <a:avLst>
              <a:gd name="adj" fmla="val 26316"/>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M3</a:t>
            </a:r>
          </a:p>
        </p:txBody>
      </p:sp>
      <p:sp>
        <p:nvSpPr>
          <p:cNvPr id="18" name="">
            <a:extLst xmlns:a="http://schemas.openxmlformats.org/drawingml/2006/main">
              <a:ext uri="{FF2B5EF4-FFF2-40B4-BE49-F238E27FC236}">
                <a16:creationId xmlns:a16="http://schemas.microsoft.com/office/drawing/2014/main" id="{6A5AE263-D389-424C-ABFB-25A9EBEC4157}"/>
              </a:ext>
            </a:extLst>
          </p:cNvPr>
          <p:cNvSpPr>
            <a:spLocks xmlns:a="http://schemas.openxmlformats.org/drawingml/2006/main" noGrp="1"/>
          </p:cNvSpPr>
          <p:nvPr/>
        </p:nvSpPr>
        <p:spPr>
          <a:xfrm xmlns:a="http://schemas.openxmlformats.org/drawingml/2006/main">
            <a:off x="6305550" y="28003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0144"/>
          </a:bodyPr>
          <a:lstStyle xmlns:a="http://schemas.openxmlformats.org/drawingml/2006/main"/>
          <a:p xmlns:a="http://schemas.openxmlformats.org/drawingml/2006/main">
            <a:pPr algn="l">
              <a:lnSpc>
                <a:spcPct val="104000"/>
              </a:lnSpc>
              <a:buNone/>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Dokumentu inteliģence</a:t>
            </a:r>
          </a:p>
        </p:txBody>
      </p:sp>
      <p:sp>
        <p:nvSpPr>
          <p:cNvPr id="19" name="">
            <a:extLst xmlns:a="http://schemas.openxmlformats.org/drawingml/2006/main">
              <a:ext uri="{FF2B5EF4-FFF2-40B4-BE49-F238E27FC236}">
                <a16:creationId xmlns:a16="http://schemas.microsoft.com/office/drawing/2014/main" id="{31DA56F3-046B-43A7-91E9-D8A12D495CA9}"/>
              </a:ext>
            </a:extLst>
          </p:cNvPr>
          <p:cNvSpPr>
            <a:spLocks xmlns:a="http://schemas.openxmlformats.org/drawingml/2006/main" noGrp="1"/>
          </p:cNvSpPr>
          <p:nvPr/>
        </p:nvSpPr>
        <p:spPr>
          <a:xfrm xmlns:a="http://schemas.openxmlformats.org/drawingml/2006/main">
            <a:off x="6305550" y="3562350"/>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Invoice + B/L • evidence</a:t>
            </a:r>
          </a:p>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confidence • approval • provenance</a:t>
            </a:r>
          </a:p>
        </p:txBody>
      </p:sp>
      <p:sp>
        <p:nvSpPr>
          <p:cNvPr id="20" name="">
            <a:extLst xmlns:a="http://schemas.openxmlformats.org/drawingml/2006/main">
              <a:ext uri="{FF2B5EF4-FFF2-40B4-BE49-F238E27FC236}">
                <a16:creationId xmlns:a16="http://schemas.microsoft.com/office/drawing/2014/main" id="{177B55BC-EB31-457D-B3D3-28F11308BDE7}"/>
              </a:ext>
            </a:extLst>
          </p:cNvPr>
          <p:cNvSpPr>
            <a:spLocks xmlns:a="http://schemas.openxmlformats.org/drawingml/2006/main" noGrp="1"/>
          </p:cNvSpPr>
          <p:nvPr/>
        </p:nvSpPr>
        <p:spPr>
          <a:xfrm xmlns:a="http://schemas.openxmlformats.org/drawingml/2006/main">
            <a:off x="6305550"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2456"/>
          </a:bodyPr>
          <a:lstStyle xmlns:a="http://schemas.openxmlformats.org/drawingml/2006/main"/>
          <a:p xmlns:a="http://schemas.openxmlformats.org/drawingml/2006/main">
            <a:pPr algn="l">
              <a:lnSpc>
                <a:spcPct val="104000"/>
              </a:lnSpc>
              <a:buNone/>
              <a:defRPr sz="975" b="1">
                <a:solidFill>
                  <a:srgbClr val="0EA5A4"/>
                </a:solidFill>
                <a:latin typeface="Helvetica Neue"/>
                <a:ea typeface="Helvetica Neue"/>
                <a:cs typeface="Helvetica Neue"/>
              </a:defRPr>
            </a:pPr>
            <a:r>
              <a:rPr sz="975" b="1">
                <a:solidFill>
                  <a:srgbClr val="0EA5A4"/>
                </a:solidFill>
                <a:latin typeface="Helvetica Neue"/>
                <a:ea typeface="Helvetica Neue"/>
                <a:cs typeface="Helvetica Neue"/>
              </a:rPr>
              <a:t>REALIZĒTS</a:t>
            </a:r>
          </a:p>
        </p:txBody>
      </p:sp>
      <p:sp>
        <p:nvSpPr>
          <p:cNvPr id="21" name="">
            <a:extLst xmlns:a="http://schemas.openxmlformats.org/drawingml/2006/main">
              <a:ext uri="{FF2B5EF4-FFF2-40B4-BE49-F238E27FC236}">
                <a16:creationId xmlns:a16="http://schemas.microsoft.com/office/drawing/2014/main" id="{952347FA-6E2A-430E-909A-64E28282BBAF}"/>
              </a:ext>
            </a:extLst>
          </p:cNvPr>
          <p:cNvSpPr>
            <a:spLocks xmlns:a="http://schemas.openxmlformats.org/drawingml/2006/main" noGrp="1"/>
          </p:cNvSpPr>
          <p:nvPr/>
        </p:nvSpPr>
        <p:spPr>
          <a:xfrm xmlns:a="http://schemas.openxmlformats.org/drawingml/2006/main">
            <a:off x="8905875" y="2057400"/>
            <a:ext cx="2457450" cy="3076575"/>
          </a:xfrm>
          <a:prstGeom xmlns:a="http://schemas.openxmlformats.org/drawingml/2006/main" prst="roundRect">
            <a:avLst>
              <a:gd name="adj" fmla="val 5814"/>
            </a:avLst>
          </a:prstGeom>
          <a:solidFill xmlns:a="http://schemas.openxmlformats.org/drawingml/2006/main">
            <a:srgbClr val="071525"/>
          </a:solidFill>
          <a:ln xmlns:a="http://schemas.openxmlformats.org/drawingml/2006/main" w="9525">
            <a:solidFill>
              <a:srgbClr val="071525"/>
            </a:solidFill>
            <a:prstDash val="solid"/>
          </a:ln>
        </p:spPr>
      </p:sp>
      <p:sp>
        <p:nvSpPr>
          <p:cNvPr id="22" name="">
            <a:extLst xmlns:a="http://schemas.openxmlformats.org/drawingml/2006/main">
              <a:ext uri="{FF2B5EF4-FFF2-40B4-BE49-F238E27FC236}">
                <a16:creationId xmlns:a16="http://schemas.microsoft.com/office/drawing/2014/main" id="{2B793C38-53FA-4C15-93AF-6B98F9BB739E}"/>
              </a:ext>
            </a:extLst>
          </p:cNvPr>
          <p:cNvSpPr>
            <a:spLocks xmlns:a="http://schemas.openxmlformats.org/drawingml/2006/main" noGrp="1"/>
          </p:cNvSpPr>
          <p:nvPr/>
        </p:nvSpPr>
        <p:spPr>
          <a:xfrm xmlns:a="http://schemas.openxmlformats.org/drawingml/2006/main">
            <a:off x="9077325" y="2209800"/>
            <a:ext cx="704850" cy="361950"/>
          </a:xfrm>
          <a:prstGeom xmlns:a="http://schemas.openxmlformats.org/drawingml/2006/main" prst="roundRect">
            <a:avLst>
              <a:gd name="adj" fmla="val 26316"/>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71525"/>
                </a:solidFill>
                <a:latin typeface="Helvetica Neue"/>
                <a:ea typeface="Helvetica Neue"/>
                <a:cs typeface="Helvetica Neue"/>
              </a:defRPr>
            </a:pPr>
            <a:r>
              <a:rPr sz="1350" b="1">
                <a:solidFill>
                  <a:srgbClr val="071525"/>
                </a:solidFill>
                <a:latin typeface="Helvetica Neue"/>
                <a:ea typeface="Helvetica Neue"/>
                <a:cs typeface="Helvetica Neue"/>
              </a:rPr>
              <a:t>M4A</a:t>
            </a:r>
          </a:p>
        </p:txBody>
      </p:sp>
      <p:sp>
        <p:nvSpPr>
          <p:cNvPr id="23" name="">
            <a:extLst xmlns:a="http://schemas.openxmlformats.org/drawingml/2006/main">
              <a:ext uri="{FF2B5EF4-FFF2-40B4-BE49-F238E27FC236}">
                <a16:creationId xmlns:a16="http://schemas.microsoft.com/office/drawing/2014/main" id="{BD25EB82-A4A4-4281-AB64-7C2D92D60454}"/>
              </a:ext>
            </a:extLst>
          </p:cNvPr>
          <p:cNvSpPr>
            <a:spLocks xmlns:a="http://schemas.openxmlformats.org/drawingml/2006/main" noGrp="1"/>
          </p:cNvSpPr>
          <p:nvPr/>
        </p:nvSpPr>
        <p:spPr>
          <a:xfrm xmlns:a="http://schemas.openxmlformats.org/drawingml/2006/main">
            <a:off x="9077325" y="28003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0144"/>
          </a:bodyPr>
          <a:lstStyle xmlns:a="http://schemas.openxmlformats.org/drawingml/2006/main"/>
          <a:p xmlns:a="http://schemas.openxmlformats.org/drawingml/2006/main">
            <a:pPr algn="l">
              <a:lnSpc>
                <a:spcPct val="104000"/>
              </a:lnSpc>
              <a:buNone/>
              <a:defRPr sz="1800" b="1">
                <a:solidFill>
                  <a:srgbClr val="F8FAFC"/>
                </a:solidFill>
                <a:latin typeface="Helvetica Neue"/>
                <a:ea typeface="Helvetica Neue"/>
                <a:cs typeface="Helvetica Neue"/>
              </a:defRPr>
            </a:pPr>
            <a:r>
              <a:rPr sz="1800" b="1">
                <a:solidFill>
                  <a:srgbClr val="F8FAFC"/>
                </a:solidFill>
                <a:latin typeface="Helvetica Neue"/>
                <a:ea typeface="Helvetica Neue"/>
                <a:cs typeface="Helvetica Neue"/>
              </a:rPr>
              <a:t>Deterministiska analītika</a:t>
            </a:r>
          </a:p>
        </p:txBody>
      </p:sp>
      <p:sp>
        <p:nvSpPr>
          <p:cNvPr id="24" name="">
            <a:extLst xmlns:a="http://schemas.openxmlformats.org/drawingml/2006/main">
              <a:ext uri="{FF2B5EF4-FFF2-40B4-BE49-F238E27FC236}">
                <a16:creationId xmlns:a16="http://schemas.microsoft.com/office/drawing/2014/main" id="{0DD60436-BE3A-4C4A-95F9-B71AB3BDA9E5}"/>
              </a:ext>
            </a:extLst>
          </p:cNvPr>
          <p:cNvSpPr>
            <a:spLocks xmlns:a="http://schemas.openxmlformats.org/drawingml/2006/main" noGrp="1"/>
          </p:cNvSpPr>
          <p:nvPr/>
        </p:nvSpPr>
        <p:spPr>
          <a:xfrm xmlns:a="http://schemas.openxmlformats.org/drawingml/2006/main">
            <a:off x="9077325" y="3562350"/>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5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KPI • trendi • breakdowns</a:t>
            </a:r>
          </a:p>
          <a:p xmlns:a="http://schemas.openxmlformats.org/drawingml/2006/main">
            <a:pPr algn="l">
              <a:lnSpc>
                <a:spcPct val="115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insights • drill-down</a:t>
            </a:r>
          </a:p>
        </p:txBody>
      </p:sp>
      <p:sp>
        <p:nvSpPr>
          <p:cNvPr id="25" name="">
            <a:extLst xmlns:a="http://schemas.openxmlformats.org/drawingml/2006/main">
              <a:ext uri="{FF2B5EF4-FFF2-40B4-BE49-F238E27FC236}">
                <a16:creationId xmlns:a16="http://schemas.microsoft.com/office/drawing/2014/main" id="{712614F1-D6A9-4F9B-8AF7-96EBFE3F612E}"/>
              </a:ext>
            </a:extLst>
          </p:cNvPr>
          <p:cNvSpPr>
            <a:spLocks xmlns:a="http://schemas.openxmlformats.org/drawingml/2006/main" noGrp="1"/>
          </p:cNvSpPr>
          <p:nvPr/>
        </p:nvSpPr>
        <p:spPr>
          <a:xfrm xmlns:a="http://schemas.openxmlformats.org/drawingml/2006/main">
            <a:off x="9077325"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2456"/>
          </a:bodyPr>
          <a:lstStyle xmlns:a="http://schemas.openxmlformats.org/drawingml/2006/main"/>
          <a:p xmlns:a="http://schemas.openxmlformats.org/drawingml/2006/main">
            <a:pPr algn="l">
              <a:lnSpc>
                <a:spcPct val="104000"/>
              </a:lnSpc>
              <a:buNone/>
              <a:defRPr sz="975" b="1">
                <a:solidFill>
                  <a:srgbClr val="38BDF8"/>
                </a:solidFill>
                <a:latin typeface="Helvetica Neue"/>
                <a:ea typeface="Helvetica Neue"/>
                <a:cs typeface="Helvetica Neue"/>
              </a:defRPr>
            </a:pPr>
            <a:r>
              <a:rPr sz="975" b="1">
                <a:solidFill>
                  <a:srgbClr val="38BDF8"/>
                </a:solidFill>
                <a:latin typeface="Helvetica Neue"/>
                <a:ea typeface="Helvetica Neue"/>
                <a:cs typeface="Helvetica Neue"/>
              </a:rPr>
              <a:t>REALIZĒTS</a:t>
            </a:r>
          </a:p>
        </p:txBody>
      </p:sp>
      <p:sp>
        <p:nvSpPr>
          <p:cNvPr id="26" name="">
            <a:extLst xmlns:a="http://schemas.openxmlformats.org/drawingml/2006/main">
              <a:ext uri="{FF2B5EF4-FFF2-40B4-BE49-F238E27FC236}">
                <a16:creationId xmlns:a16="http://schemas.microsoft.com/office/drawing/2014/main" id="{AC5E8FDD-C583-45B7-93FF-348B928E8348}"/>
              </a:ext>
            </a:extLst>
          </p:cNvPr>
          <p:cNvSpPr>
            <a:spLocks xmlns:a="http://schemas.openxmlformats.org/drawingml/2006/main" noGrp="1"/>
          </p:cNvSpPr>
          <p:nvPr/>
        </p:nvSpPr>
        <p:spPr>
          <a:xfrm xmlns:a="http://schemas.openxmlformats.org/drawingml/2006/main">
            <a:off x="600075" y="54768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144"/>
          </a:bodyPr>
          <a:lstStyle xmlns:a="http://schemas.openxmlformats.org/drawingml/2006/main"/>
          <a:p xmlns:a="http://schemas.openxmlformats.org/drawingml/2006/main">
            <a:pPr algn="l">
              <a:lnSpc>
                <a:spcPct val="104000"/>
              </a:lnSpc>
              <a:buNone/>
              <a:defRPr sz="1200" b="1">
                <a:solidFill>
                  <a:srgbClr val="123A63"/>
                </a:solidFill>
                <a:latin typeface="Helvetica Neue"/>
                <a:ea typeface="Helvetica Neue"/>
                <a:cs typeface="Helvetica Neue"/>
              </a:defRPr>
            </a:pPr>
            <a:r>
              <a:rPr sz="1200" b="1">
                <a:solidFill>
                  <a:srgbClr val="123A63"/>
                </a:solidFill>
                <a:latin typeface="Helvetica Neue"/>
                <a:ea typeface="Helvetica Neue"/>
                <a:cs typeface="Helvetica Neue"/>
              </a:rPr>
              <a:t>Pašreizējā robeža</a:t>
            </a:r>
          </a:p>
        </p:txBody>
      </p:sp>
      <p:sp>
        <p:nvSpPr>
          <p:cNvPr id="27" name="">
            <a:extLst xmlns:a="http://schemas.openxmlformats.org/drawingml/2006/main">
              <a:ext uri="{FF2B5EF4-FFF2-40B4-BE49-F238E27FC236}">
                <a16:creationId xmlns:a16="http://schemas.microsoft.com/office/drawing/2014/main" id="{6E2B0B25-ECDE-442B-A25A-54B2B4F045D7}"/>
              </a:ext>
            </a:extLst>
          </p:cNvPr>
          <p:cNvSpPr>
            <a:spLocks xmlns:a="http://schemas.openxmlformats.org/drawingml/2006/main" noGrp="1"/>
          </p:cNvSpPr>
          <p:nvPr/>
        </p:nvSpPr>
        <p:spPr>
          <a:xfrm xmlns:a="http://schemas.openxmlformats.org/drawingml/2006/main">
            <a:off x="2486025" y="5381625"/>
            <a:ext cx="86963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8563"/>
          </a:bodyPr>
          <a:lstStyle xmlns:a="http://schemas.openxmlformats.org/drawingml/2006/main"/>
          <a:p xmlns:a="http://schemas.openxmlformats.org/drawingml/2006/main">
            <a:pPr algn="l">
              <a:lnSpc>
                <a:spcPct val="104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Strādā ar sintētiskiem demonstrācijas datiem; produkcijas autentifikācija, OCR adapters un plašās integrācijas nav pabeigtas.</a:t>
            </a:r>
          </a:p>
        </p:txBody>
      </p:sp>
      <p:sp>
        <p:nvSpPr>
          <p:cNvPr id="28" name="">
            <a:extLst xmlns:a="http://schemas.openxmlformats.org/drawingml/2006/main">
              <a:ext uri="{FF2B5EF4-FFF2-40B4-BE49-F238E27FC236}">
                <a16:creationId xmlns:a16="http://schemas.microsoft.com/office/drawing/2014/main" id="{AC4A1F84-E272-47DD-A153-5DD2B9E1EE6D}"/>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Avots: repozitorija README un moduļu dokumentācija</a:t>
            </a:r>
          </a:p>
        </p:txBody>
      </p:sp>
    </p:spTree>
    <p:extLst>
      <p:ext uri="{BB962C8B-B14F-4D97-AF65-F5344CB8AC3E}">
        <p14:creationId xmlns:p14="http://schemas.microsoft.com/office/powerpoint/2010/main" val="15280593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046CF86-CD50-46B2-8B0F-0ED47A27D76B}"/>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500CAC00-5BC8-412F-8C5A-AEF78703E912}"/>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FD07887-5103-4903-896A-2F6812F318B4}"/>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Uzticamība nozīmē apstāties, kad dati nav droši</a:t>
            </a:r>
          </a:p>
        </p:txBody>
      </p:sp>
      <p:sp>
        <p:nvSpPr>
          <p:cNvPr id="4" name="">
            <a:extLst xmlns:a="http://schemas.openxmlformats.org/drawingml/2006/main">
              <a:ext uri="{FF2B5EF4-FFF2-40B4-BE49-F238E27FC236}">
                <a16:creationId xmlns:a16="http://schemas.microsoft.com/office/drawing/2014/main" id="{DFF198D5-2CA6-4C9E-BE2A-61BE2E20260C}"/>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Prototipa pārbaudīts princips: fail-closed review, nevis klusa kļūda datubāzē</a:t>
            </a:r>
          </a:p>
        </p:txBody>
      </p:sp>
      <p:sp>
        <p:nvSpPr>
          <p:cNvPr id="5" name="">
            <a:extLst xmlns:a="http://schemas.openxmlformats.org/drawingml/2006/main">
              <a:ext uri="{FF2B5EF4-FFF2-40B4-BE49-F238E27FC236}">
                <a16:creationId xmlns:a16="http://schemas.microsoft.com/office/drawing/2014/main" id="{D7512CD4-CB2F-4326-8C21-7015FC444191}"/>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031156D-C4D9-42CC-8F68-7A55225EF67D}"/>
              </a:ext>
            </a:extLst>
          </p:cNvPr>
          <p:cNvSpPr>
            <a:spLocks xmlns:a="http://schemas.openxmlformats.org/drawingml/2006/main" noGrp="1"/>
          </p:cNvSpPr>
          <p:nvPr/>
        </p:nvSpPr>
        <p:spPr>
          <a:xfrm xmlns:a="http://schemas.openxmlformats.org/drawingml/2006/main">
            <a:off x="714375" y="2228850"/>
            <a:ext cx="2381250" cy="723900"/>
          </a:xfrm>
          <a:prstGeom xmlns:a="http://schemas.openxmlformats.org/drawingml/2006/main" prst="roundRect">
            <a:avLst>
              <a:gd name="adj" fmla="val 18421"/>
            </a:avLst>
          </a:prstGeom>
          <a:solidFill xmlns:a="http://schemas.openxmlformats.org/drawingml/2006/main">
            <a:srgbClr val="EAF4FA"/>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875" b="1">
                <a:solidFill>
                  <a:srgbClr val="071525"/>
                </a:solidFill>
                <a:latin typeface="Helvetica Neue"/>
                <a:ea typeface="Helvetica Neue"/>
                <a:cs typeface="Helvetica Neue"/>
              </a:defRPr>
            </a:pPr>
            <a:r>
              <a:rPr sz="1875" b="1">
                <a:solidFill>
                  <a:srgbClr val="071525"/>
                </a:solidFill>
                <a:latin typeface="Helvetica Neue"/>
                <a:ea typeface="Helvetica Neue"/>
                <a:cs typeface="Helvetica Neue"/>
              </a:rPr>
              <a:t>NESKAIDRI DATI</a:t>
            </a:r>
          </a:p>
        </p:txBody>
      </p:sp>
      <p:sp>
        <p:nvSpPr>
          <p:cNvPr id="7" name="">
            <a:extLst xmlns:a="http://schemas.openxmlformats.org/drawingml/2006/main">
              <a:ext uri="{FF2B5EF4-FFF2-40B4-BE49-F238E27FC236}">
                <a16:creationId xmlns:a16="http://schemas.microsoft.com/office/drawing/2014/main" id="{06F00636-C300-4B28-8E0D-B603344B9496}"/>
              </a:ext>
            </a:extLst>
          </p:cNvPr>
          <p:cNvSpPr>
            <a:spLocks xmlns:a="http://schemas.openxmlformats.org/drawingml/2006/main" noGrp="1"/>
          </p:cNvSpPr>
          <p:nvPr/>
        </p:nvSpPr>
        <p:spPr>
          <a:xfrm xmlns:a="http://schemas.openxmlformats.org/drawingml/2006/main">
            <a:off x="3219450" y="2276475"/>
            <a:ext cx="66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3000" b="0">
                <a:solidFill>
                  <a:srgbClr val="38BDF8"/>
                </a:solidFill>
                <a:latin typeface="Helvetica Neue"/>
                <a:ea typeface="Helvetica Neue"/>
                <a:cs typeface="Helvetica Neue"/>
              </a:defRPr>
            </a:pPr>
            <a:r>
              <a:rPr sz="3000" b="0">
                <a:solidFill>
                  <a:srgbClr val="38BDF8"/>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22F4D054-9781-4D7D-A0A6-5625B85F9F3F}"/>
              </a:ext>
            </a:extLst>
          </p:cNvPr>
          <p:cNvSpPr>
            <a:spLocks xmlns:a="http://schemas.openxmlformats.org/drawingml/2006/main" noGrp="1"/>
          </p:cNvSpPr>
          <p:nvPr/>
        </p:nvSpPr>
        <p:spPr>
          <a:xfrm xmlns:a="http://schemas.openxmlformats.org/drawingml/2006/main">
            <a:off x="4019550" y="2228850"/>
            <a:ext cx="2571750" cy="723900"/>
          </a:xfrm>
          <a:prstGeom xmlns:a="http://schemas.openxmlformats.org/drawingml/2006/main" prst="roundRect">
            <a:avLst>
              <a:gd name="adj" fmla="val 18421"/>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875" b="1">
                <a:solidFill>
                  <a:srgbClr val="F8FAFC"/>
                </a:solidFill>
                <a:latin typeface="Helvetica Neue"/>
                <a:ea typeface="Helvetica Neue"/>
                <a:cs typeface="Helvetica Neue"/>
              </a:defRPr>
            </a:pPr>
            <a:r>
              <a:rPr sz="1875" b="1">
                <a:solidFill>
                  <a:srgbClr val="F8FAFC"/>
                </a:solidFill>
                <a:latin typeface="Helvetica Neue"/>
                <a:ea typeface="Helvetica Neue"/>
                <a:cs typeface="Helvetica Neue"/>
              </a:rPr>
              <a:t>CILVĒKA REVIEW</a:t>
            </a:r>
          </a:p>
        </p:txBody>
      </p:sp>
      <p:sp>
        <p:nvSpPr>
          <p:cNvPr id="9" name="">
            <a:extLst xmlns:a="http://schemas.openxmlformats.org/drawingml/2006/main">
              <a:ext uri="{FF2B5EF4-FFF2-40B4-BE49-F238E27FC236}">
                <a16:creationId xmlns:a16="http://schemas.microsoft.com/office/drawing/2014/main" id="{E51870F4-987A-442C-9463-904E0721E03D}"/>
              </a:ext>
            </a:extLst>
          </p:cNvPr>
          <p:cNvSpPr>
            <a:spLocks xmlns:a="http://schemas.openxmlformats.org/drawingml/2006/main" noGrp="1"/>
          </p:cNvSpPr>
          <p:nvPr/>
        </p:nvSpPr>
        <p:spPr>
          <a:xfrm xmlns:a="http://schemas.openxmlformats.org/drawingml/2006/main">
            <a:off x="6715125" y="2276475"/>
            <a:ext cx="66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3000" b="0">
                <a:solidFill>
                  <a:srgbClr val="38BDF8"/>
                </a:solidFill>
                <a:latin typeface="Helvetica Neue"/>
                <a:ea typeface="Helvetica Neue"/>
                <a:cs typeface="Helvetica Neue"/>
              </a:defRPr>
            </a:pPr>
            <a:r>
              <a:rPr sz="3000" b="0">
                <a:solidFill>
                  <a:srgbClr val="38BDF8"/>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55CF070D-FC16-4D34-9EA9-3498FE34867D}"/>
              </a:ext>
            </a:extLst>
          </p:cNvPr>
          <p:cNvSpPr>
            <a:spLocks xmlns:a="http://schemas.openxmlformats.org/drawingml/2006/main" noGrp="1"/>
          </p:cNvSpPr>
          <p:nvPr/>
        </p:nvSpPr>
        <p:spPr>
          <a:xfrm xmlns:a="http://schemas.openxmlformats.org/drawingml/2006/main">
            <a:off x="7524750" y="2114550"/>
            <a:ext cx="3190875" cy="952500"/>
          </a:xfrm>
          <a:prstGeom xmlns:a="http://schemas.openxmlformats.org/drawingml/2006/main" prst="roundRect">
            <a:avLst>
              <a:gd name="adj" fmla="val 14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875" b="1">
                <a:solidFill>
                  <a:srgbClr val="071525"/>
                </a:solidFill>
                <a:latin typeface="Helvetica Neue"/>
                <a:ea typeface="Helvetica Neue"/>
                <a:cs typeface="Helvetica Neue"/>
              </a:defRPr>
            </a:pPr>
            <a:r>
              <a:rPr sz="1875" b="1">
                <a:solidFill>
                  <a:srgbClr val="071525"/>
                </a:solidFill>
                <a:latin typeface="Helvetica Neue"/>
                <a:ea typeface="Helvetica Neue"/>
                <a:cs typeface="Helvetica Neue"/>
              </a:rPr>
              <a:t>TIKAI TAD</a:t>
            </a:r>
          </a:p>
          <a:p xmlns:a="http://schemas.openxmlformats.org/drawingml/2006/main">
            <a:pPr algn="ctr">
              <a:lnSpc>
                <a:spcPct val="104000"/>
              </a:lnSpc>
              <a:buNone/>
              <a:defRPr sz="1875" b="1">
                <a:solidFill>
                  <a:srgbClr val="071525"/>
                </a:solidFill>
                <a:latin typeface="Helvetica Neue"/>
                <a:ea typeface="Helvetica Neue"/>
                <a:cs typeface="Helvetica Neue"/>
              </a:defRPr>
            </a:pPr>
            <a:r>
              <a:rPr sz="1875" b="1">
                <a:solidFill>
                  <a:srgbClr val="071525"/>
                </a:solidFill>
                <a:latin typeface="Helvetica Neue"/>
                <a:ea typeface="Helvetica Neue"/>
                <a:cs typeface="Helvetica Neue"/>
              </a:rPr>
              <a:t>CANONICAL DATA</a:t>
            </a:r>
          </a:p>
        </p:txBody>
      </p:sp>
      <p:sp>
        <p:nvSpPr>
          <p:cNvPr id="11" name="">
            <a:extLst xmlns:a="http://schemas.openxmlformats.org/drawingml/2006/main">
              <a:ext uri="{FF2B5EF4-FFF2-40B4-BE49-F238E27FC236}">
                <a16:creationId xmlns:a16="http://schemas.microsoft.com/office/drawing/2014/main" id="{CA939631-F305-45CC-9F53-3A554F8288AD}"/>
              </a:ext>
            </a:extLst>
          </p:cNvPr>
          <p:cNvSpPr>
            <a:spLocks xmlns:a="http://schemas.openxmlformats.org/drawingml/2006/main" noGrp="1"/>
          </p:cNvSpPr>
          <p:nvPr/>
        </p:nvSpPr>
        <p:spPr>
          <a:xfrm xmlns:a="http://schemas.openxmlformats.org/drawingml/2006/main">
            <a:off x="714375" y="3400425"/>
            <a:ext cx="1000125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D528F60-FBE5-4E1D-A1FB-9E3D57EA7D63}"/>
              </a:ext>
            </a:extLst>
          </p:cNvPr>
          <p:cNvSpPr>
            <a:spLocks xmlns:a="http://schemas.openxmlformats.org/drawingml/2006/main" noGrp="1"/>
          </p:cNvSpPr>
          <p:nvPr/>
        </p:nvSpPr>
        <p:spPr>
          <a:xfrm xmlns:a="http://schemas.openxmlformats.org/drawingml/2006/main">
            <a:off x="723900" y="3733800"/>
            <a:ext cx="3076575" cy="1562100"/>
          </a:xfrm>
          <a:prstGeom xmlns:a="http://schemas.openxmlformats.org/drawingml/2006/main" prst="roundRect">
            <a:avLst>
              <a:gd name="adj" fmla="val 8537"/>
            </a:avLst>
          </a:prstGeom>
          <a:solidFill xmlns:a="http://schemas.openxmlformats.org/drawingml/2006/main">
            <a:srgbClr val="F1F5F9"/>
          </a:solidFill>
          <a:ln xmlns:a="http://schemas.openxmlformats.org/drawingml/2006/main" w="9525">
            <a:solidFill>
              <a:srgbClr val="C7D7E2"/>
            </a:solidFill>
            <a:prstDash val="solid"/>
          </a:ln>
        </p:spPr>
      </p:sp>
      <p:sp>
        <p:nvSpPr>
          <p:cNvPr id="13" name="">
            <a:extLst xmlns:a="http://schemas.openxmlformats.org/drawingml/2006/main">
              <a:ext uri="{FF2B5EF4-FFF2-40B4-BE49-F238E27FC236}">
                <a16:creationId xmlns:a16="http://schemas.microsoft.com/office/drawing/2014/main" id="{47AF17EC-CB87-425F-B66C-6CF99189CDB3}"/>
              </a:ext>
            </a:extLst>
          </p:cNvPr>
          <p:cNvSpPr>
            <a:spLocks xmlns:a="http://schemas.openxmlformats.org/drawingml/2006/main" noGrp="1"/>
          </p:cNvSpPr>
          <p:nvPr/>
        </p:nvSpPr>
        <p:spPr>
          <a:xfrm xmlns:a="http://schemas.openxmlformats.org/drawingml/2006/main">
            <a:off x="723900" y="3733800"/>
            <a:ext cx="66675" cy="1562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94F47C-1C0B-41F1-BCD2-AAD2DE0A3E60}"/>
              </a:ext>
            </a:extLst>
          </p:cNvPr>
          <p:cNvSpPr>
            <a:spLocks xmlns:a="http://schemas.openxmlformats.org/drawingml/2006/main" noGrp="1"/>
          </p:cNvSpPr>
          <p:nvPr/>
        </p:nvSpPr>
        <p:spPr>
          <a:xfrm xmlns:a="http://schemas.openxmlformats.org/drawingml/2006/main">
            <a:off x="914400" y="38766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0F172A"/>
                </a:solidFill>
                <a:latin typeface="Helvetica Neue"/>
                <a:ea typeface="Helvetica Neue"/>
                <a:cs typeface="Helvetica Neue"/>
              </a:defRPr>
            </a:pPr>
            <a:r>
              <a:rPr sz="1575" b="1">
                <a:solidFill>
                  <a:srgbClr val="0F172A"/>
                </a:solidFill>
                <a:latin typeface="Helvetica Neue"/>
                <a:ea typeface="Helvetica Neue"/>
                <a:cs typeface="Helvetica Neue"/>
              </a:rPr>
              <a:t>Saglabā avotu</a:t>
            </a:r>
          </a:p>
        </p:txBody>
      </p:sp>
      <p:sp>
        <p:nvSpPr>
          <p:cNvPr id="15" name="">
            <a:extLst xmlns:a="http://schemas.openxmlformats.org/drawingml/2006/main">
              <a:ext uri="{FF2B5EF4-FFF2-40B4-BE49-F238E27FC236}">
                <a16:creationId xmlns:a16="http://schemas.microsoft.com/office/drawing/2014/main" id="{AB20B336-2066-4ACA-BAC0-3400B15B1DD0}"/>
              </a:ext>
            </a:extLst>
          </p:cNvPr>
          <p:cNvSpPr>
            <a:spLocks xmlns:a="http://schemas.openxmlformats.org/drawingml/2006/main" noGrp="1"/>
          </p:cNvSpPr>
          <p:nvPr/>
        </p:nvSpPr>
        <p:spPr>
          <a:xfrm xmlns:a="http://schemas.openxmlformats.org/drawingml/2006/main">
            <a:off x="914400" y="4248150"/>
            <a:ext cx="26955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PDF, raw vērtība un system interpretation paliek izsekojami.</a:t>
            </a:r>
          </a:p>
        </p:txBody>
      </p:sp>
      <p:sp>
        <p:nvSpPr>
          <p:cNvPr id="16" name="">
            <a:extLst xmlns:a="http://schemas.openxmlformats.org/drawingml/2006/main">
              <a:ext uri="{FF2B5EF4-FFF2-40B4-BE49-F238E27FC236}">
                <a16:creationId xmlns:a16="http://schemas.microsoft.com/office/drawing/2014/main" id="{D58088E0-0AC7-4477-B5F0-D3294CC1C68A}"/>
              </a:ext>
            </a:extLst>
          </p:cNvPr>
          <p:cNvSpPr>
            <a:spLocks xmlns:a="http://schemas.openxmlformats.org/drawingml/2006/main" noGrp="1"/>
          </p:cNvSpPr>
          <p:nvPr/>
        </p:nvSpPr>
        <p:spPr>
          <a:xfrm xmlns:a="http://schemas.openxmlformats.org/drawingml/2006/main">
            <a:off x="4067175" y="3733800"/>
            <a:ext cx="3076575" cy="1562100"/>
          </a:xfrm>
          <a:prstGeom xmlns:a="http://schemas.openxmlformats.org/drawingml/2006/main" prst="roundRect">
            <a:avLst>
              <a:gd name="adj" fmla="val 8537"/>
            </a:avLst>
          </a:prstGeom>
          <a:solidFill xmlns:a="http://schemas.openxmlformats.org/drawingml/2006/main">
            <a:srgbClr val="F1F5F9"/>
          </a:solidFill>
          <a:ln xmlns:a="http://schemas.openxmlformats.org/drawingml/2006/main" w="9525">
            <a:solidFill>
              <a:srgbClr val="C7D7E2"/>
            </a:solidFill>
            <a:prstDash val="solid"/>
          </a:ln>
        </p:spPr>
      </p:sp>
      <p:sp>
        <p:nvSpPr>
          <p:cNvPr id="17" name="">
            <a:extLst xmlns:a="http://schemas.openxmlformats.org/drawingml/2006/main">
              <a:ext uri="{FF2B5EF4-FFF2-40B4-BE49-F238E27FC236}">
                <a16:creationId xmlns:a16="http://schemas.microsoft.com/office/drawing/2014/main" id="{8C380BBC-144F-4BE0-B043-2BA1647B5690}"/>
              </a:ext>
            </a:extLst>
          </p:cNvPr>
          <p:cNvSpPr>
            <a:spLocks xmlns:a="http://schemas.openxmlformats.org/drawingml/2006/main" noGrp="1"/>
          </p:cNvSpPr>
          <p:nvPr/>
        </p:nvSpPr>
        <p:spPr>
          <a:xfrm xmlns:a="http://schemas.openxmlformats.org/drawingml/2006/main">
            <a:off x="4067175" y="3733800"/>
            <a:ext cx="66675" cy="1562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DF7BFBA-8CBB-4602-B119-D435C66AA855}"/>
              </a:ext>
            </a:extLst>
          </p:cNvPr>
          <p:cNvSpPr>
            <a:spLocks xmlns:a="http://schemas.openxmlformats.org/drawingml/2006/main" noGrp="1"/>
          </p:cNvSpPr>
          <p:nvPr/>
        </p:nvSpPr>
        <p:spPr>
          <a:xfrm xmlns:a="http://schemas.openxmlformats.org/drawingml/2006/main">
            <a:off x="4257675" y="38766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0F172A"/>
                </a:solidFill>
                <a:latin typeface="Helvetica Neue"/>
                <a:ea typeface="Helvetica Neue"/>
                <a:cs typeface="Helvetica Neue"/>
              </a:defRPr>
            </a:pPr>
            <a:r>
              <a:rPr sz="1575" b="1">
                <a:solidFill>
                  <a:srgbClr val="0F172A"/>
                </a:solidFill>
                <a:latin typeface="Helvetica Neue"/>
                <a:ea typeface="Helvetica Neue"/>
                <a:cs typeface="Helvetica Neue"/>
              </a:rPr>
              <a:t>Atklāj nenoteiktību</a:t>
            </a:r>
          </a:p>
        </p:txBody>
      </p:sp>
      <p:sp>
        <p:nvSpPr>
          <p:cNvPr id="19" name="">
            <a:extLst xmlns:a="http://schemas.openxmlformats.org/drawingml/2006/main">
              <a:ext uri="{FF2B5EF4-FFF2-40B4-BE49-F238E27FC236}">
                <a16:creationId xmlns:a16="http://schemas.microsoft.com/office/drawing/2014/main" id="{A2C2CB9C-BD97-4B90-A641-E82AB72B8BE8}"/>
              </a:ext>
            </a:extLst>
          </p:cNvPr>
          <p:cNvSpPr>
            <a:spLocks xmlns:a="http://schemas.openxmlformats.org/drawingml/2006/main" noGrp="1"/>
          </p:cNvSpPr>
          <p:nvPr/>
        </p:nvSpPr>
        <p:spPr>
          <a:xfrm xmlns:a="http://schemas.openxmlformats.org/drawingml/2006/main">
            <a:off x="4257675" y="4248150"/>
            <a:ext cx="26955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Confidence, evidence un issues ir redzami review plūsmā.</a:t>
            </a:r>
          </a:p>
        </p:txBody>
      </p:sp>
      <p:sp>
        <p:nvSpPr>
          <p:cNvPr id="20" name="">
            <a:extLst xmlns:a="http://schemas.openxmlformats.org/drawingml/2006/main">
              <a:ext uri="{FF2B5EF4-FFF2-40B4-BE49-F238E27FC236}">
                <a16:creationId xmlns:a16="http://schemas.microsoft.com/office/drawing/2014/main" id="{712F6C6E-9695-4D42-8778-BE289738BCDD}"/>
              </a:ext>
            </a:extLst>
          </p:cNvPr>
          <p:cNvSpPr>
            <a:spLocks xmlns:a="http://schemas.openxmlformats.org/drawingml/2006/main" noGrp="1"/>
          </p:cNvSpPr>
          <p:nvPr/>
        </p:nvSpPr>
        <p:spPr>
          <a:xfrm xmlns:a="http://schemas.openxmlformats.org/drawingml/2006/main">
            <a:off x="7410450" y="3733800"/>
            <a:ext cx="3076575" cy="1562100"/>
          </a:xfrm>
          <a:prstGeom xmlns:a="http://schemas.openxmlformats.org/drawingml/2006/main" prst="roundRect">
            <a:avLst>
              <a:gd name="adj" fmla="val 8537"/>
            </a:avLst>
          </a:prstGeom>
          <a:solidFill xmlns:a="http://schemas.openxmlformats.org/drawingml/2006/main">
            <a:srgbClr val="F1F5F9"/>
          </a:solidFill>
          <a:ln xmlns:a="http://schemas.openxmlformats.org/drawingml/2006/main" w="9525">
            <a:solidFill>
              <a:srgbClr val="C7D7E2"/>
            </a:solidFill>
            <a:prstDash val="solid"/>
          </a:ln>
        </p:spPr>
      </p:sp>
      <p:sp>
        <p:nvSpPr>
          <p:cNvPr id="21" name="">
            <a:extLst xmlns:a="http://schemas.openxmlformats.org/drawingml/2006/main">
              <a:ext uri="{FF2B5EF4-FFF2-40B4-BE49-F238E27FC236}">
                <a16:creationId xmlns:a16="http://schemas.microsoft.com/office/drawing/2014/main" id="{EAF562B7-DB54-4563-A107-A0A7B9DEF75D}"/>
              </a:ext>
            </a:extLst>
          </p:cNvPr>
          <p:cNvSpPr>
            <a:spLocks xmlns:a="http://schemas.openxmlformats.org/drawingml/2006/main" noGrp="1"/>
          </p:cNvSpPr>
          <p:nvPr/>
        </p:nvSpPr>
        <p:spPr>
          <a:xfrm xmlns:a="http://schemas.openxmlformats.org/drawingml/2006/main">
            <a:off x="7410450" y="3733800"/>
            <a:ext cx="66675" cy="1562100"/>
          </a:xfrm>
          <a:prstGeom xmlns:a="http://schemas.openxmlformats.org/drawingml/2006/main" prst="roundRect">
            <a:avLst>
              <a:gd name="adj" fmla="val 50000"/>
            </a:avLst>
          </a:prstGeom>
          <a:solidFill xmlns:a="http://schemas.openxmlformats.org/drawingml/2006/main">
            <a:srgbClr val="E66A5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DED8CD0-840F-4DBD-B996-014AC3802C89}"/>
              </a:ext>
            </a:extLst>
          </p:cNvPr>
          <p:cNvSpPr>
            <a:spLocks xmlns:a="http://schemas.openxmlformats.org/drawingml/2006/main" noGrp="1"/>
          </p:cNvSpPr>
          <p:nvPr/>
        </p:nvSpPr>
        <p:spPr>
          <a:xfrm xmlns:a="http://schemas.openxmlformats.org/drawingml/2006/main">
            <a:off x="7600950" y="38766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0F172A"/>
                </a:solidFill>
                <a:latin typeface="Helvetica Neue"/>
                <a:ea typeface="Helvetica Neue"/>
                <a:cs typeface="Helvetica Neue"/>
              </a:defRPr>
            </a:pPr>
            <a:r>
              <a:rPr sz="1575" b="1">
                <a:solidFill>
                  <a:srgbClr val="0F172A"/>
                </a:solidFill>
                <a:latin typeface="Helvetica Neue"/>
                <a:ea typeface="Helvetica Neue"/>
                <a:cs typeface="Helvetica Neue"/>
              </a:rPr>
              <a:t>Bloķē kļūdu</a:t>
            </a:r>
          </a:p>
        </p:txBody>
      </p:sp>
      <p:sp>
        <p:nvSpPr>
          <p:cNvPr id="23" name="">
            <a:extLst xmlns:a="http://schemas.openxmlformats.org/drawingml/2006/main">
              <a:ext uri="{FF2B5EF4-FFF2-40B4-BE49-F238E27FC236}">
                <a16:creationId xmlns:a16="http://schemas.microsoft.com/office/drawing/2014/main" id="{6C547F98-605B-4A10-B240-A9ACF1F63001}"/>
              </a:ext>
            </a:extLst>
          </p:cNvPr>
          <p:cNvSpPr>
            <a:spLocks xmlns:a="http://schemas.openxmlformats.org/drawingml/2006/main" noGrp="1"/>
          </p:cNvSpPr>
          <p:nvPr/>
        </p:nvSpPr>
        <p:spPr>
          <a:xfrm xmlns:a="http://schemas.openxmlformats.org/drawingml/2006/main">
            <a:off x="7600950" y="4248150"/>
            <a:ext cx="26955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Errors neļauj approve/commit; warnings prasa apzinātu lēmumu.</a:t>
            </a:r>
          </a:p>
        </p:txBody>
      </p:sp>
      <p:sp>
        <p:nvSpPr>
          <p:cNvPr id="24" name="">
            <a:extLst xmlns:a="http://schemas.openxmlformats.org/drawingml/2006/main">
              <a:ext uri="{FF2B5EF4-FFF2-40B4-BE49-F238E27FC236}">
                <a16:creationId xmlns:a16="http://schemas.microsoft.com/office/drawing/2014/main" id="{8A744C9C-6969-4AC1-A4E1-63F8C1E60676}"/>
              </a:ext>
            </a:extLst>
          </p:cNvPr>
          <p:cNvSpPr>
            <a:spLocks xmlns:a="http://schemas.openxmlformats.org/drawingml/2006/main" noGrp="1"/>
          </p:cNvSpPr>
          <p:nvPr/>
        </p:nvSpPr>
        <p:spPr>
          <a:xfrm xmlns:a="http://schemas.openxmlformats.org/drawingml/2006/main">
            <a:off x="723900" y="5629275"/>
            <a:ext cx="2733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050" b="1">
                <a:solidFill>
                  <a:srgbClr val="E66A5C"/>
                </a:solidFill>
                <a:latin typeface="Helvetica Neue"/>
                <a:ea typeface="Helvetica Neue"/>
                <a:cs typeface="Helvetica Neue"/>
              </a:defRPr>
            </a:pPr>
            <a:r>
              <a:rPr sz="1050" b="1">
                <a:solidFill>
                  <a:srgbClr val="E66A5C"/>
                </a:solidFill>
                <a:latin typeface="Helvetica Neue"/>
                <a:ea typeface="Helvetica Neue"/>
                <a:cs typeface="Helvetica Neue"/>
              </a:rPr>
              <a:t>JĀPĀRBAUDA TIRGUS IZPĒTĒ</a:t>
            </a:r>
          </a:p>
        </p:txBody>
      </p:sp>
      <p:sp>
        <p:nvSpPr>
          <p:cNvPr id="25" name="">
            <a:extLst xmlns:a="http://schemas.openxmlformats.org/drawingml/2006/main">
              <a:ext uri="{FF2B5EF4-FFF2-40B4-BE49-F238E27FC236}">
                <a16:creationId xmlns:a16="http://schemas.microsoft.com/office/drawing/2014/main" id="{27C65A38-EE34-4AB7-8B0E-711620800855}"/>
              </a:ext>
            </a:extLst>
          </p:cNvPr>
          <p:cNvSpPr>
            <a:spLocks xmlns:a="http://schemas.openxmlformats.org/drawingml/2006/main" noGrp="1"/>
          </p:cNvSpPr>
          <p:nvPr/>
        </p:nvSpPr>
        <p:spPr>
          <a:xfrm xmlns:a="http://schemas.openxmlformats.org/drawingml/2006/main">
            <a:off x="3581400" y="5543550"/>
            <a:ext cx="71151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9227"/>
          </a:bodyPr>
          <a:lstStyle xmlns:a="http://schemas.openxmlformats.org/drawingml/2006/main"/>
          <a:p xmlns:a="http://schemas.openxmlformats.org/drawingml/2006/main">
            <a:pPr algn="l">
              <a:lnSpc>
                <a:spcPct val="104000"/>
              </a:lnSpc>
              <a:buNone/>
              <a:defRPr sz="1500" b="0">
                <a:solidFill>
                  <a:srgbClr val="0F172A"/>
                </a:solidFill>
                <a:latin typeface="Helvetica Neue"/>
                <a:ea typeface="Helvetica Neue"/>
                <a:cs typeface="Helvetica Neue"/>
              </a:defRPr>
            </a:pPr>
            <a:r>
              <a:rPr sz="1500" b="0">
                <a:solidFill>
                  <a:srgbClr val="0F172A"/>
                </a:solidFill>
                <a:latin typeface="Helvetica Neue"/>
                <a:ea typeface="Helvetica Neue"/>
                <a:cs typeface="Helvetica Neue"/>
              </a:rPr>
              <a:t>Extraction pārklājums uz dažādiem reālu klientu dokumentu izkārtojumiem vēl nav pierādīts.</a:t>
            </a:r>
          </a:p>
        </p:txBody>
      </p:sp>
      <p:sp>
        <p:nvSpPr>
          <p:cNvPr id="26" name="">
            <a:extLst xmlns:a="http://schemas.openxmlformats.org/drawingml/2006/main">
              <a:ext uri="{FF2B5EF4-FFF2-40B4-BE49-F238E27FC236}">
                <a16:creationId xmlns:a16="http://schemas.microsoft.com/office/drawing/2014/main" id="{2C90BCA6-06D7-4538-AB07-61FFF6A18CA3}"/>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Nav dokumentēta reāla klienta rēķina veiktspējas rezultāta; netiek izdomāts</a:t>
            </a:r>
          </a:p>
        </p:txBody>
      </p:sp>
    </p:spTree>
    <p:extLst>
      <p:ext uri="{BB962C8B-B14F-4D97-AF65-F5344CB8AC3E}">
        <p14:creationId xmlns:p14="http://schemas.microsoft.com/office/powerpoint/2010/main" val="147054895"/>
      </p:ext>
    </p:extLst>
  </p:cSld>
</p:sld>
</file>

<file path=ppt/slides/slide9.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EB03B95-41E0-45C1-8814-75260AF396B0}"/>
              </a:ext>
            </a:extLst>
          </p:cNvPr>
          <p:cNvSpPr>
            <a:spLocks xmlns:a="http://schemas.openxmlformats.org/drawingml/2006/main" noGrp="1"/>
          </p:cNvSpPr>
          <p:nvPr/>
        </p:nvSpPr>
        <p:spPr>
          <a:xfrm xmlns:a="http://schemas.openxmlformats.org/drawingml/2006/main">
            <a:off x="552450" y="476250"/>
            <a:ext cx="742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1055"/>
          </a:bodyPr>
          <a:lstStyle xmlns:a="http://schemas.openxmlformats.org/drawingml/2006/main"/>
          <a:p xmlns:a="http://schemas.openxmlformats.org/drawingml/2006/main">
            <a:pPr algn="l">
              <a:lnSpc>
                <a:spcPct val="104000"/>
              </a:lnSpc>
              <a:buNone/>
              <a:defRPr sz="3300" b="1">
                <a:solidFill>
                  <a:srgbClr val="F8FAFC"/>
                </a:solidFill>
                <a:latin typeface="Helvetica Neue"/>
                <a:ea typeface="Helvetica Neue"/>
                <a:cs typeface="Helvetica Neue"/>
              </a:defRPr>
            </a:pPr>
            <a:r>
              <a:rPr sz="3300" b="1">
                <a:solidFill>
                  <a:srgbClr val="F8FAFC"/>
                </a:solidFill>
                <a:latin typeface="Helvetica Neue"/>
                <a:ea typeface="Helvetica Neue"/>
                <a:cs typeface="Helvetica Neue"/>
              </a:rPr>
              <a:t>No datiem līdz inteliģencei</a:t>
            </a:r>
          </a:p>
        </p:txBody>
      </p:sp>
      <p:sp>
        <p:nvSpPr>
          <p:cNvPr id="2" name="">
            <a:extLst xmlns:a="http://schemas.openxmlformats.org/drawingml/2006/main">
              <a:ext uri="{FF2B5EF4-FFF2-40B4-BE49-F238E27FC236}">
                <a16:creationId xmlns:a16="http://schemas.microsoft.com/office/drawing/2014/main" id="{95FB7557-580B-49EB-B4F9-C5979E1A66F1}"/>
              </a:ext>
            </a:extLst>
          </p:cNvPr>
          <p:cNvSpPr>
            <a:spLocks xmlns:a="http://schemas.openxmlformats.org/drawingml/2006/main" noGrp="1"/>
          </p:cNvSpPr>
          <p:nvPr/>
        </p:nvSpPr>
        <p:spPr>
          <a:xfrm xmlns:a="http://schemas.openxmlformats.org/drawingml/2006/main">
            <a:off x="571500" y="11049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4697"/>
          </a:bodyPr>
          <a:lstStyle xmlns:a="http://schemas.openxmlformats.org/drawingml/2006/main"/>
          <a:p xmlns:a="http://schemas.openxmlformats.org/drawingml/2006/main">
            <a:pPr algn="l">
              <a:lnSpc>
                <a:spcPct val="104000"/>
              </a:lnSpc>
              <a:buNone/>
              <a:defRPr sz="1650" b="0">
                <a:solidFill>
                  <a:srgbClr val="7DD3FC"/>
                </a:solidFill>
                <a:latin typeface="Helvetica Neue"/>
                <a:ea typeface="Helvetica Neue"/>
                <a:cs typeface="Helvetica Neue"/>
              </a:defRPr>
            </a:pPr>
            <a:r>
              <a:rPr sz="1650" b="0">
                <a:solidFill>
                  <a:srgbClr val="7DD3FC"/>
                </a:solidFill>
                <a:latin typeface="Helvetica Neue"/>
                <a:ea typeface="Helvetica Neue"/>
                <a:cs typeface="Helvetica Neue"/>
              </a:rPr>
              <a:t>Fakti tiek aprēķināti deterministiski. AI tos vēlāk var izskaidrot.</a:t>
            </a:r>
          </a:p>
        </p:txBody>
      </p:sp>
      <p:sp>
        <p:nvSpPr>
          <p:cNvPr id="3" name="">
            <a:extLst xmlns:a="http://schemas.openxmlformats.org/drawingml/2006/main">
              <a:ext uri="{FF2B5EF4-FFF2-40B4-BE49-F238E27FC236}">
                <a16:creationId xmlns:a16="http://schemas.microsoft.com/office/drawing/2014/main" id="{8F007C9F-BE34-4621-BFC8-848F719DB5CB}"/>
              </a:ext>
            </a:extLst>
          </p:cNvPr>
          <p:cNvSpPr>
            <a:spLocks xmlns:a="http://schemas.openxmlformats.org/drawingml/2006/main" noGrp="1"/>
          </p:cNvSpPr>
          <p:nvPr/>
        </p:nvSpPr>
        <p:spPr>
          <a:xfrm xmlns:a="http://schemas.openxmlformats.org/drawingml/2006/main">
            <a:off x="571500" y="1809750"/>
            <a:ext cx="2324100" cy="590550"/>
          </a:xfrm>
          <a:prstGeom xmlns:a="http://schemas.openxmlformats.org/drawingml/2006/main" prst="roundRect">
            <a:avLst>
              <a:gd name="adj" fmla="val 16129"/>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275" b="1">
                <a:solidFill>
                  <a:srgbClr val="F8FAFC"/>
                </a:solidFill>
                <a:latin typeface="Helvetica Neue"/>
                <a:ea typeface="Helvetica Neue"/>
                <a:cs typeface="Helvetica Neue"/>
              </a:defRPr>
            </a:pPr>
            <a:r>
              <a:rPr sz="1275" b="1">
                <a:solidFill>
                  <a:srgbClr val="F8FAFC"/>
                </a:solidFill>
                <a:latin typeface="Helvetica Neue"/>
                <a:ea typeface="Helvetica Neue"/>
                <a:cs typeface="Helvetica Neue"/>
              </a:rPr>
              <a:t>CANONICAL MODEL</a:t>
            </a:r>
          </a:p>
        </p:txBody>
      </p:sp>
      <p:sp>
        <p:nvSpPr>
          <p:cNvPr id="4" name="">
            <a:extLst xmlns:a="http://schemas.openxmlformats.org/drawingml/2006/main">
              <a:ext uri="{FF2B5EF4-FFF2-40B4-BE49-F238E27FC236}">
                <a16:creationId xmlns:a16="http://schemas.microsoft.com/office/drawing/2014/main" id="{2CE302D1-1571-4238-8C7F-B024ED148A41}"/>
              </a:ext>
            </a:extLst>
          </p:cNvPr>
          <p:cNvSpPr>
            <a:spLocks xmlns:a="http://schemas.openxmlformats.org/drawingml/2006/main" noGrp="1"/>
          </p:cNvSpPr>
          <p:nvPr/>
        </p:nvSpPr>
        <p:spPr>
          <a:xfrm xmlns:a="http://schemas.openxmlformats.org/drawingml/2006/main">
            <a:off x="2952750" y="1847850"/>
            <a:ext cx="41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7764"/>
          </a:bodyPr>
          <a:lstStyle xmlns:a="http://schemas.openxmlformats.org/drawingml/2006/main"/>
          <a:p xmlns:a="http://schemas.openxmlformats.org/drawingml/2006/main">
            <a:pPr algn="ctr">
              <a:lnSpc>
                <a:spcPct val="104000"/>
              </a:lnSpc>
              <a:buNone/>
              <a:defRPr sz="2400" b="0">
                <a:solidFill>
                  <a:srgbClr val="7DD3FC"/>
                </a:solidFill>
                <a:latin typeface="Helvetica Neue"/>
                <a:ea typeface="Helvetica Neue"/>
                <a:cs typeface="Helvetica Neue"/>
              </a:defRPr>
            </a:pPr>
            <a:r>
              <a:rPr sz="2400" b="0">
                <a:solidFill>
                  <a:srgbClr val="7DD3FC"/>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7D066E41-EC15-41ED-B773-8F68920C9234}"/>
              </a:ext>
            </a:extLst>
          </p:cNvPr>
          <p:cNvSpPr>
            <a:spLocks xmlns:a="http://schemas.openxmlformats.org/drawingml/2006/main" noGrp="1"/>
          </p:cNvSpPr>
          <p:nvPr/>
        </p:nvSpPr>
        <p:spPr>
          <a:xfrm xmlns:a="http://schemas.openxmlformats.org/drawingml/2006/main">
            <a:off x="3409950" y="1809750"/>
            <a:ext cx="2324100" cy="590550"/>
          </a:xfrm>
          <a:prstGeom xmlns:a="http://schemas.openxmlformats.org/drawingml/2006/main" prst="roundRect">
            <a:avLst>
              <a:gd name="adj" fmla="val 16129"/>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275" b="1">
                <a:solidFill>
                  <a:srgbClr val="F8FAFC"/>
                </a:solidFill>
                <a:latin typeface="Helvetica Neue"/>
                <a:ea typeface="Helvetica Neue"/>
                <a:cs typeface="Helvetica Neue"/>
              </a:defRPr>
            </a:pPr>
            <a:r>
              <a:rPr sz="1275" b="1">
                <a:solidFill>
                  <a:srgbClr val="F8FAFC"/>
                </a:solidFill>
                <a:latin typeface="Helvetica Neue"/>
                <a:ea typeface="Helvetica Neue"/>
                <a:cs typeface="Helvetica Neue"/>
              </a:rPr>
              <a:t>METRIC ENGINE</a:t>
            </a:r>
          </a:p>
        </p:txBody>
      </p:sp>
      <p:sp>
        <p:nvSpPr>
          <p:cNvPr id="6" name="">
            <a:extLst xmlns:a="http://schemas.openxmlformats.org/drawingml/2006/main">
              <a:ext uri="{FF2B5EF4-FFF2-40B4-BE49-F238E27FC236}">
                <a16:creationId xmlns:a16="http://schemas.microsoft.com/office/drawing/2014/main" id="{F0B1CE58-CE94-4E8F-ABDE-9DCD192DBB52}"/>
              </a:ext>
            </a:extLst>
          </p:cNvPr>
          <p:cNvSpPr>
            <a:spLocks xmlns:a="http://schemas.openxmlformats.org/drawingml/2006/main" noGrp="1"/>
          </p:cNvSpPr>
          <p:nvPr/>
        </p:nvSpPr>
        <p:spPr>
          <a:xfrm xmlns:a="http://schemas.openxmlformats.org/drawingml/2006/main">
            <a:off x="5791200" y="1847850"/>
            <a:ext cx="41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7764"/>
          </a:bodyPr>
          <a:lstStyle xmlns:a="http://schemas.openxmlformats.org/drawingml/2006/main"/>
          <a:p xmlns:a="http://schemas.openxmlformats.org/drawingml/2006/main">
            <a:pPr algn="ctr">
              <a:lnSpc>
                <a:spcPct val="104000"/>
              </a:lnSpc>
              <a:buNone/>
              <a:defRPr sz="2400" b="0">
                <a:solidFill>
                  <a:srgbClr val="7DD3FC"/>
                </a:solidFill>
                <a:latin typeface="Helvetica Neue"/>
                <a:ea typeface="Helvetica Neue"/>
                <a:cs typeface="Helvetica Neue"/>
              </a:defRPr>
            </a:pPr>
            <a:r>
              <a:rPr sz="2400" b="0">
                <a:solidFill>
                  <a:srgbClr val="7DD3FC"/>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21B9EBFE-5A9B-41E1-964A-26004D9E10C6}"/>
              </a:ext>
            </a:extLst>
          </p:cNvPr>
          <p:cNvSpPr>
            <a:spLocks xmlns:a="http://schemas.openxmlformats.org/drawingml/2006/main" noGrp="1"/>
          </p:cNvSpPr>
          <p:nvPr/>
        </p:nvSpPr>
        <p:spPr>
          <a:xfrm xmlns:a="http://schemas.openxmlformats.org/drawingml/2006/main">
            <a:off x="6248400" y="1809750"/>
            <a:ext cx="2324100" cy="590550"/>
          </a:xfrm>
          <a:prstGeom xmlns:a="http://schemas.openxmlformats.org/drawingml/2006/main" prst="roundRect">
            <a:avLst>
              <a:gd name="adj" fmla="val 16129"/>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275" b="1">
                <a:solidFill>
                  <a:srgbClr val="F8FAFC"/>
                </a:solidFill>
                <a:latin typeface="Helvetica Neue"/>
                <a:ea typeface="Helvetica Neue"/>
                <a:cs typeface="Helvetica Neue"/>
              </a:defRPr>
            </a:pPr>
            <a:r>
              <a:rPr sz="1275" b="1">
                <a:solidFill>
                  <a:srgbClr val="F8FAFC"/>
                </a:solidFill>
                <a:latin typeface="Helvetica Neue"/>
                <a:ea typeface="Helvetica Neue"/>
                <a:cs typeface="Helvetica Neue"/>
              </a:rPr>
              <a:t>ANALYTICS</a:t>
            </a:r>
          </a:p>
        </p:txBody>
      </p:sp>
      <p:sp>
        <p:nvSpPr>
          <p:cNvPr id="8" name="">
            <a:extLst xmlns:a="http://schemas.openxmlformats.org/drawingml/2006/main">
              <a:ext uri="{FF2B5EF4-FFF2-40B4-BE49-F238E27FC236}">
                <a16:creationId xmlns:a16="http://schemas.microsoft.com/office/drawing/2014/main" id="{7CD2C12B-2CDF-4E5F-8B6B-76F94486BD84}"/>
              </a:ext>
            </a:extLst>
          </p:cNvPr>
          <p:cNvSpPr>
            <a:spLocks xmlns:a="http://schemas.openxmlformats.org/drawingml/2006/main" noGrp="1"/>
          </p:cNvSpPr>
          <p:nvPr/>
        </p:nvSpPr>
        <p:spPr>
          <a:xfrm xmlns:a="http://schemas.openxmlformats.org/drawingml/2006/main">
            <a:off x="8629650" y="1847850"/>
            <a:ext cx="41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7764"/>
          </a:bodyPr>
          <a:lstStyle xmlns:a="http://schemas.openxmlformats.org/drawingml/2006/main"/>
          <a:p xmlns:a="http://schemas.openxmlformats.org/drawingml/2006/main">
            <a:pPr algn="ctr">
              <a:lnSpc>
                <a:spcPct val="104000"/>
              </a:lnSpc>
              <a:buNone/>
              <a:defRPr sz="2400" b="0">
                <a:solidFill>
                  <a:srgbClr val="7DD3FC"/>
                </a:solidFill>
                <a:latin typeface="Helvetica Neue"/>
                <a:ea typeface="Helvetica Neue"/>
                <a:cs typeface="Helvetica Neue"/>
              </a:defRPr>
            </a:pPr>
            <a:r>
              <a:rPr sz="2400" b="0">
                <a:solidFill>
                  <a:srgbClr val="7DD3FC"/>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626D5A37-A688-4919-8146-131A6D44B5EF}"/>
              </a:ext>
            </a:extLst>
          </p:cNvPr>
          <p:cNvSpPr>
            <a:spLocks xmlns:a="http://schemas.openxmlformats.org/drawingml/2006/main" noGrp="1"/>
          </p:cNvSpPr>
          <p:nvPr/>
        </p:nvSpPr>
        <p:spPr>
          <a:xfrm xmlns:a="http://schemas.openxmlformats.org/drawingml/2006/main">
            <a:off x="9086850" y="1809750"/>
            <a:ext cx="2324100" cy="590550"/>
          </a:xfrm>
          <a:prstGeom xmlns:a="http://schemas.openxmlformats.org/drawingml/2006/main" prst="roundRect">
            <a:avLst>
              <a:gd name="adj" fmla="val 16129"/>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275" b="1">
                <a:solidFill>
                  <a:srgbClr val="071525"/>
                </a:solidFill>
                <a:latin typeface="Helvetica Neue"/>
                <a:ea typeface="Helvetica Neue"/>
                <a:cs typeface="Helvetica Neue"/>
              </a:defRPr>
            </a:pPr>
            <a:r>
              <a:rPr sz="1275" b="1">
                <a:solidFill>
                  <a:srgbClr val="071525"/>
                </a:solidFill>
                <a:latin typeface="Helvetica Neue"/>
                <a:ea typeface="Helvetica Neue"/>
                <a:cs typeface="Helvetica Neue"/>
              </a:rPr>
              <a:t>INSIGHT DETECTION</a:t>
            </a:r>
          </a:p>
        </p:txBody>
      </p:sp>
      <p:sp>
        <p:nvSpPr>
          <p:cNvPr id="10" name="">
            <a:extLst xmlns:a="http://schemas.openxmlformats.org/drawingml/2006/main">
              <a:ext uri="{FF2B5EF4-FFF2-40B4-BE49-F238E27FC236}">
                <a16:creationId xmlns:a16="http://schemas.microsoft.com/office/drawing/2014/main" id="{0273AEF4-F112-4F90-98B5-FC80EC1CB611}"/>
              </a:ext>
            </a:extLst>
          </p:cNvPr>
          <p:cNvSpPr>
            <a:spLocks xmlns:a="http://schemas.openxmlformats.org/drawingml/2006/main" noGrp="1"/>
          </p:cNvSpPr>
          <p:nvPr/>
        </p:nvSpPr>
        <p:spPr>
          <a:xfrm xmlns:a="http://schemas.openxmlformats.org/drawingml/2006/main">
            <a:off x="590550" y="2914650"/>
            <a:ext cx="11001375" cy="2724150"/>
          </a:xfrm>
          <a:prstGeom xmlns:a="http://schemas.openxmlformats.org/drawingml/2006/main" prst="roundRect">
            <a:avLst>
              <a:gd name="adj" fmla="val 5594"/>
            </a:avLst>
          </a:prstGeom>
          <a:solidFill xmlns:a="http://schemas.openxmlformats.org/drawingml/2006/main">
            <a:srgbClr val="102A44"/>
          </a:solidFill>
          <a:ln xmlns:a="http://schemas.openxmlformats.org/drawingml/2006/main" w="9525">
            <a:solidFill>
              <a:srgbClr val="244A6B"/>
            </a:solidFill>
            <a:prstDash val="solid"/>
          </a:ln>
        </p:spPr>
      </p:sp>
      <p:sp>
        <p:nvSpPr>
          <p:cNvPr id="11" name="">
            <a:extLst xmlns:a="http://schemas.openxmlformats.org/drawingml/2006/main">
              <a:ext uri="{FF2B5EF4-FFF2-40B4-BE49-F238E27FC236}">
                <a16:creationId xmlns:a16="http://schemas.microsoft.com/office/drawing/2014/main" id="{1879C392-A805-480F-ACBE-E2EAF01BD963}"/>
              </a:ext>
            </a:extLst>
          </p:cNvPr>
          <p:cNvSpPr>
            <a:spLocks xmlns:a="http://schemas.openxmlformats.org/drawingml/2006/main" noGrp="1"/>
          </p:cNvSpPr>
          <p:nvPr/>
        </p:nvSpPr>
        <p:spPr>
          <a:xfrm xmlns:a="http://schemas.openxmlformats.org/drawingml/2006/main">
            <a:off x="828675" y="311467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7298"/>
          </a:bodyPr>
          <a:lstStyle xmlns:a="http://schemas.openxmlformats.org/drawingml/2006/main"/>
          <a:p xmlns:a="http://schemas.openxmlformats.org/drawingml/2006/main">
            <a:pPr algn="l">
              <a:lnSpc>
                <a:spcPct val="104000"/>
              </a:lnSpc>
              <a:buNone/>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SINTĒTISKS DEMO PIEMĒRS</a:t>
            </a:r>
          </a:p>
        </p:txBody>
      </p:sp>
      <p:sp>
        <p:nvSpPr>
          <p:cNvPr id="12" name="">
            <a:extLst xmlns:a="http://schemas.openxmlformats.org/drawingml/2006/main">
              <a:ext uri="{FF2B5EF4-FFF2-40B4-BE49-F238E27FC236}">
                <a16:creationId xmlns:a16="http://schemas.microsoft.com/office/drawing/2014/main" id="{FF1B48C0-5005-424E-8AC1-F4B452B727E3}"/>
              </a:ext>
            </a:extLst>
          </p:cNvPr>
          <p:cNvSpPr>
            <a:spLocks xmlns:a="http://schemas.openxmlformats.org/drawingml/2006/main" noGrp="1"/>
          </p:cNvSpPr>
          <p:nvPr/>
        </p:nvSpPr>
        <p:spPr>
          <a:xfrm xmlns:a="http://schemas.openxmlformats.org/drawingml/2006/main">
            <a:off x="828675" y="3476625"/>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4268"/>
          </a:bodyPr>
          <a:lstStyle xmlns:a="http://schemas.openxmlformats.org/drawingml/2006/main"/>
          <a:p xmlns:a="http://schemas.openxmlformats.org/drawingml/2006/main">
            <a:pPr algn="l">
              <a:lnSpc>
                <a:spcPct val="104000"/>
              </a:lnSpc>
              <a:buNone/>
              <a:defRPr sz="2550" b="1">
                <a:solidFill>
                  <a:srgbClr val="F8FAFC"/>
                </a:solidFill>
                <a:latin typeface="Helvetica Neue"/>
                <a:ea typeface="Helvetica Neue"/>
                <a:cs typeface="Helvetica Neue"/>
              </a:defRPr>
            </a:pPr>
            <a:r>
              <a:rPr sz="2550" b="1">
                <a:solidFill>
                  <a:srgbClr val="F8FAFC"/>
                </a:solidFill>
                <a:latin typeface="Helvetica Neue"/>
                <a:ea typeface="Helvetica Neue"/>
                <a:cs typeface="Helvetica Neue"/>
              </a:rPr>
              <a:t>Rīga → Roterdama</a:t>
            </a:r>
          </a:p>
        </p:txBody>
      </p:sp>
      <p:sp>
        <p:nvSpPr>
          <p:cNvPr id="13" name="">
            <a:extLst xmlns:a="http://schemas.openxmlformats.org/drawingml/2006/main">
              <a:ext uri="{FF2B5EF4-FFF2-40B4-BE49-F238E27FC236}">
                <a16:creationId xmlns:a16="http://schemas.microsoft.com/office/drawing/2014/main" id="{12927895-139F-4365-B06B-E15C89FDF484}"/>
              </a:ext>
            </a:extLst>
          </p:cNvPr>
          <p:cNvSpPr>
            <a:spLocks xmlns:a="http://schemas.openxmlformats.org/drawingml/2006/main" noGrp="1"/>
          </p:cNvSpPr>
          <p:nvPr/>
        </p:nvSpPr>
        <p:spPr>
          <a:xfrm xmlns:a="http://schemas.openxmlformats.org/drawingml/2006/main">
            <a:off x="828675" y="40386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9031"/>
          </a:bodyPr>
          <a:lstStyle xmlns:a="http://schemas.openxmlformats.org/drawingml/2006/main"/>
          <a:p xmlns:a="http://schemas.openxmlformats.org/drawingml/2006/main">
            <a:pPr algn="l">
              <a:lnSpc>
                <a:spcPct val="104000"/>
              </a:lnSpc>
              <a:buNone/>
              <a:defRPr sz="1350" b="0">
                <a:solidFill>
                  <a:srgbClr val="94A3B8"/>
                </a:solidFill>
                <a:latin typeface="Helvetica Neue"/>
                <a:ea typeface="Helvetica Neue"/>
                <a:cs typeface="Helvetica Neue"/>
              </a:defRPr>
            </a:pPr>
            <a:r>
              <a:rPr sz="1350" b="0">
                <a:solidFill>
                  <a:srgbClr val="94A3B8"/>
                </a:solidFill>
                <a:latin typeface="Helvetica Neue"/>
                <a:ea typeface="Helvetica Neue"/>
                <a:cs typeface="Helvetica Neue"/>
              </a:rPr>
              <a:t>Contribution margin</a:t>
            </a:r>
          </a:p>
        </p:txBody>
      </p:sp>
      <p:sp>
        <p:nvSpPr>
          <p:cNvPr id="14" name="">
            <a:extLst xmlns:a="http://schemas.openxmlformats.org/drawingml/2006/main">
              <a:ext uri="{FF2B5EF4-FFF2-40B4-BE49-F238E27FC236}">
                <a16:creationId xmlns:a16="http://schemas.microsoft.com/office/drawing/2014/main" id="{DAE06D6D-E153-4468-AA2F-C9E92B1993B8}"/>
              </a:ext>
            </a:extLst>
          </p:cNvPr>
          <p:cNvSpPr>
            <a:spLocks xmlns:a="http://schemas.openxmlformats.org/drawingml/2006/main" noGrp="1"/>
          </p:cNvSpPr>
          <p:nvPr/>
        </p:nvSpPr>
        <p:spPr>
          <a:xfrm xmlns:a="http://schemas.openxmlformats.org/drawingml/2006/main">
            <a:off x="828675" y="4400550"/>
            <a:ext cx="161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3750" b="1">
                <a:solidFill>
                  <a:srgbClr val="F8FAFC"/>
                </a:solidFill>
                <a:latin typeface="Helvetica Neue"/>
                <a:ea typeface="Helvetica Neue"/>
                <a:cs typeface="Helvetica Neue"/>
              </a:defRPr>
            </a:pPr>
            <a:r>
              <a:rPr sz="3750" b="1">
                <a:solidFill>
                  <a:srgbClr val="F8FAFC"/>
                </a:solidFill>
                <a:latin typeface="Helvetica Neue"/>
                <a:ea typeface="Helvetica Neue"/>
                <a:cs typeface="Helvetica Neue"/>
              </a:rPr>
              <a:t>22,6%</a:t>
            </a:r>
          </a:p>
        </p:txBody>
      </p:sp>
      <p:sp>
        <p:nvSpPr>
          <p:cNvPr id="15" name="">
            <a:extLst xmlns:a="http://schemas.openxmlformats.org/drawingml/2006/main">
              <a:ext uri="{FF2B5EF4-FFF2-40B4-BE49-F238E27FC236}">
                <a16:creationId xmlns:a16="http://schemas.microsoft.com/office/drawing/2014/main" id="{65A0676B-CA14-45EB-8F00-FD3F556ADA81}"/>
              </a:ext>
            </a:extLst>
          </p:cNvPr>
          <p:cNvSpPr>
            <a:spLocks xmlns:a="http://schemas.openxmlformats.org/drawingml/2006/main" noGrp="1"/>
          </p:cNvSpPr>
          <p:nvPr/>
        </p:nvSpPr>
        <p:spPr>
          <a:xfrm xmlns:a="http://schemas.openxmlformats.org/drawingml/2006/main">
            <a:off x="2428875" y="4457700"/>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850" b="0">
                <a:solidFill>
                  <a:srgbClr val="7DD3FC"/>
                </a:solidFill>
                <a:latin typeface="Helvetica Neue"/>
                <a:ea typeface="Helvetica Neue"/>
                <a:cs typeface="Helvetica Neue"/>
              </a:defRPr>
            </a:pPr>
            <a:r>
              <a:rPr sz="2850" b="0">
                <a:solidFill>
                  <a:srgbClr val="7DD3FC"/>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65AB1B3B-28D0-4CF3-8295-8D2E7B6BD965}"/>
              </a:ext>
            </a:extLst>
          </p:cNvPr>
          <p:cNvSpPr>
            <a:spLocks xmlns:a="http://schemas.openxmlformats.org/drawingml/2006/main" noGrp="1"/>
          </p:cNvSpPr>
          <p:nvPr/>
        </p:nvSpPr>
        <p:spPr>
          <a:xfrm xmlns:a="http://schemas.openxmlformats.org/drawingml/2006/main">
            <a:off x="3009900" y="440055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3750" b="1">
                <a:solidFill>
                  <a:srgbClr val="38BDF8"/>
                </a:solidFill>
                <a:latin typeface="Helvetica Neue"/>
                <a:ea typeface="Helvetica Neue"/>
                <a:cs typeface="Helvetica Neue"/>
              </a:defRPr>
            </a:pPr>
            <a:r>
              <a:rPr sz="3750" b="1">
                <a:solidFill>
                  <a:srgbClr val="38BDF8"/>
                </a:solidFill>
                <a:latin typeface="Helvetica Neue"/>
                <a:ea typeface="Helvetica Neue"/>
                <a:cs typeface="Helvetica Neue"/>
              </a:rPr>
              <a:t>16,3%</a:t>
            </a:r>
          </a:p>
        </p:txBody>
      </p:sp>
      <p:sp>
        <p:nvSpPr>
          <p:cNvPr id="17" name="">
            <a:extLst xmlns:a="http://schemas.openxmlformats.org/drawingml/2006/main">
              <a:ext uri="{FF2B5EF4-FFF2-40B4-BE49-F238E27FC236}">
                <a16:creationId xmlns:a16="http://schemas.microsoft.com/office/drawing/2014/main" id="{938F8833-97B1-4EA4-A374-A978E085C484}"/>
              </a:ext>
            </a:extLst>
          </p:cNvPr>
          <p:cNvSpPr>
            <a:spLocks xmlns:a="http://schemas.openxmlformats.org/drawingml/2006/main" noGrp="1"/>
          </p:cNvSpPr>
          <p:nvPr/>
        </p:nvSpPr>
        <p:spPr>
          <a:xfrm xmlns:a="http://schemas.openxmlformats.org/drawingml/2006/main">
            <a:off x="5610225" y="3371850"/>
            <a:ext cx="2514600" cy="1390650"/>
          </a:xfrm>
          <a:prstGeom xmlns:a="http://schemas.openxmlformats.org/drawingml/2006/main" prst="roundRect">
            <a:avLst>
              <a:gd name="adj" fmla="val 9589"/>
            </a:avLst>
          </a:prstGeom>
          <a:solidFill xmlns:a="http://schemas.openxmlformats.org/drawingml/2006/main">
            <a:srgbClr val="123A63"/>
          </a:solidFill>
          <a:ln xmlns:a="http://schemas.openxmlformats.org/drawingml/2006/main" w="9525">
            <a:solidFill>
              <a:srgbClr val="123A63"/>
            </a:solidFill>
            <a:prstDash val="solid"/>
          </a:ln>
        </p:spPr>
      </p:sp>
      <p:sp>
        <p:nvSpPr>
          <p:cNvPr id="18" name="">
            <a:extLst xmlns:a="http://schemas.openxmlformats.org/drawingml/2006/main">
              <a:ext uri="{FF2B5EF4-FFF2-40B4-BE49-F238E27FC236}">
                <a16:creationId xmlns:a16="http://schemas.microsoft.com/office/drawing/2014/main" id="{089ED0BB-D1C9-443B-BD3D-FC7BF15C0F8C}"/>
              </a:ext>
            </a:extLst>
          </p:cNvPr>
          <p:cNvSpPr>
            <a:spLocks xmlns:a="http://schemas.openxmlformats.org/drawingml/2006/main" noGrp="1"/>
          </p:cNvSpPr>
          <p:nvPr/>
        </p:nvSpPr>
        <p:spPr>
          <a:xfrm xmlns:a="http://schemas.openxmlformats.org/drawingml/2006/main">
            <a:off x="5800725" y="3514725"/>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Cost / TEU</a:t>
            </a:r>
          </a:p>
        </p:txBody>
      </p:sp>
      <p:sp>
        <p:nvSpPr>
          <p:cNvPr id="19" name="">
            <a:extLst xmlns:a="http://schemas.openxmlformats.org/drawingml/2006/main">
              <a:ext uri="{FF2B5EF4-FFF2-40B4-BE49-F238E27FC236}">
                <a16:creationId xmlns:a16="http://schemas.microsoft.com/office/drawing/2014/main" id="{5DF9FD3A-B03D-4AA5-9A4F-88E493072B62}"/>
              </a:ext>
            </a:extLst>
          </p:cNvPr>
          <p:cNvSpPr>
            <a:spLocks xmlns:a="http://schemas.openxmlformats.org/drawingml/2006/main" noGrp="1"/>
          </p:cNvSpPr>
          <p:nvPr/>
        </p:nvSpPr>
        <p:spPr>
          <a:xfrm xmlns:a="http://schemas.openxmlformats.org/drawingml/2006/main">
            <a:off x="5800725" y="3886200"/>
            <a:ext cx="2133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2700" b="0">
                <a:solidFill>
                  <a:srgbClr val="F8FAFC"/>
                </a:solidFill>
                <a:latin typeface="Helvetica Neue"/>
                <a:ea typeface="Helvetica Neue"/>
                <a:cs typeface="Helvetica Neue"/>
              </a:defRPr>
            </a:pPr>
            <a:r>
              <a:rPr sz="2700" b="0">
                <a:solidFill>
                  <a:srgbClr val="F8FAFC"/>
                </a:solidFill>
                <a:latin typeface="Helvetica Neue"/>
                <a:ea typeface="Helvetica Neue"/>
                <a:cs typeface="Helvetica Neue"/>
              </a:rPr>
              <a:t>+13,6%</a:t>
            </a:r>
          </a:p>
        </p:txBody>
      </p:sp>
      <p:sp>
        <p:nvSpPr>
          <p:cNvPr id="20" name="">
            <a:extLst xmlns:a="http://schemas.openxmlformats.org/drawingml/2006/main">
              <a:ext uri="{FF2B5EF4-FFF2-40B4-BE49-F238E27FC236}">
                <a16:creationId xmlns:a16="http://schemas.microsoft.com/office/drawing/2014/main" id="{D801C717-D2A0-4655-8EA6-13AB77B46C0C}"/>
              </a:ext>
            </a:extLst>
          </p:cNvPr>
          <p:cNvSpPr>
            <a:spLocks xmlns:a="http://schemas.openxmlformats.org/drawingml/2006/main" noGrp="1"/>
          </p:cNvSpPr>
          <p:nvPr/>
        </p:nvSpPr>
        <p:spPr>
          <a:xfrm xmlns:a="http://schemas.openxmlformats.org/drawingml/2006/main">
            <a:off x="8410575" y="3371850"/>
            <a:ext cx="2514600" cy="1390650"/>
          </a:xfrm>
          <a:prstGeom xmlns:a="http://schemas.openxmlformats.org/drawingml/2006/main" prst="roundRect">
            <a:avLst>
              <a:gd name="adj" fmla="val 9589"/>
            </a:avLst>
          </a:prstGeom>
          <a:solidFill xmlns:a="http://schemas.openxmlformats.org/drawingml/2006/main">
            <a:srgbClr val="123A63"/>
          </a:solidFill>
          <a:ln xmlns:a="http://schemas.openxmlformats.org/drawingml/2006/main" w="9525">
            <a:solidFill>
              <a:srgbClr val="123A63"/>
            </a:solidFill>
            <a:prstDash val="solid"/>
          </a:ln>
        </p:spPr>
      </p:sp>
      <p:sp>
        <p:nvSpPr>
          <p:cNvPr id="21" name="">
            <a:extLst xmlns:a="http://schemas.openxmlformats.org/drawingml/2006/main">
              <a:ext uri="{FF2B5EF4-FFF2-40B4-BE49-F238E27FC236}">
                <a16:creationId xmlns:a16="http://schemas.microsoft.com/office/drawing/2014/main" id="{EEDEADC5-D467-42D8-A444-CC6279EAD46D}"/>
              </a:ext>
            </a:extLst>
          </p:cNvPr>
          <p:cNvSpPr>
            <a:spLocks xmlns:a="http://schemas.openxmlformats.org/drawingml/2006/main" noGrp="1"/>
          </p:cNvSpPr>
          <p:nvPr/>
        </p:nvSpPr>
        <p:spPr>
          <a:xfrm xmlns:a="http://schemas.openxmlformats.org/drawingml/2006/main">
            <a:off x="8601075" y="3514725"/>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Revenue / TEU</a:t>
            </a:r>
          </a:p>
        </p:txBody>
      </p:sp>
      <p:sp>
        <p:nvSpPr>
          <p:cNvPr id="22" name="">
            <a:extLst xmlns:a="http://schemas.openxmlformats.org/drawingml/2006/main">
              <a:ext uri="{FF2B5EF4-FFF2-40B4-BE49-F238E27FC236}">
                <a16:creationId xmlns:a16="http://schemas.microsoft.com/office/drawing/2014/main" id="{0DF2090B-19C1-49AD-A57D-38F676713B9E}"/>
              </a:ext>
            </a:extLst>
          </p:cNvPr>
          <p:cNvSpPr>
            <a:spLocks xmlns:a="http://schemas.openxmlformats.org/drawingml/2006/main" noGrp="1"/>
          </p:cNvSpPr>
          <p:nvPr/>
        </p:nvSpPr>
        <p:spPr>
          <a:xfrm xmlns:a="http://schemas.openxmlformats.org/drawingml/2006/main">
            <a:off x="8601075" y="3886200"/>
            <a:ext cx="2133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2700" b="0">
                <a:solidFill>
                  <a:srgbClr val="F8FAFC"/>
                </a:solidFill>
                <a:latin typeface="Helvetica Neue"/>
                <a:ea typeface="Helvetica Neue"/>
                <a:cs typeface="Helvetica Neue"/>
              </a:defRPr>
            </a:pPr>
            <a:r>
              <a:rPr sz="2700" b="0">
                <a:solidFill>
                  <a:srgbClr val="F8FAFC"/>
                </a:solidFill>
                <a:latin typeface="Helvetica Neue"/>
                <a:ea typeface="Helvetica Neue"/>
                <a:cs typeface="Helvetica Neue"/>
              </a:rPr>
              <a:t>+4,5%</a:t>
            </a:r>
          </a:p>
        </p:txBody>
      </p:sp>
      <p:sp>
        <p:nvSpPr>
          <p:cNvPr id="23" name="">
            <a:extLst xmlns:a="http://schemas.openxmlformats.org/drawingml/2006/main">
              <a:ext uri="{FF2B5EF4-FFF2-40B4-BE49-F238E27FC236}">
                <a16:creationId xmlns:a16="http://schemas.microsoft.com/office/drawing/2014/main" id="{825011F5-52F8-49DD-9C06-2DF0F5E9DEAE}"/>
              </a:ext>
            </a:extLst>
          </p:cNvPr>
          <p:cNvSpPr>
            <a:spLocks xmlns:a="http://schemas.openxmlformats.org/drawingml/2006/main" noGrp="1"/>
          </p:cNvSpPr>
          <p:nvPr/>
        </p:nvSpPr>
        <p:spPr>
          <a:xfrm xmlns:a="http://schemas.openxmlformats.org/drawingml/2006/main">
            <a:off x="5619750" y="4933950"/>
            <a:ext cx="5305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3483"/>
          </a:bodyPr>
          <a:lstStyle xmlns:a="http://schemas.openxmlformats.org/drawingml/2006/main"/>
          <a:p xmlns:a="http://schemas.openxmlformats.org/drawingml/2006/main">
            <a:pPr algn="l">
              <a:lnSpc>
                <a:spcPct val="104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Interpretācija nav cēloņsakarība: sistēma rāda pārbaudāmus contributors un drill-down līdz shipment avotiem.</a:t>
            </a:r>
          </a:p>
        </p:txBody>
      </p:sp>
      <p:sp>
        <p:nvSpPr>
          <p:cNvPr id="24" name="">
            <a:extLst xmlns:a="http://schemas.openxmlformats.org/drawingml/2006/main">
              <a:ext uri="{FF2B5EF4-FFF2-40B4-BE49-F238E27FC236}">
                <a16:creationId xmlns:a16="http://schemas.microsoft.com/office/drawing/2014/main" id="{BBC790E6-4B07-44C3-B8A7-5392F93C7700}"/>
              </a:ext>
            </a:extLst>
          </p:cNvPr>
          <p:cNvSpPr>
            <a:spLocks xmlns:a="http://schemas.openxmlformats.org/drawingml/2006/main" noGrp="1"/>
          </p:cNvSpPr>
          <p:nvPr/>
        </p:nvSpPr>
        <p:spPr>
          <a:xfrm xmlns:a="http://schemas.openxmlformats.org/drawingml/2006/main">
            <a:off x="590550" y="6000750"/>
            <a:ext cx="11001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144"/>
          </a:bodyPr>
          <a:lstStyle xmlns:a="http://schemas.openxmlformats.org/drawingml/2006/main"/>
          <a:p xmlns:a="http://schemas.openxmlformats.org/drawingml/2006/main">
            <a:pPr algn="ctr">
              <a:lnSpc>
                <a:spcPct val="104000"/>
              </a:lnSpc>
              <a:buNone/>
              <a:defRPr sz="1200" b="1">
                <a:solidFill>
                  <a:srgbClr val="E66A5C"/>
                </a:solidFill>
                <a:latin typeface="Helvetica Neue"/>
                <a:ea typeface="Helvetica Neue"/>
                <a:cs typeface="Helvetica Neue"/>
              </a:defRPr>
            </a:pPr>
            <a:r>
              <a:rPr sz="1200" b="1">
                <a:solidFill>
                  <a:srgbClr val="E66A5C"/>
                </a:solidFill>
                <a:latin typeface="Helvetica Neue"/>
                <a:ea typeface="Helvetica Neue"/>
                <a:cs typeface="Helvetica Neue"/>
              </a:rPr>
              <a:t>Demo dati nav klienta rezultāti</a:t>
            </a:r>
          </a:p>
        </p:txBody>
      </p:sp>
    </p:spTree>
    <p:extLst>
      <p:ext uri="{BB962C8B-B14F-4D97-AF65-F5344CB8AC3E}">
        <p14:creationId xmlns:p14="http://schemas.microsoft.com/office/powerpoint/2010/main" val="1438764199"/>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FA7A120-2813-4945-A5B0-4C1A3BE5F5BB}"/>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C4658BBD-50FC-4060-B89E-CFEC4FD9D5F3}"/>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408EDC17-11D9-4A94-B65F-3DF6DAFEF0F0}"/>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Attīstām spējas pa līmeņiem, nevis visu vienlaikus</a:t>
            </a:r>
          </a:p>
        </p:txBody>
      </p:sp>
      <p:sp>
        <p:nvSpPr>
          <p:cNvPr id="4" name="">
            <a:extLst xmlns:a="http://schemas.openxmlformats.org/drawingml/2006/main">
              <a:ext uri="{FF2B5EF4-FFF2-40B4-BE49-F238E27FC236}">
                <a16:creationId xmlns:a16="http://schemas.microsoft.com/office/drawing/2014/main" id="{0242255F-9974-4C5B-BBA7-7A1686FA60AC}"/>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Pašreizējais kodols atrodas starp automatizēšanu un saprašanu</a:t>
            </a:r>
          </a:p>
        </p:txBody>
      </p:sp>
      <p:sp>
        <p:nvSpPr>
          <p:cNvPr id="5" name="">
            <a:extLst xmlns:a="http://schemas.openxmlformats.org/drawingml/2006/main">
              <a:ext uri="{FF2B5EF4-FFF2-40B4-BE49-F238E27FC236}">
                <a16:creationId xmlns:a16="http://schemas.microsoft.com/office/drawing/2014/main" id="{F60FFECB-CF27-4144-9321-C93F6E058C1C}"/>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74EEBB-7BC9-458C-8D38-6EF052C96D5E}"/>
              </a:ext>
            </a:extLst>
          </p:cNvPr>
          <p:cNvSpPr>
            <a:spLocks xmlns:a="http://schemas.openxmlformats.org/drawingml/2006/main" noGrp="1"/>
          </p:cNvSpPr>
          <p:nvPr/>
        </p:nvSpPr>
        <p:spPr>
          <a:xfrm xmlns:a="http://schemas.openxmlformats.org/drawingml/2006/main">
            <a:off x="609600" y="1924050"/>
            <a:ext cx="476250" cy="47625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14A0DC21-3B4B-4EF1-94F8-6ECE13724CBA}"/>
              </a:ext>
            </a:extLst>
          </p:cNvPr>
          <p:cNvSpPr>
            <a:spLocks xmlns:a="http://schemas.openxmlformats.org/drawingml/2006/main" noGrp="1"/>
          </p:cNvSpPr>
          <p:nvPr/>
        </p:nvSpPr>
        <p:spPr>
          <a:xfrm xmlns:a="http://schemas.openxmlformats.org/drawingml/2006/main">
            <a:off x="1295400" y="19240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071525"/>
                </a:solidFill>
                <a:latin typeface="Helvetica Neue"/>
                <a:ea typeface="Helvetica Neue"/>
                <a:cs typeface="Helvetica Neue"/>
              </a:defRPr>
            </a:pPr>
            <a:r>
              <a:rPr sz="1500" b="1">
                <a:solidFill>
                  <a:srgbClr val="071525"/>
                </a:solidFill>
                <a:latin typeface="Helvetica Neue"/>
                <a:ea typeface="Helvetica Neue"/>
                <a:cs typeface="Helvetica Neue"/>
              </a:rPr>
              <a:t>AUTOMATIZĒT</a:t>
            </a:r>
          </a:p>
        </p:txBody>
      </p:sp>
      <p:sp>
        <p:nvSpPr>
          <p:cNvPr id="8" name="">
            <a:extLst xmlns:a="http://schemas.openxmlformats.org/drawingml/2006/main">
              <a:ext uri="{FF2B5EF4-FFF2-40B4-BE49-F238E27FC236}">
                <a16:creationId xmlns:a16="http://schemas.microsoft.com/office/drawing/2014/main" id="{6AF6F621-85F8-4F1F-9B84-6BAEC3F381E4}"/>
              </a:ext>
            </a:extLst>
          </p:cNvPr>
          <p:cNvSpPr>
            <a:spLocks xmlns:a="http://schemas.openxmlformats.org/drawingml/2006/main" noGrp="1"/>
          </p:cNvSpPr>
          <p:nvPr/>
        </p:nvSpPr>
        <p:spPr>
          <a:xfrm xmlns:a="http://schemas.openxmlformats.org/drawingml/2006/main">
            <a:off x="3476625" y="19240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0F172A"/>
                </a:solidFill>
                <a:latin typeface="Helvetica Neue"/>
                <a:ea typeface="Helvetica Neue"/>
                <a:cs typeface="Helvetica Neue"/>
              </a:defRPr>
            </a:pPr>
            <a:r>
              <a:rPr sz="1425" b="0">
                <a:solidFill>
                  <a:srgbClr val="0F172A"/>
                </a:solidFill>
                <a:latin typeface="Helvetica Neue"/>
                <a:ea typeface="Helvetica Neue"/>
                <a:cs typeface="Helvetica Neue"/>
              </a:rPr>
              <a:t>Nesakārtota informācija → strukturēti dati</a:t>
            </a:r>
          </a:p>
        </p:txBody>
      </p:sp>
      <p:sp>
        <p:nvSpPr>
          <p:cNvPr id="9" name="">
            <a:extLst xmlns:a="http://schemas.openxmlformats.org/drawingml/2006/main">
              <a:ext uri="{FF2B5EF4-FFF2-40B4-BE49-F238E27FC236}">
                <a16:creationId xmlns:a16="http://schemas.microsoft.com/office/drawing/2014/main" id="{7BAF1B77-7B9E-489B-8AF6-1537B9007BA4}"/>
              </a:ext>
            </a:extLst>
          </p:cNvPr>
          <p:cNvSpPr>
            <a:spLocks xmlns:a="http://schemas.openxmlformats.org/drawingml/2006/main" noGrp="1"/>
          </p:cNvSpPr>
          <p:nvPr/>
        </p:nvSpPr>
        <p:spPr>
          <a:xfrm xmlns:a="http://schemas.openxmlformats.org/drawingml/2006/main">
            <a:off x="8858250" y="2000250"/>
            <a:ext cx="2019300" cy="323850"/>
          </a:xfrm>
          <a:prstGeom xmlns:a="http://schemas.openxmlformats.org/drawingml/2006/main" prst="roundRect">
            <a:avLst>
              <a:gd name="adj" fmla="val 35294"/>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F8FAFC"/>
                </a:solidFill>
                <a:latin typeface="Helvetica Neue"/>
                <a:ea typeface="Helvetica Neue"/>
                <a:cs typeface="Helvetica Neue"/>
              </a:defRPr>
            </a:pPr>
            <a:r>
              <a:rPr sz="1050" b="1">
                <a:solidFill>
                  <a:srgbClr val="F8FAFC"/>
                </a:solidFill>
                <a:latin typeface="Helvetica Neue"/>
                <a:ea typeface="Helvetica Neue"/>
                <a:cs typeface="Helvetica Neue"/>
              </a:rPr>
              <a:t>REALIZĒTS PAMATS</a:t>
            </a:r>
          </a:p>
        </p:txBody>
      </p:sp>
      <p:sp>
        <p:nvSpPr>
          <p:cNvPr id="10" name="">
            <a:extLst xmlns:a="http://schemas.openxmlformats.org/drawingml/2006/main">
              <a:ext uri="{FF2B5EF4-FFF2-40B4-BE49-F238E27FC236}">
                <a16:creationId xmlns:a16="http://schemas.microsoft.com/office/drawing/2014/main" id="{3F2BA75B-1DFB-49E2-9DE9-BFD5A6D7DEF5}"/>
              </a:ext>
            </a:extLst>
          </p:cNvPr>
          <p:cNvSpPr>
            <a:spLocks xmlns:a="http://schemas.openxmlformats.org/drawingml/2006/main" noGrp="1"/>
          </p:cNvSpPr>
          <p:nvPr/>
        </p:nvSpPr>
        <p:spPr>
          <a:xfrm xmlns:a="http://schemas.openxmlformats.org/drawingml/2006/main">
            <a:off x="609600" y="2647950"/>
            <a:ext cx="476250" cy="47625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DB2EA6D1-C5AA-40EA-8C07-10C5CC82825E}"/>
              </a:ext>
            </a:extLst>
          </p:cNvPr>
          <p:cNvSpPr>
            <a:spLocks xmlns:a="http://schemas.openxmlformats.org/drawingml/2006/main" noGrp="1"/>
          </p:cNvSpPr>
          <p:nvPr/>
        </p:nvSpPr>
        <p:spPr>
          <a:xfrm xmlns:a="http://schemas.openxmlformats.org/drawingml/2006/main">
            <a:off x="1295400" y="26479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071525"/>
                </a:solidFill>
                <a:latin typeface="Helvetica Neue"/>
                <a:ea typeface="Helvetica Neue"/>
                <a:cs typeface="Helvetica Neue"/>
              </a:defRPr>
            </a:pPr>
            <a:r>
              <a:rPr sz="1500" b="1">
                <a:solidFill>
                  <a:srgbClr val="071525"/>
                </a:solidFill>
                <a:latin typeface="Helvetica Neue"/>
                <a:ea typeface="Helvetica Neue"/>
                <a:cs typeface="Helvetica Neue"/>
              </a:rPr>
              <a:t>SAPRAST</a:t>
            </a:r>
          </a:p>
        </p:txBody>
      </p:sp>
      <p:sp>
        <p:nvSpPr>
          <p:cNvPr id="12" name="">
            <a:extLst xmlns:a="http://schemas.openxmlformats.org/drawingml/2006/main">
              <a:ext uri="{FF2B5EF4-FFF2-40B4-BE49-F238E27FC236}">
                <a16:creationId xmlns:a16="http://schemas.microsoft.com/office/drawing/2014/main" id="{1260BCBD-A9B1-4C13-BC06-D9126CE1F905}"/>
              </a:ext>
            </a:extLst>
          </p:cNvPr>
          <p:cNvSpPr>
            <a:spLocks xmlns:a="http://schemas.openxmlformats.org/drawingml/2006/main" noGrp="1"/>
          </p:cNvSpPr>
          <p:nvPr/>
        </p:nvSpPr>
        <p:spPr>
          <a:xfrm xmlns:a="http://schemas.openxmlformats.org/drawingml/2006/main">
            <a:off x="3476625" y="26479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0F172A"/>
                </a:solidFill>
                <a:latin typeface="Helvetica Neue"/>
                <a:ea typeface="Helvetica Neue"/>
                <a:cs typeface="Helvetica Neue"/>
              </a:defRPr>
            </a:pPr>
            <a:r>
              <a:rPr sz="1425" b="0">
                <a:solidFill>
                  <a:srgbClr val="0F172A"/>
                </a:solidFill>
                <a:latin typeface="Helvetica Neue"/>
                <a:ea typeface="Helvetica Neue"/>
                <a:cs typeface="Helvetica Neue"/>
              </a:rPr>
              <a:t>KPI, trendi un pārbaudāmi insights</a:t>
            </a:r>
          </a:p>
        </p:txBody>
      </p:sp>
      <p:sp>
        <p:nvSpPr>
          <p:cNvPr id="13" name="">
            <a:extLst xmlns:a="http://schemas.openxmlformats.org/drawingml/2006/main">
              <a:ext uri="{FF2B5EF4-FFF2-40B4-BE49-F238E27FC236}">
                <a16:creationId xmlns:a16="http://schemas.microsoft.com/office/drawing/2014/main" id="{5D7A67EE-F34B-4079-92A2-D9417ACE80C2}"/>
              </a:ext>
            </a:extLst>
          </p:cNvPr>
          <p:cNvSpPr>
            <a:spLocks xmlns:a="http://schemas.openxmlformats.org/drawingml/2006/main" noGrp="1"/>
          </p:cNvSpPr>
          <p:nvPr/>
        </p:nvSpPr>
        <p:spPr>
          <a:xfrm xmlns:a="http://schemas.openxmlformats.org/drawingml/2006/main">
            <a:off x="8858250" y="2724150"/>
            <a:ext cx="2019300" cy="323850"/>
          </a:xfrm>
          <a:prstGeom xmlns:a="http://schemas.openxmlformats.org/drawingml/2006/main" prst="roundRect">
            <a:avLst>
              <a:gd name="adj" fmla="val 35294"/>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F8FAFC"/>
                </a:solidFill>
                <a:latin typeface="Helvetica Neue"/>
                <a:ea typeface="Helvetica Neue"/>
                <a:cs typeface="Helvetica Neue"/>
              </a:defRPr>
            </a:pPr>
            <a:r>
              <a:rPr sz="1050" b="1">
                <a:solidFill>
                  <a:srgbClr val="F8FAFC"/>
                </a:solidFill>
                <a:latin typeface="Helvetica Neue"/>
                <a:ea typeface="Helvetica Neue"/>
                <a:cs typeface="Helvetica Neue"/>
              </a:rPr>
              <a:t>REALIZĒTS PAMATS</a:t>
            </a:r>
          </a:p>
        </p:txBody>
      </p:sp>
      <p:sp>
        <p:nvSpPr>
          <p:cNvPr id="14" name="">
            <a:extLst xmlns:a="http://schemas.openxmlformats.org/drawingml/2006/main">
              <a:ext uri="{FF2B5EF4-FFF2-40B4-BE49-F238E27FC236}">
                <a16:creationId xmlns:a16="http://schemas.microsoft.com/office/drawing/2014/main" id="{8B679110-1EA7-445A-8F34-4C4BE85A2C40}"/>
              </a:ext>
            </a:extLst>
          </p:cNvPr>
          <p:cNvSpPr>
            <a:spLocks xmlns:a="http://schemas.openxmlformats.org/drawingml/2006/main" noGrp="1"/>
          </p:cNvSpPr>
          <p:nvPr/>
        </p:nvSpPr>
        <p:spPr>
          <a:xfrm xmlns:a="http://schemas.openxmlformats.org/drawingml/2006/main">
            <a:off x="609600" y="3371850"/>
            <a:ext cx="476250" cy="47625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64748B"/>
                </a:solidFill>
                <a:latin typeface="Helvetica Neue"/>
                <a:ea typeface="Helvetica Neue"/>
                <a:cs typeface="Helvetica Neue"/>
              </a:defRPr>
            </a:pPr>
            <a:r>
              <a:rPr sz="1575" b="1">
                <a:solidFill>
                  <a:srgbClr val="64748B"/>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22C8145A-6942-4526-9ADD-DF748C3AAF6D}"/>
              </a:ext>
            </a:extLst>
          </p:cNvPr>
          <p:cNvSpPr>
            <a:spLocks xmlns:a="http://schemas.openxmlformats.org/drawingml/2006/main" noGrp="1"/>
          </p:cNvSpPr>
          <p:nvPr/>
        </p:nvSpPr>
        <p:spPr>
          <a:xfrm xmlns:a="http://schemas.openxmlformats.org/drawingml/2006/main">
            <a:off x="1295400" y="33718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64748B"/>
                </a:solidFill>
                <a:latin typeface="Helvetica Neue"/>
                <a:ea typeface="Helvetica Neue"/>
                <a:cs typeface="Helvetica Neue"/>
              </a:defRPr>
            </a:pPr>
            <a:r>
              <a:rPr sz="1500" b="1">
                <a:solidFill>
                  <a:srgbClr val="64748B"/>
                </a:solidFill>
                <a:latin typeface="Helvetica Neue"/>
                <a:ea typeface="Helvetica Neue"/>
                <a:cs typeface="Helvetica Neue"/>
              </a:rPr>
              <a:t>IZSKAIDROT</a:t>
            </a:r>
          </a:p>
        </p:txBody>
      </p:sp>
      <p:sp>
        <p:nvSpPr>
          <p:cNvPr id="16" name="">
            <a:extLst xmlns:a="http://schemas.openxmlformats.org/drawingml/2006/main">
              <a:ext uri="{FF2B5EF4-FFF2-40B4-BE49-F238E27FC236}">
                <a16:creationId xmlns:a16="http://schemas.microsoft.com/office/drawing/2014/main" id="{FB0DFA44-C91D-44D5-BD51-FCDC23657054}"/>
              </a:ext>
            </a:extLst>
          </p:cNvPr>
          <p:cNvSpPr>
            <a:spLocks xmlns:a="http://schemas.openxmlformats.org/drawingml/2006/main" noGrp="1"/>
          </p:cNvSpPr>
          <p:nvPr/>
        </p:nvSpPr>
        <p:spPr>
          <a:xfrm xmlns:a="http://schemas.openxmlformats.org/drawingml/2006/main">
            <a:off x="3476625" y="33718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94A3B8"/>
                </a:solidFill>
                <a:latin typeface="Helvetica Neue"/>
                <a:ea typeface="Helvetica Neue"/>
                <a:cs typeface="Helvetica Neue"/>
              </a:defRPr>
            </a:pPr>
            <a:r>
              <a:rPr sz="1425" b="0">
                <a:solidFill>
                  <a:srgbClr val="94A3B8"/>
                </a:solidFill>
                <a:latin typeface="Helvetica Neue"/>
                <a:ea typeface="Helvetica Neue"/>
                <a:cs typeface="Helvetica Neue"/>
              </a:rPr>
              <a:t>AI Analyst virs aprēķinātiem faktiem</a:t>
            </a:r>
          </a:p>
        </p:txBody>
      </p:sp>
      <p:sp>
        <p:nvSpPr>
          <p:cNvPr id="17" name="">
            <a:extLst xmlns:a="http://schemas.openxmlformats.org/drawingml/2006/main">
              <a:ext uri="{FF2B5EF4-FFF2-40B4-BE49-F238E27FC236}">
                <a16:creationId xmlns:a16="http://schemas.microsoft.com/office/drawing/2014/main" id="{51557C36-B635-43CF-B576-4239ACE7D184}"/>
              </a:ext>
            </a:extLst>
          </p:cNvPr>
          <p:cNvSpPr>
            <a:spLocks xmlns:a="http://schemas.openxmlformats.org/drawingml/2006/main" noGrp="1"/>
          </p:cNvSpPr>
          <p:nvPr/>
        </p:nvSpPr>
        <p:spPr>
          <a:xfrm xmlns:a="http://schemas.openxmlformats.org/drawingml/2006/main">
            <a:off x="8858250" y="3448050"/>
            <a:ext cx="2019300" cy="323850"/>
          </a:xfrm>
          <a:prstGeom xmlns:a="http://schemas.openxmlformats.org/drawingml/2006/main" prst="roundRect">
            <a:avLst>
              <a:gd name="adj" fmla="val 35294"/>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18" name="">
            <a:extLst xmlns:a="http://schemas.openxmlformats.org/drawingml/2006/main">
              <a:ext uri="{FF2B5EF4-FFF2-40B4-BE49-F238E27FC236}">
                <a16:creationId xmlns:a16="http://schemas.microsoft.com/office/drawing/2014/main" id="{AF61B7C8-3EDF-4C33-AFD6-FA7E13332FBF}"/>
              </a:ext>
            </a:extLst>
          </p:cNvPr>
          <p:cNvSpPr>
            <a:spLocks xmlns:a="http://schemas.openxmlformats.org/drawingml/2006/main" noGrp="1"/>
          </p:cNvSpPr>
          <p:nvPr/>
        </p:nvSpPr>
        <p:spPr>
          <a:xfrm xmlns:a="http://schemas.openxmlformats.org/drawingml/2006/main">
            <a:off x="609600" y="4095750"/>
            <a:ext cx="476250" cy="47625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64748B"/>
                </a:solidFill>
                <a:latin typeface="Helvetica Neue"/>
                <a:ea typeface="Helvetica Neue"/>
                <a:cs typeface="Helvetica Neue"/>
              </a:defRPr>
            </a:pPr>
            <a:r>
              <a:rPr sz="1575" b="1">
                <a:solidFill>
                  <a:srgbClr val="64748B"/>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5A9E7459-6B8F-47EE-8691-AEED88A33552}"/>
              </a:ext>
            </a:extLst>
          </p:cNvPr>
          <p:cNvSpPr>
            <a:spLocks xmlns:a="http://schemas.openxmlformats.org/drawingml/2006/main" noGrp="1"/>
          </p:cNvSpPr>
          <p:nvPr/>
        </p:nvSpPr>
        <p:spPr>
          <a:xfrm xmlns:a="http://schemas.openxmlformats.org/drawingml/2006/main">
            <a:off x="1295400" y="40957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64748B"/>
                </a:solidFill>
                <a:latin typeface="Helvetica Neue"/>
                <a:ea typeface="Helvetica Neue"/>
                <a:cs typeface="Helvetica Neue"/>
              </a:defRPr>
            </a:pPr>
            <a:r>
              <a:rPr sz="1500" b="1">
                <a:solidFill>
                  <a:srgbClr val="64748B"/>
                </a:solidFill>
                <a:latin typeface="Helvetica Neue"/>
                <a:ea typeface="Helvetica Neue"/>
                <a:cs typeface="Helvetica Neue"/>
              </a:rPr>
              <a:t>PROGNOZĒT</a:t>
            </a:r>
          </a:p>
        </p:txBody>
      </p:sp>
      <p:sp>
        <p:nvSpPr>
          <p:cNvPr id="20" name="">
            <a:extLst xmlns:a="http://schemas.openxmlformats.org/drawingml/2006/main">
              <a:ext uri="{FF2B5EF4-FFF2-40B4-BE49-F238E27FC236}">
                <a16:creationId xmlns:a16="http://schemas.microsoft.com/office/drawing/2014/main" id="{13A8D283-2584-45DD-ABCB-1B87DF716FD0}"/>
              </a:ext>
            </a:extLst>
          </p:cNvPr>
          <p:cNvSpPr>
            <a:spLocks xmlns:a="http://schemas.openxmlformats.org/drawingml/2006/main" noGrp="1"/>
          </p:cNvSpPr>
          <p:nvPr/>
        </p:nvSpPr>
        <p:spPr>
          <a:xfrm xmlns:a="http://schemas.openxmlformats.org/drawingml/2006/main">
            <a:off x="3476625" y="40957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94A3B8"/>
                </a:solidFill>
                <a:latin typeface="Helvetica Neue"/>
                <a:ea typeface="Helvetica Neue"/>
                <a:cs typeface="Helvetica Neue"/>
              </a:defRPr>
            </a:pPr>
            <a:r>
              <a:rPr sz="1425" b="0">
                <a:solidFill>
                  <a:srgbClr val="94A3B8"/>
                </a:solidFill>
                <a:latin typeface="Helvetica Neue"/>
                <a:ea typeface="Helvetica Neue"/>
                <a:cs typeface="Helvetica Neue"/>
              </a:rPr>
              <a:t>Kas, visticamāk, notiks tālāk?</a:t>
            </a:r>
          </a:p>
        </p:txBody>
      </p:sp>
      <p:sp>
        <p:nvSpPr>
          <p:cNvPr id="21" name="">
            <a:extLst xmlns:a="http://schemas.openxmlformats.org/drawingml/2006/main">
              <a:ext uri="{FF2B5EF4-FFF2-40B4-BE49-F238E27FC236}">
                <a16:creationId xmlns:a16="http://schemas.microsoft.com/office/drawing/2014/main" id="{9C59EE4A-2529-43B5-8246-F86DEC95A570}"/>
              </a:ext>
            </a:extLst>
          </p:cNvPr>
          <p:cNvSpPr>
            <a:spLocks xmlns:a="http://schemas.openxmlformats.org/drawingml/2006/main" noGrp="1"/>
          </p:cNvSpPr>
          <p:nvPr/>
        </p:nvSpPr>
        <p:spPr>
          <a:xfrm xmlns:a="http://schemas.openxmlformats.org/drawingml/2006/main">
            <a:off x="8858250" y="4171950"/>
            <a:ext cx="2019300" cy="323850"/>
          </a:xfrm>
          <a:prstGeom xmlns:a="http://schemas.openxmlformats.org/drawingml/2006/main" prst="roundRect">
            <a:avLst>
              <a:gd name="adj" fmla="val 35294"/>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22" name="">
            <a:extLst xmlns:a="http://schemas.openxmlformats.org/drawingml/2006/main">
              <a:ext uri="{FF2B5EF4-FFF2-40B4-BE49-F238E27FC236}">
                <a16:creationId xmlns:a16="http://schemas.microsoft.com/office/drawing/2014/main" id="{6946C594-CD1A-44D3-9971-981B94AB0C86}"/>
              </a:ext>
            </a:extLst>
          </p:cNvPr>
          <p:cNvSpPr>
            <a:spLocks xmlns:a="http://schemas.openxmlformats.org/drawingml/2006/main" noGrp="1"/>
          </p:cNvSpPr>
          <p:nvPr/>
        </p:nvSpPr>
        <p:spPr>
          <a:xfrm xmlns:a="http://schemas.openxmlformats.org/drawingml/2006/main">
            <a:off x="609600" y="4819650"/>
            <a:ext cx="476250" cy="47625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64748B"/>
                </a:solidFill>
                <a:latin typeface="Helvetica Neue"/>
                <a:ea typeface="Helvetica Neue"/>
                <a:cs typeface="Helvetica Neue"/>
              </a:defRPr>
            </a:pPr>
            <a:r>
              <a:rPr sz="1575" b="1">
                <a:solidFill>
                  <a:srgbClr val="64748B"/>
                </a:solidFill>
                <a:latin typeface="Helvetica Neue"/>
                <a:ea typeface="Helvetica Neue"/>
                <a:cs typeface="Helvetica Neue"/>
              </a:rPr>
              <a:t>5</a:t>
            </a:r>
          </a:p>
        </p:txBody>
      </p:sp>
      <p:sp>
        <p:nvSpPr>
          <p:cNvPr id="23" name="">
            <a:extLst xmlns:a="http://schemas.openxmlformats.org/drawingml/2006/main">
              <a:ext uri="{FF2B5EF4-FFF2-40B4-BE49-F238E27FC236}">
                <a16:creationId xmlns:a16="http://schemas.microsoft.com/office/drawing/2014/main" id="{9A6CE7DB-1C43-4265-809D-DB3C6837EDD0}"/>
              </a:ext>
            </a:extLst>
          </p:cNvPr>
          <p:cNvSpPr>
            <a:spLocks xmlns:a="http://schemas.openxmlformats.org/drawingml/2006/main" noGrp="1"/>
          </p:cNvSpPr>
          <p:nvPr/>
        </p:nvSpPr>
        <p:spPr>
          <a:xfrm xmlns:a="http://schemas.openxmlformats.org/drawingml/2006/main">
            <a:off x="1295400" y="48196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64748B"/>
                </a:solidFill>
                <a:latin typeface="Helvetica Neue"/>
                <a:ea typeface="Helvetica Neue"/>
                <a:cs typeface="Helvetica Neue"/>
              </a:defRPr>
            </a:pPr>
            <a:r>
              <a:rPr sz="1500" b="1">
                <a:solidFill>
                  <a:srgbClr val="64748B"/>
                </a:solidFill>
                <a:latin typeface="Helvetica Neue"/>
                <a:ea typeface="Helvetica Neue"/>
                <a:cs typeface="Helvetica Neue"/>
              </a:rPr>
              <a:t>SIMULĒT</a:t>
            </a:r>
          </a:p>
        </p:txBody>
      </p:sp>
      <p:sp>
        <p:nvSpPr>
          <p:cNvPr id="24" name="">
            <a:extLst xmlns:a="http://schemas.openxmlformats.org/drawingml/2006/main">
              <a:ext uri="{FF2B5EF4-FFF2-40B4-BE49-F238E27FC236}">
                <a16:creationId xmlns:a16="http://schemas.microsoft.com/office/drawing/2014/main" id="{E0736D38-99CD-4020-99B3-E409D58010F5}"/>
              </a:ext>
            </a:extLst>
          </p:cNvPr>
          <p:cNvSpPr>
            <a:spLocks xmlns:a="http://schemas.openxmlformats.org/drawingml/2006/main" noGrp="1"/>
          </p:cNvSpPr>
          <p:nvPr/>
        </p:nvSpPr>
        <p:spPr>
          <a:xfrm xmlns:a="http://schemas.openxmlformats.org/drawingml/2006/main">
            <a:off x="3476625" y="48196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94A3B8"/>
                </a:solidFill>
                <a:latin typeface="Helvetica Neue"/>
                <a:ea typeface="Helvetica Neue"/>
                <a:cs typeface="Helvetica Neue"/>
              </a:defRPr>
            </a:pPr>
            <a:r>
              <a:rPr sz="1425" b="0">
                <a:solidFill>
                  <a:srgbClr val="94A3B8"/>
                </a:solidFill>
                <a:latin typeface="Helvetica Neue"/>
                <a:ea typeface="Helvetica Neue"/>
                <a:cs typeface="Helvetica Neue"/>
              </a:rPr>
              <a:t>FIN//TWIN: kas notiks, ja…?</a:t>
            </a:r>
          </a:p>
        </p:txBody>
      </p:sp>
      <p:sp>
        <p:nvSpPr>
          <p:cNvPr id="25" name="">
            <a:extLst xmlns:a="http://schemas.openxmlformats.org/drawingml/2006/main">
              <a:ext uri="{FF2B5EF4-FFF2-40B4-BE49-F238E27FC236}">
                <a16:creationId xmlns:a16="http://schemas.microsoft.com/office/drawing/2014/main" id="{322A7DA7-081B-4830-B614-3112E16BE1B3}"/>
              </a:ext>
            </a:extLst>
          </p:cNvPr>
          <p:cNvSpPr>
            <a:spLocks xmlns:a="http://schemas.openxmlformats.org/drawingml/2006/main" noGrp="1"/>
          </p:cNvSpPr>
          <p:nvPr/>
        </p:nvSpPr>
        <p:spPr>
          <a:xfrm xmlns:a="http://schemas.openxmlformats.org/drawingml/2006/main">
            <a:off x="8858250" y="4895850"/>
            <a:ext cx="2019300" cy="323850"/>
          </a:xfrm>
          <a:prstGeom xmlns:a="http://schemas.openxmlformats.org/drawingml/2006/main" prst="roundRect">
            <a:avLst>
              <a:gd name="adj" fmla="val 35294"/>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26" name="">
            <a:extLst xmlns:a="http://schemas.openxmlformats.org/drawingml/2006/main">
              <a:ext uri="{FF2B5EF4-FFF2-40B4-BE49-F238E27FC236}">
                <a16:creationId xmlns:a16="http://schemas.microsoft.com/office/drawing/2014/main" id="{97715454-39FD-4FF7-BCD3-09F522DEA324}"/>
              </a:ext>
            </a:extLst>
          </p:cNvPr>
          <p:cNvSpPr>
            <a:spLocks xmlns:a="http://schemas.openxmlformats.org/drawingml/2006/main" noGrp="1"/>
          </p:cNvSpPr>
          <p:nvPr/>
        </p:nvSpPr>
        <p:spPr>
          <a:xfrm xmlns:a="http://schemas.openxmlformats.org/drawingml/2006/main">
            <a:off x="600075" y="5838825"/>
            <a:ext cx="10715625"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DAD938C-98C3-49E9-8595-A582B6CC01FD}"/>
              </a:ext>
            </a:extLst>
          </p:cNvPr>
          <p:cNvSpPr>
            <a:spLocks xmlns:a="http://schemas.openxmlformats.org/drawingml/2006/main" noGrp="1"/>
          </p:cNvSpPr>
          <p:nvPr/>
        </p:nvSpPr>
        <p:spPr>
          <a:xfrm xmlns:a="http://schemas.openxmlformats.org/drawingml/2006/main">
            <a:off x="60007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M1–M4A</a:t>
            </a:r>
          </a:p>
          <a:p xmlns:a="http://schemas.openxmlformats.org/drawingml/2006/main">
            <a:pPr algn="ctr">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uzbūvēts</a:t>
            </a:r>
          </a:p>
        </p:txBody>
      </p:sp>
      <p:sp>
        <p:nvSpPr>
          <p:cNvPr id="28" name="">
            <a:extLst xmlns:a="http://schemas.openxmlformats.org/drawingml/2006/main">
              <a:ext uri="{FF2B5EF4-FFF2-40B4-BE49-F238E27FC236}">
                <a16:creationId xmlns:a16="http://schemas.microsoft.com/office/drawing/2014/main" id="{7E9DDEEB-C599-47AF-86F1-0ABAB0DA9E77}"/>
              </a:ext>
            </a:extLst>
          </p:cNvPr>
          <p:cNvSpPr>
            <a:spLocks xmlns:a="http://schemas.openxmlformats.org/drawingml/2006/main" noGrp="1"/>
          </p:cNvSpPr>
          <p:nvPr/>
        </p:nvSpPr>
        <p:spPr>
          <a:xfrm xmlns:a="http://schemas.openxmlformats.org/drawingml/2006/main">
            <a:off x="2381250" y="6172200"/>
            <a:ext cx="361950" cy="19050"/>
          </a:xfrm>
          <a:prstGeom xmlns:a="http://schemas.openxmlformats.org/drawingml/2006/main" prst="rect">
            <a:avLst/>
          </a:prstGeom>
          <a:solidFill xmlns:a="http://schemas.openxmlformats.org/drawingml/2006/main">
            <a:srgbClr val="38BD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41E701F-A0EE-4EAB-930E-65DCE6B2C919}"/>
              </a:ext>
            </a:extLst>
          </p:cNvPr>
          <p:cNvSpPr>
            <a:spLocks xmlns:a="http://schemas.openxmlformats.org/drawingml/2006/main" noGrp="1"/>
          </p:cNvSpPr>
          <p:nvPr/>
        </p:nvSpPr>
        <p:spPr>
          <a:xfrm xmlns:a="http://schemas.openxmlformats.org/drawingml/2006/main">
            <a:off x="275272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M3C</a:t>
            </a:r>
          </a:p>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Data Hub</a:t>
            </a:r>
          </a:p>
        </p:txBody>
      </p:sp>
      <p:sp>
        <p:nvSpPr>
          <p:cNvPr id="30" name="">
            <a:extLst xmlns:a="http://schemas.openxmlformats.org/drawingml/2006/main">
              <a:ext uri="{FF2B5EF4-FFF2-40B4-BE49-F238E27FC236}">
                <a16:creationId xmlns:a16="http://schemas.microsoft.com/office/drawing/2014/main" id="{C00D15DF-BF69-447E-9176-81F25E23297A}"/>
              </a:ext>
            </a:extLst>
          </p:cNvPr>
          <p:cNvSpPr>
            <a:spLocks xmlns:a="http://schemas.openxmlformats.org/drawingml/2006/main" noGrp="1"/>
          </p:cNvSpPr>
          <p:nvPr/>
        </p:nvSpPr>
        <p:spPr>
          <a:xfrm xmlns:a="http://schemas.openxmlformats.org/drawingml/2006/main">
            <a:off x="4533900" y="6172200"/>
            <a:ext cx="36195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732C19C-BD8D-449A-A5BB-E9BC6712B617}"/>
              </a:ext>
            </a:extLst>
          </p:cNvPr>
          <p:cNvSpPr>
            <a:spLocks xmlns:a="http://schemas.openxmlformats.org/drawingml/2006/main" noGrp="1"/>
          </p:cNvSpPr>
          <p:nvPr/>
        </p:nvSpPr>
        <p:spPr>
          <a:xfrm xmlns:a="http://schemas.openxmlformats.org/drawingml/2006/main">
            <a:off x="490537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M5</a:t>
            </a:r>
          </a:p>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AI Analyst</a:t>
            </a:r>
          </a:p>
        </p:txBody>
      </p:sp>
      <p:sp>
        <p:nvSpPr>
          <p:cNvPr id="32" name="">
            <a:extLst xmlns:a="http://schemas.openxmlformats.org/drawingml/2006/main">
              <a:ext uri="{FF2B5EF4-FFF2-40B4-BE49-F238E27FC236}">
                <a16:creationId xmlns:a16="http://schemas.microsoft.com/office/drawing/2014/main" id="{26FF8C48-2D59-4CBB-ADB3-408F8AD02477}"/>
              </a:ext>
            </a:extLst>
          </p:cNvPr>
          <p:cNvSpPr>
            <a:spLocks xmlns:a="http://schemas.openxmlformats.org/drawingml/2006/main" noGrp="1"/>
          </p:cNvSpPr>
          <p:nvPr/>
        </p:nvSpPr>
        <p:spPr>
          <a:xfrm xmlns:a="http://schemas.openxmlformats.org/drawingml/2006/main">
            <a:off x="6686550" y="6172200"/>
            <a:ext cx="36195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C2E3C6E-65DA-40FD-804C-550E01A06979}"/>
              </a:ext>
            </a:extLst>
          </p:cNvPr>
          <p:cNvSpPr>
            <a:spLocks xmlns:a="http://schemas.openxmlformats.org/drawingml/2006/main" noGrp="1"/>
          </p:cNvSpPr>
          <p:nvPr/>
        </p:nvSpPr>
        <p:spPr>
          <a:xfrm xmlns:a="http://schemas.openxmlformats.org/drawingml/2006/main">
            <a:off x="705802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M6</a:t>
            </a:r>
          </a:p>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FIN//TWIN</a:t>
            </a:r>
          </a:p>
        </p:txBody>
      </p:sp>
      <p:sp>
        <p:nvSpPr>
          <p:cNvPr id="34" name="">
            <a:extLst xmlns:a="http://schemas.openxmlformats.org/drawingml/2006/main">
              <a:ext uri="{FF2B5EF4-FFF2-40B4-BE49-F238E27FC236}">
                <a16:creationId xmlns:a16="http://schemas.microsoft.com/office/drawing/2014/main" id="{D6816239-FC10-40C3-B6E0-812A390ABFFD}"/>
              </a:ext>
            </a:extLst>
          </p:cNvPr>
          <p:cNvSpPr>
            <a:spLocks xmlns:a="http://schemas.openxmlformats.org/drawingml/2006/main" noGrp="1"/>
          </p:cNvSpPr>
          <p:nvPr/>
        </p:nvSpPr>
        <p:spPr>
          <a:xfrm xmlns:a="http://schemas.openxmlformats.org/drawingml/2006/main">
            <a:off x="8839200" y="6172200"/>
            <a:ext cx="36195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ABFC4A9-7D50-4ABB-8F98-27C162E410B6}"/>
              </a:ext>
            </a:extLst>
          </p:cNvPr>
          <p:cNvSpPr>
            <a:spLocks xmlns:a="http://schemas.openxmlformats.org/drawingml/2006/main" noGrp="1"/>
          </p:cNvSpPr>
          <p:nvPr/>
        </p:nvSpPr>
        <p:spPr>
          <a:xfrm xmlns:a="http://schemas.openxmlformats.org/drawingml/2006/main">
            <a:off x="921067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M7</a:t>
            </a:r>
          </a:p>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Integrācijas</a:t>
            </a:r>
          </a:p>
        </p:txBody>
      </p:sp>
    </p:spTree>
    <p:extLst>
      <p:ext uri="{BB962C8B-B14F-4D97-AF65-F5344CB8AC3E}">
        <p14:creationId xmlns:p14="http://schemas.microsoft.com/office/powerpoint/2010/main" val="748681186"/>
      </p:ext>
    </p:extLst>
  </p:cSld>
</p:sld>
</file>

<file path=ppt/slides/slide1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BDDA042-4F75-456C-BE40-96471051B6F0}"/>
              </a:ext>
            </a:extLst>
          </p:cNvPr>
          <p:cNvSpPr>
            <a:spLocks xmlns:a="http://schemas.openxmlformats.org/drawingml/2006/main" noGrp="1"/>
          </p:cNvSpPr>
          <p:nvPr/>
        </p:nvSpPr>
        <p:spPr>
          <a:xfrm xmlns:a="http://schemas.openxmlformats.org/drawingml/2006/main">
            <a:off x="552450" y="4762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3172"/>
          </a:bodyPr>
          <a:lstStyle xmlns:a="http://schemas.openxmlformats.org/drawingml/2006/main"/>
          <a:p xmlns:a="http://schemas.openxmlformats.org/drawingml/2006/main">
            <a:pPr algn="l">
              <a:lnSpc>
                <a:spcPct val="104000"/>
              </a:lnSpc>
              <a:buNone/>
              <a:defRPr sz="3225" b="1">
                <a:solidFill>
                  <a:srgbClr val="F8FAFC"/>
                </a:solidFill>
                <a:latin typeface="Helvetica Neue"/>
                <a:ea typeface="Helvetica Neue"/>
                <a:cs typeface="Helvetica Neue"/>
              </a:defRPr>
            </a:pPr>
            <a:r>
              <a:rPr sz="3225" b="1">
                <a:solidFill>
                  <a:srgbClr val="F8FAFC"/>
                </a:solidFill>
                <a:latin typeface="Helvetica Neue"/>
                <a:ea typeface="Helvetica Neue"/>
                <a:cs typeface="Helvetica Neue"/>
              </a:rPr>
              <a:t>Pirmais MVP: šaurs, izmērāms, testējams</a:t>
            </a:r>
          </a:p>
        </p:txBody>
      </p:sp>
      <p:sp>
        <p:nvSpPr>
          <p:cNvPr id="2" name="">
            <a:extLst xmlns:a="http://schemas.openxmlformats.org/drawingml/2006/main">
              <a:ext uri="{FF2B5EF4-FFF2-40B4-BE49-F238E27FC236}">
                <a16:creationId xmlns:a16="http://schemas.microsoft.com/office/drawing/2014/main" id="{E5E414C1-F27F-4578-8D98-E05661B9E50C}"/>
              </a:ext>
            </a:extLst>
          </p:cNvPr>
          <p:cNvSpPr>
            <a:spLocks xmlns:a="http://schemas.openxmlformats.org/drawingml/2006/main" noGrp="1"/>
          </p:cNvSpPr>
          <p:nvPr/>
        </p:nvSpPr>
        <p:spPr>
          <a:xfrm xmlns:a="http://schemas.openxmlformats.org/drawingml/2006/main">
            <a:off x="571500" y="11239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4697"/>
          </a:bodyPr>
          <a:lstStyle xmlns:a="http://schemas.openxmlformats.org/drawingml/2006/main"/>
          <a:p xmlns:a="http://schemas.openxmlformats.org/drawingml/2006/main">
            <a:pPr algn="l">
              <a:lnSpc>
                <a:spcPct val="104000"/>
              </a:lnSpc>
              <a:buNone/>
              <a:defRPr sz="1650" b="0">
                <a:solidFill>
                  <a:srgbClr val="7DD3FC"/>
                </a:solidFill>
                <a:latin typeface="Helvetica Neue"/>
                <a:ea typeface="Helvetica Neue"/>
                <a:cs typeface="Helvetica Neue"/>
              </a:defRPr>
            </a:pPr>
            <a:r>
              <a:rPr sz="1650" b="0">
                <a:solidFill>
                  <a:srgbClr val="7DD3FC"/>
                </a:solidFill>
                <a:latin typeface="Helvetica Neue"/>
                <a:ea typeface="Helvetica Neue"/>
                <a:cs typeface="Helvetica Neue"/>
              </a:rPr>
              <a:t>Lai pārbaudītu TWIN vērtību, mums nav jāuzbūvē gala TWIN.</a:t>
            </a:r>
          </a:p>
        </p:txBody>
      </p:sp>
      <p:sp>
        <p:nvSpPr>
          <p:cNvPr id="3" name="">
            <a:extLst xmlns:a="http://schemas.openxmlformats.org/drawingml/2006/main">
              <a:ext uri="{FF2B5EF4-FFF2-40B4-BE49-F238E27FC236}">
                <a16:creationId xmlns:a16="http://schemas.microsoft.com/office/drawing/2014/main" id="{9D2F726A-41EA-41F5-80FF-C8411642AE55}"/>
              </a:ext>
            </a:extLst>
          </p:cNvPr>
          <p:cNvSpPr>
            <a:spLocks xmlns:a="http://schemas.openxmlformats.org/drawingml/2006/main" noGrp="1"/>
          </p:cNvSpPr>
          <p:nvPr/>
        </p:nvSpPr>
        <p:spPr>
          <a:xfrm xmlns:a="http://schemas.openxmlformats.org/drawingml/2006/main">
            <a:off x="600075" y="1952625"/>
            <a:ext cx="3314700" cy="2667000"/>
          </a:xfrm>
          <a:prstGeom xmlns:a="http://schemas.openxmlformats.org/drawingml/2006/main" prst="roundRect">
            <a:avLst>
              <a:gd name="adj" fmla="val 5000"/>
            </a:avLst>
          </a:prstGeom>
          <a:solidFill xmlns:a="http://schemas.openxmlformats.org/drawingml/2006/main">
            <a:srgbClr val="102A44"/>
          </a:solidFill>
          <a:ln xmlns:a="http://schemas.openxmlformats.org/drawingml/2006/main" w="9525">
            <a:solidFill>
              <a:srgbClr val="244A6B"/>
            </a:solidFill>
            <a:prstDash val="solid"/>
          </a:ln>
        </p:spPr>
      </p:sp>
      <p:sp>
        <p:nvSpPr>
          <p:cNvPr id="4" name="">
            <a:extLst xmlns:a="http://schemas.openxmlformats.org/drawingml/2006/main">
              <a:ext uri="{FF2B5EF4-FFF2-40B4-BE49-F238E27FC236}">
                <a16:creationId xmlns:a16="http://schemas.microsoft.com/office/drawing/2014/main" id="{F55D2981-4972-4AF7-A915-4AB1F273C6F2}"/>
              </a:ext>
            </a:extLst>
          </p:cNvPr>
          <p:cNvSpPr>
            <a:spLocks xmlns:a="http://schemas.openxmlformats.org/drawingml/2006/main" noGrp="1"/>
          </p:cNvSpPr>
          <p:nvPr/>
        </p:nvSpPr>
        <p:spPr>
          <a:xfrm xmlns:a="http://schemas.openxmlformats.org/drawingml/2006/main">
            <a:off x="790575"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INPUT</a:t>
            </a:r>
          </a:p>
        </p:txBody>
      </p:sp>
      <p:sp>
        <p:nvSpPr>
          <p:cNvPr id="5" name="">
            <a:extLst xmlns:a="http://schemas.openxmlformats.org/drawingml/2006/main">
              <a:ext uri="{FF2B5EF4-FFF2-40B4-BE49-F238E27FC236}">
                <a16:creationId xmlns:a16="http://schemas.microsoft.com/office/drawing/2014/main" id="{AB904C3B-1922-4D7A-BC1E-D2107A5F222B}"/>
              </a:ext>
            </a:extLst>
          </p:cNvPr>
          <p:cNvSpPr>
            <a:spLocks xmlns:a="http://schemas.openxmlformats.org/drawingml/2006/main" noGrp="1"/>
          </p:cNvSpPr>
          <p:nvPr/>
        </p:nvSpPr>
        <p:spPr>
          <a:xfrm xmlns:a="http://schemas.openxmlformats.org/drawingml/2006/main">
            <a:off x="790575" y="2466975"/>
            <a:ext cx="29337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Excel / CSV</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Invoice PDF</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Bill of Lading PDF</a:t>
            </a:r>
          </a:p>
        </p:txBody>
      </p:sp>
      <p:sp>
        <p:nvSpPr>
          <p:cNvPr id="6" name="">
            <a:extLst xmlns:a="http://schemas.openxmlformats.org/drawingml/2006/main">
              <a:ext uri="{FF2B5EF4-FFF2-40B4-BE49-F238E27FC236}">
                <a16:creationId xmlns:a16="http://schemas.microsoft.com/office/drawing/2014/main" id="{3834A0D4-98AD-4551-BE00-26446EF286C3}"/>
              </a:ext>
            </a:extLst>
          </p:cNvPr>
          <p:cNvSpPr>
            <a:spLocks xmlns:a="http://schemas.openxmlformats.org/drawingml/2006/main" noGrp="1"/>
          </p:cNvSpPr>
          <p:nvPr/>
        </p:nvSpPr>
        <p:spPr>
          <a:xfrm xmlns:a="http://schemas.openxmlformats.org/drawingml/2006/main">
            <a:off x="4286250" y="1952625"/>
            <a:ext cx="3314700" cy="2667000"/>
          </a:xfrm>
          <a:prstGeom xmlns:a="http://schemas.openxmlformats.org/drawingml/2006/main" prst="roundRect">
            <a:avLst>
              <a:gd name="adj" fmla="val 5000"/>
            </a:avLst>
          </a:prstGeom>
          <a:solidFill xmlns:a="http://schemas.openxmlformats.org/drawingml/2006/main">
            <a:srgbClr val="38BDF8"/>
          </a:solidFill>
          <a:ln xmlns:a="http://schemas.openxmlformats.org/drawingml/2006/main" w="9525">
            <a:solidFill>
              <a:srgbClr val="38BDF8"/>
            </a:solidFill>
            <a:prstDash val="solid"/>
          </a:ln>
        </p:spPr>
      </p:sp>
      <p:sp>
        <p:nvSpPr>
          <p:cNvPr id="7" name="">
            <a:extLst xmlns:a="http://schemas.openxmlformats.org/drawingml/2006/main">
              <a:ext uri="{FF2B5EF4-FFF2-40B4-BE49-F238E27FC236}">
                <a16:creationId xmlns:a16="http://schemas.microsoft.com/office/drawing/2014/main" id="{295B2ED0-0F53-4267-8CA7-B11D5E0A5624}"/>
              </a:ext>
            </a:extLst>
          </p:cNvPr>
          <p:cNvSpPr>
            <a:spLocks xmlns:a="http://schemas.openxmlformats.org/drawingml/2006/main" noGrp="1"/>
          </p:cNvSpPr>
          <p:nvPr/>
        </p:nvSpPr>
        <p:spPr>
          <a:xfrm xmlns:a="http://schemas.openxmlformats.org/drawingml/2006/main">
            <a:off x="4476750"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CORE</a:t>
            </a:r>
          </a:p>
        </p:txBody>
      </p:sp>
      <p:sp>
        <p:nvSpPr>
          <p:cNvPr id="8" name="">
            <a:extLst xmlns:a="http://schemas.openxmlformats.org/drawingml/2006/main">
              <a:ext uri="{FF2B5EF4-FFF2-40B4-BE49-F238E27FC236}">
                <a16:creationId xmlns:a16="http://schemas.microsoft.com/office/drawing/2014/main" id="{2EB8EDE1-7DB1-41BF-A8E9-0412103F2A8E}"/>
              </a:ext>
            </a:extLst>
          </p:cNvPr>
          <p:cNvSpPr>
            <a:spLocks xmlns:a="http://schemas.openxmlformats.org/drawingml/2006/main" noGrp="1"/>
          </p:cNvSpPr>
          <p:nvPr/>
        </p:nvSpPr>
        <p:spPr>
          <a:xfrm xmlns:a="http://schemas.openxmlformats.org/drawingml/2006/main">
            <a:off x="4476750" y="2466975"/>
            <a:ext cx="29337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650" b="0">
                <a:solidFill>
                  <a:srgbClr val="123A63"/>
                </a:solidFill>
                <a:latin typeface="Helvetica Neue"/>
                <a:ea typeface="Helvetica Neue"/>
                <a:cs typeface="Helvetica Neue"/>
              </a:defRPr>
            </a:pPr>
            <a:r>
              <a:rPr sz="1650" b="0">
                <a:solidFill>
                  <a:srgbClr val="123A63"/>
                </a:solidFill>
                <a:latin typeface="Helvetica Neue"/>
                <a:ea typeface="Helvetica Neue"/>
                <a:cs typeface="Helvetica Neue"/>
              </a:rPr>
              <a:t>Vienots datu modelis</a:t>
            </a:r>
          </a:p>
          <a:p xmlns:a="http://schemas.openxmlformats.org/drawingml/2006/main">
            <a:pPr algn="l">
              <a:lnSpc>
                <a:spcPct val="110000"/>
              </a:lnSpc>
              <a:buNone/>
              <a:defRPr sz="1650" b="0">
                <a:solidFill>
                  <a:srgbClr val="123A63"/>
                </a:solidFill>
                <a:latin typeface="Helvetica Neue"/>
                <a:ea typeface="Helvetica Neue"/>
                <a:cs typeface="Helvetica Neue"/>
              </a:defRPr>
            </a:pPr>
            <a:r>
              <a:rPr sz="1650" b="0">
                <a:solidFill>
                  <a:srgbClr val="123A63"/>
                </a:solidFill>
                <a:latin typeface="Helvetica Neue"/>
                <a:ea typeface="Helvetica Neue"/>
                <a:cs typeface="Helvetica Neue"/>
              </a:rPr>
              <a:t>Normalizācija un validācija</a:t>
            </a:r>
          </a:p>
          <a:p xmlns:a="http://schemas.openxmlformats.org/drawingml/2006/main">
            <a:pPr algn="l">
              <a:lnSpc>
                <a:spcPct val="110000"/>
              </a:lnSpc>
              <a:buNone/>
              <a:defRPr sz="1650" b="0">
                <a:solidFill>
                  <a:srgbClr val="123A63"/>
                </a:solidFill>
                <a:latin typeface="Helvetica Neue"/>
                <a:ea typeface="Helvetica Neue"/>
                <a:cs typeface="Helvetica Neue"/>
              </a:defRPr>
            </a:pPr>
            <a:r>
              <a:rPr sz="1650" b="0">
                <a:solidFill>
                  <a:srgbClr val="123A63"/>
                </a:solidFill>
                <a:latin typeface="Helvetica Neue"/>
                <a:ea typeface="Helvetica Neue"/>
                <a:cs typeface="Helvetica Neue"/>
              </a:rPr>
              <a:t>Cilvēka review</a:t>
            </a:r>
          </a:p>
          <a:p xmlns:a="http://schemas.openxmlformats.org/drawingml/2006/main">
            <a:pPr algn="l">
              <a:lnSpc>
                <a:spcPct val="110000"/>
              </a:lnSpc>
              <a:buNone/>
              <a:defRPr sz="1650" b="0">
                <a:solidFill>
                  <a:srgbClr val="123A63"/>
                </a:solidFill>
                <a:latin typeface="Helvetica Neue"/>
                <a:ea typeface="Helvetica Neue"/>
                <a:cs typeface="Helvetica Neue"/>
              </a:defRPr>
            </a:pPr>
            <a:r>
              <a:rPr sz="1650" b="0">
                <a:solidFill>
                  <a:srgbClr val="123A63"/>
                </a:solidFill>
                <a:latin typeface="Helvetica Neue"/>
                <a:ea typeface="Helvetica Neue"/>
                <a:cs typeface="Helvetica Neue"/>
              </a:rPr>
              <a:t>Provenance</a:t>
            </a:r>
          </a:p>
        </p:txBody>
      </p:sp>
      <p:sp>
        <p:nvSpPr>
          <p:cNvPr id="9" name="">
            <a:extLst xmlns:a="http://schemas.openxmlformats.org/drawingml/2006/main">
              <a:ext uri="{FF2B5EF4-FFF2-40B4-BE49-F238E27FC236}">
                <a16:creationId xmlns:a16="http://schemas.microsoft.com/office/drawing/2014/main" id="{9CF3652E-27B4-4C88-B95C-2523AFB22E10}"/>
              </a:ext>
            </a:extLst>
          </p:cNvPr>
          <p:cNvSpPr>
            <a:spLocks xmlns:a="http://schemas.openxmlformats.org/drawingml/2006/main" noGrp="1"/>
          </p:cNvSpPr>
          <p:nvPr/>
        </p:nvSpPr>
        <p:spPr>
          <a:xfrm xmlns:a="http://schemas.openxmlformats.org/drawingml/2006/main">
            <a:off x="7972425" y="1952625"/>
            <a:ext cx="3314700" cy="2667000"/>
          </a:xfrm>
          <a:prstGeom xmlns:a="http://schemas.openxmlformats.org/drawingml/2006/main" prst="roundRect">
            <a:avLst>
              <a:gd name="adj" fmla="val 5000"/>
            </a:avLst>
          </a:prstGeom>
          <a:solidFill xmlns:a="http://schemas.openxmlformats.org/drawingml/2006/main">
            <a:srgbClr val="102A44"/>
          </a:solidFill>
          <a:ln xmlns:a="http://schemas.openxmlformats.org/drawingml/2006/main" w="9525">
            <a:solidFill>
              <a:srgbClr val="244A6B"/>
            </a:solidFill>
            <a:prstDash val="solid"/>
          </a:ln>
        </p:spPr>
      </p:sp>
      <p:sp>
        <p:nvSpPr>
          <p:cNvPr id="10" name="">
            <a:extLst xmlns:a="http://schemas.openxmlformats.org/drawingml/2006/main">
              <a:ext uri="{FF2B5EF4-FFF2-40B4-BE49-F238E27FC236}">
                <a16:creationId xmlns:a16="http://schemas.microsoft.com/office/drawing/2014/main" id="{45C7BC73-295E-4F12-B2A4-D056EC550EEF}"/>
              </a:ext>
            </a:extLst>
          </p:cNvPr>
          <p:cNvSpPr>
            <a:spLocks xmlns:a="http://schemas.openxmlformats.org/drawingml/2006/main" noGrp="1"/>
          </p:cNvSpPr>
          <p:nvPr/>
        </p:nvSpPr>
        <p:spPr>
          <a:xfrm xmlns:a="http://schemas.openxmlformats.org/drawingml/2006/main">
            <a:off x="8162925"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OUTPUT</a:t>
            </a:r>
          </a:p>
        </p:txBody>
      </p:sp>
      <p:sp>
        <p:nvSpPr>
          <p:cNvPr id="11" name="">
            <a:extLst xmlns:a="http://schemas.openxmlformats.org/drawingml/2006/main">
              <a:ext uri="{FF2B5EF4-FFF2-40B4-BE49-F238E27FC236}">
                <a16:creationId xmlns:a16="http://schemas.microsoft.com/office/drawing/2014/main" id="{D8264C43-B3AA-4F62-BB10-291E7FFADFF0}"/>
              </a:ext>
            </a:extLst>
          </p:cNvPr>
          <p:cNvSpPr>
            <a:spLocks xmlns:a="http://schemas.openxmlformats.org/drawingml/2006/main" noGrp="1"/>
          </p:cNvSpPr>
          <p:nvPr/>
        </p:nvSpPr>
        <p:spPr>
          <a:xfrm xmlns:a="http://schemas.openxmlformats.org/drawingml/2006/main">
            <a:off x="8162925" y="2466975"/>
            <a:ext cx="29337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Shipment visibility</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Finanšu pārskats</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Operacionālie KPI</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Pamata insights</a:t>
            </a:r>
          </a:p>
        </p:txBody>
      </p:sp>
      <p:sp>
        <p:nvSpPr>
          <p:cNvPr id="12" name="">
            <a:extLst xmlns:a="http://schemas.openxmlformats.org/drawingml/2006/main">
              <a:ext uri="{FF2B5EF4-FFF2-40B4-BE49-F238E27FC236}">
                <a16:creationId xmlns:a16="http://schemas.microsoft.com/office/drawing/2014/main" id="{F038B628-8002-4335-BB03-4551F94F5B67}"/>
              </a:ext>
            </a:extLst>
          </p:cNvPr>
          <p:cNvSpPr>
            <a:spLocks xmlns:a="http://schemas.openxmlformats.org/drawingml/2006/main" noGrp="1"/>
          </p:cNvSpPr>
          <p:nvPr/>
        </p:nvSpPr>
        <p:spPr>
          <a:xfrm xmlns:a="http://schemas.openxmlformats.org/drawingml/2006/main">
            <a:off x="609600" y="5010150"/>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125" b="1">
                <a:solidFill>
                  <a:srgbClr val="E66A5C"/>
                </a:solidFill>
                <a:latin typeface="Helvetica Neue"/>
                <a:ea typeface="Helvetica Neue"/>
                <a:cs typeface="Helvetica Neue"/>
              </a:defRPr>
            </a:pPr>
            <a:r>
              <a:rPr sz="1125" b="1">
                <a:solidFill>
                  <a:srgbClr val="E66A5C"/>
                </a:solidFill>
                <a:latin typeface="Helvetica Neue"/>
                <a:ea typeface="Helvetica Neue"/>
                <a:cs typeface="Helvetica Neue"/>
              </a:rPr>
              <a:t>MVP NAV</a:t>
            </a:r>
          </a:p>
        </p:txBody>
      </p:sp>
      <p:sp>
        <p:nvSpPr>
          <p:cNvPr id="13" name="">
            <a:extLst xmlns:a="http://schemas.openxmlformats.org/drawingml/2006/main">
              <a:ext uri="{FF2B5EF4-FFF2-40B4-BE49-F238E27FC236}">
                <a16:creationId xmlns:a16="http://schemas.microsoft.com/office/drawing/2014/main" id="{8DA99314-8336-4D3A-A96C-A461F94766C2}"/>
              </a:ext>
            </a:extLst>
          </p:cNvPr>
          <p:cNvSpPr>
            <a:spLocks xmlns:a="http://schemas.openxmlformats.org/drawingml/2006/main" noGrp="1"/>
          </p:cNvSpPr>
          <p:nvPr/>
        </p:nvSpPr>
        <p:spPr>
          <a:xfrm xmlns:a="http://schemas.openxmlformats.org/drawingml/2006/main">
            <a:off x="1733550" y="4914900"/>
            <a:ext cx="948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0">
                <a:solidFill>
                  <a:srgbClr val="F8FAFC"/>
                </a:solidFill>
                <a:latin typeface="Helvetica Neue"/>
                <a:ea typeface="Helvetica Neue"/>
                <a:cs typeface="Helvetica Neue"/>
              </a:defRPr>
            </a:pPr>
            <a:r>
              <a:rPr sz="1500" b="0">
                <a:solidFill>
                  <a:srgbClr val="F8FAFC"/>
                </a:solidFill>
                <a:latin typeface="Helvetica Neue"/>
                <a:ea typeface="Helvetica Neue"/>
                <a:cs typeface="Helvetica Neue"/>
              </a:rPr>
              <a:t>katrs ERP/TMS  •  visi dokumenti  •  AI chat  •  predictive ML  •  Monte Carlo  •  pilna automatizācija</a:t>
            </a:r>
          </a:p>
        </p:txBody>
      </p:sp>
      <p:sp>
        <p:nvSpPr>
          <p:cNvPr id="14" name="">
            <a:extLst xmlns:a="http://schemas.openxmlformats.org/drawingml/2006/main">
              <a:ext uri="{FF2B5EF4-FFF2-40B4-BE49-F238E27FC236}">
                <a16:creationId xmlns:a16="http://schemas.microsoft.com/office/drawing/2014/main" id="{F82D836E-A3E9-4A84-82CD-E3BE0EB36BA6}"/>
              </a:ext>
            </a:extLst>
          </p:cNvPr>
          <p:cNvSpPr>
            <a:spLocks xmlns:a="http://schemas.openxmlformats.org/drawingml/2006/main" noGrp="1"/>
          </p:cNvSpPr>
          <p:nvPr/>
        </p:nvSpPr>
        <p:spPr>
          <a:xfrm xmlns:a="http://schemas.openxmlformats.org/drawingml/2006/main">
            <a:off x="609600" y="5772150"/>
            <a:ext cx="10601325" cy="457200"/>
          </a:xfrm>
          <a:prstGeom xmlns:a="http://schemas.openxmlformats.org/drawingml/2006/main" prst="roundRect">
            <a:avLst>
              <a:gd name="adj" fmla="val 20833"/>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71525"/>
                </a:solidFill>
                <a:latin typeface="Helvetica Neue"/>
                <a:ea typeface="Helvetica Neue"/>
                <a:cs typeface="Helvetica Neue"/>
              </a:defRPr>
            </a:pPr>
            <a:r>
              <a:rPr sz="1350" b="1">
                <a:solidFill>
                  <a:srgbClr val="071525"/>
                </a:solidFill>
                <a:latin typeface="Helvetica Neue"/>
                <a:ea typeface="Helvetica Neue"/>
                <a:cs typeface="Helvetica Neue"/>
              </a:rPr>
              <a:t>LIELA VĪZIJA  →  ŠAURA NOZARE  →  KONKRĒTA PROBLĒMA  →  MAZS MVP  →  REĀLA KLIENTA VALIDĀCIJA</a:t>
            </a:r>
          </a:p>
        </p:txBody>
      </p:sp>
    </p:spTree>
    <p:extLst>
      <p:ext uri="{BB962C8B-B14F-4D97-AF65-F5344CB8AC3E}">
        <p14:creationId xmlns:p14="http://schemas.microsoft.com/office/powerpoint/2010/main" val="1278130538"/>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BF03D8-31DD-49D3-AF00-1D5A7F26E709}"/>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8AB5E6CB-B564-41FA-8B59-FB3D380E4C2D}"/>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2149697A-C2C6-483E-AE15-21E7571DAB60}"/>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3403"/>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Nākamais mērķis: pierādīt vajadzību, nevis spēju būvēt</a:t>
            </a:r>
          </a:p>
        </p:txBody>
      </p:sp>
      <p:sp>
        <p:nvSpPr>
          <p:cNvPr id="4" name="">
            <a:extLst xmlns:a="http://schemas.openxmlformats.org/drawingml/2006/main">
              <a:ext uri="{FF2B5EF4-FFF2-40B4-BE49-F238E27FC236}">
                <a16:creationId xmlns:a16="http://schemas.microsoft.com/office/drawing/2014/main" id="{A3910C96-96B2-4AD8-8C89-38D332012036}"/>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Praktisks tirgus izpētes plāns un komandas lēmuma kritēriji</a:t>
            </a:r>
          </a:p>
        </p:txBody>
      </p:sp>
      <p:sp>
        <p:nvSpPr>
          <p:cNvPr id="5" name="">
            <a:extLst xmlns:a="http://schemas.openxmlformats.org/drawingml/2006/main">
              <a:ext uri="{FF2B5EF4-FFF2-40B4-BE49-F238E27FC236}">
                <a16:creationId xmlns:a16="http://schemas.microsoft.com/office/drawing/2014/main" id="{EE74EB6A-B906-42E9-B97C-684485CC558A}"/>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F82BF9-C2E4-4D6E-97A1-AFCAFD83CCAE}"/>
              </a:ext>
            </a:extLst>
          </p:cNvPr>
          <p:cNvSpPr>
            <a:spLocks xmlns:a="http://schemas.openxmlformats.org/drawingml/2006/main" noGrp="1"/>
          </p:cNvSpPr>
          <p:nvPr/>
        </p:nvSpPr>
        <p:spPr>
          <a:xfrm xmlns:a="http://schemas.openxmlformats.org/drawingml/2006/main">
            <a:off x="590550" y="1952625"/>
            <a:ext cx="3314700" cy="2857500"/>
          </a:xfrm>
          <a:prstGeom xmlns:a="http://schemas.openxmlformats.org/drawingml/2006/main" prst="roundRect">
            <a:avLst>
              <a:gd name="adj" fmla="val 4667"/>
            </a:avLst>
          </a:prstGeom>
          <a:solidFill xmlns:a="http://schemas.openxmlformats.org/drawingml/2006/main">
            <a:srgbClr val="EAF4FA"/>
          </a:solidFill>
          <a:ln xmlns:a="http://schemas.openxmlformats.org/drawingml/2006/main" w="9525">
            <a:solidFill>
              <a:srgbClr val="38BDF8"/>
            </a:solidFill>
            <a:prstDash val="solid"/>
          </a:ln>
        </p:spPr>
      </p:sp>
      <p:sp>
        <p:nvSpPr>
          <p:cNvPr id="7" name="">
            <a:extLst xmlns:a="http://schemas.openxmlformats.org/drawingml/2006/main">
              <a:ext uri="{FF2B5EF4-FFF2-40B4-BE49-F238E27FC236}">
                <a16:creationId xmlns:a16="http://schemas.microsoft.com/office/drawing/2014/main" id="{71C12EB0-177C-4A57-B158-AE535DA4185C}"/>
              </a:ext>
            </a:extLst>
          </p:cNvPr>
          <p:cNvSpPr>
            <a:spLocks xmlns:a="http://schemas.openxmlformats.org/drawingml/2006/main" noGrp="1"/>
          </p:cNvSpPr>
          <p:nvPr/>
        </p:nvSpPr>
        <p:spPr>
          <a:xfrm xmlns:a="http://schemas.openxmlformats.org/drawingml/2006/main">
            <a:off x="590550" y="1952625"/>
            <a:ext cx="66675" cy="28575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A44933-628D-4A1E-BC2D-A9CCCA2F8D0A}"/>
              </a:ext>
            </a:extLst>
          </p:cNvPr>
          <p:cNvSpPr>
            <a:spLocks xmlns:a="http://schemas.openxmlformats.org/drawingml/2006/main" noGrp="1"/>
          </p:cNvSpPr>
          <p:nvPr/>
        </p:nvSpPr>
        <p:spPr>
          <a:xfrm xmlns:a="http://schemas.openxmlformats.org/drawingml/2006/main">
            <a:off x="781050"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1">
                <a:solidFill>
                  <a:srgbClr val="0F172A"/>
                </a:solidFill>
                <a:latin typeface="Helvetica Neue"/>
                <a:ea typeface="Helvetica Neue"/>
                <a:cs typeface="Helvetica Neue"/>
              </a:defRPr>
            </a:pPr>
            <a:r>
              <a:rPr sz="1500" b="1">
                <a:solidFill>
                  <a:srgbClr val="0F172A"/>
                </a:solidFill>
                <a:latin typeface="Helvetica Neue"/>
                <a:ea typeface="Helvetica Neue"/>
                <a:cs typeface="Helvetica Neue"/>
              </a:rPr>
              <a:t>1  PROBLĒMU INTERVIJAS</a:t>
            </a:r>
          </a:p>
        </p:txBody>
      </p:sp>
      <p:sp>
        <p:nvSpPr>
          <p:cNvPr id="9" name="">
            <a:extLst xmlns:a="http://schemas.openxmlformats.org/drawingml/2006/main">
              <a:ext uri="{FF2B5EF4-FFF2-40B4-BE49-F238E27FC236}">
                <a16:creationId xmlns:a16="http://schemas.microsoft.com/office/drawing/2014/main" id="{594D5C46-846E-456F-9CD1-8A2912A19B41}"/>
              </a:ext>
            </a:extLst>
          </p:cNvPr>
          <p:cNvSpPr>
            <a:spLocks xmlns:a="http://schemas.openxmlformats.org/drawingml/2006/main" noGrp="1"/>
          </p:cNvSpPr>
          <p:nvPr/>
        </p:nvSpPr>
        <p:spPr>
          <a:xfrm xmlns:a="http://schemas.openxmlformats.org/drawingml/2006/main">
            <a:off x="781050" y="2466975"/>
            <a:ext cx="2933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Intervēt operations, finance un management.</a:t>
            </a:r>
          </a:p>
          <a:p xmlns:a="http://schemas.openxmlformats.org/drawingml/2006/main">
            <a:r>
              <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Lūgt: “Parādiet, kā process notiek šodien.”</a:t>
            </a:r>
          </a:p>
          <a:p xmlns:a="http://schemas.openxmlformats.org/drawingml/2006/main">
            <a:r>
              <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Fiksēt manuālo darbu, kļūdas, reportus un obligātās integrācijas.</a:t>
            </a:r>
          </a:p>
        </p:txBody>
      </p:sp>
      <p:sp>
        <p:nvSpPr>
          <p:cNvPr id="10" name="">
            <a:extLst xmlns:a="http://schemas.openxmlformats.org/drawingml/2006/main">
              <a:ext uri="{FF2B5EF4-FFF2-40B4-BE49-F238E27FC236}">
                <a16:creationId xmlns:a16="http://schemas.microsoft.com/office/drawing/2014/main" id="{98418315-72AE-4038-9D33-570C35D4E847}"/>
              </a:ext>
            </a:extLst>
          </p:cNvPr>
          <p:cNvSpPr>
            <a:spLocks xmlns:a="http://schemas.openxmlformats.org/drawingml/2006/main" noGrp="1"/>
          </p:cNvSpPr>
          <p:nvPr/>
        </p:nvSpPr>
        <p:spPr>
          <a:xfrm xmlns:a="http://schemas.openxmlformats.org/drawingml/2006/main">
            <a:off x="4429125" y="1952625"/>
            <a:ext cx="3314700" cy="2857500"/>
          </a:xfrm>
          <a:prstGeom xmlns:a="http://schemas.openxmlformats.org/drawingml/2006/main" prst="roundRect">
            <a:avLst>
              <a:gd name="adj" fmla="val 4667"/>
            </a:avLst>
          </a:prstGeom>
          <a:solidFill xmlns:a="http://schemas.openxmlformats.org/drawingml/2006/main">
            <a:srgbClr val="F1F5F9"/>
          </a:solidFill>
          <a:ln xmlns:a="http://schemas.openxmlformats.org/drawingml/2006/main" w="9525">
            <a:solidFill>
              <a:srgbClr val="C7D7E2"/>
            </a:solidFill>
            <a:prstDash val="solid"/>
          </a:ln>
        </p:spPr>
      </p:sp>
      <p:sp>
        <p:nvSpPr>
          <p:cNvPr id="11" name="">
            <a:extLst xmlns:a="http://schemas.openxmlformats.org/drawingml/2006/main">
              <a:ext uri="{FF2B5EF4-FFF2-40B4-BE49-F238E27FC236}">
                <a16:creationId xmlns:a16="http://schemas.microsoft.com/office/drawing/2014/main" id="{B772BC54-AE4B-4D18-83D3-BEE8F74D81E3}"/>
              </a:ext>
            </a:extLst>
          </p:cNvPr>
          <p:cNvSpPr>
            <a:spLocks xmlns:a="http://schemas.openxmlformats.org/drawingml/2006/main" noGrp="1"/>
          </p:cNvSpPr>
          <p:nvPr/>
        </p:nvSpPr>
        <p:spPr>
          <a:xfrm xmlns:a="http://schemas.openxmlformats.org/drawingml/2006/main">
            <a:off x="4619625"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1">
                <a:solidFill>
                  <a:srgbClr val="0F172A"/>
                </a:solidFill>
                <a:latin typeface="Helvetica Neue"/>
                <a:ea typeface="Helvetica Neue"/>
                <a:cs typeface="Helvetica Neue"/>
              </a:defRPr>
            </a:pPr>
            <a:r>
              <a:rPr sz="1500" b="1">
                <a:solidFill>
                  <a:srgbClr val="0F172A"/>
                </a:solidFill>
                <a:latin typeface="Helvetica Neue"/>
                <a:ea typeface="Helvetica Neue"/>
                <a:cs typeface="Helvetica Neue"/>
              </a:rPr>
              <a:t>2  ESOŠĀS ALTERNATĪVAS</a:t>
            </a:r>
          </a:p>
        </p:txBody>
      </p:sp>
      <p:sp>
        <p:nvSpPr>
          <p:cNvPr id="12" name="">
            <a:extLst xmlns:a="http://schemas.openxmlformats.org/drawingml/2006/main">
              <a:ext uri="{FF2B5EF4-FFF2-40B4-BE49-F238E27FC236}">
                <a16:creationId xmlns:a16="http://schemas.microsoft.com/office/drawing/2014/main" id="{DC7E04B1-3771-40D7-87FA-7FE66FB80140}"/>
              </a:ext>
            </a:extLst>
          </p:cNvPr>
          <p:cNvSpPr>
            <a:spLocks xmlns:a="http://schemas.openxmlformats.org/drawingml/2006/main" noGrp="1"/>
          </p:cNvSpPr>
          <p:nvPr/>
        </p:nvSpPr>
        <p:spPr>
          <a:xfrm xmlns:a="http://schemas.openxmlformats.org/drawingml/2006/main">
            <a:off x="4619625" y="2466975"/>
            <a:ext cx="2933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TMS / ERP</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Document Intelligence</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Data Integration</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BI un logistics analytics</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AI-assisted analysis</a:t>
            </a:r>
          </a:p>
          <a:p xmlns:a="http://schemas.openxmlformats.org/drawingml/2006/main">
            <a:r>
              <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Meklēt pārklājumu un reālu nišu, nevis apgalvot, ka konkurentu nav.</a:t>
            </a:r>
          </a:p>
        </p:txBody>
      </p:sp>
      <p:sp>
        <p:nvSpPr>
          <p:cNvPr id="13" name="">
            <a:extLst xmlns:a="http://schemas.openxmlformats.org/drawingml/2006/main">
              <a:ext uri="{FF2B5EF4-FFF2-40B4-BE49-F238E27FC236}">
                <a16:creationId xmlns:a16="http://schemas.microsoft.com/office/drawing/2014/main" id="{2F369627-65B0-420D-B570-1410BCBD0609}"/>
              </a:ext>
            </a:extLst>
          </p:cNvPr>
          <p:cNvSpPr>
            <a:spLocks xmlns:a="http://schemas.openxmlformats.org/drawingml/2006/main" noGrp="1"/>
          </p:cNvSpPr>
          <p:nvPr/>
        </p:nvSpPr>
        <p:spPr>
          <a:xfrm xmlns:a="http://schemas.openxmlformats.org/drawingml/2006/main">
            <a:off x="8267700" y="1952625"/>
            <a:ext cx="3314700" cy="2857500"/>
          </a:xfrm>
          <a:prstGeom xmlns:a="http://schemas.openxmlformats.org/drawingml/2006/main" prst="roundRect">
            <a:avLst>
              <a:gd name="adj" fmla="val 4667"/>
            </a:avLst>
          </a:prstGeom>
          <a:solidFill xmlns:a="http://schemas.openxmlformats.org/drawingml/2006/main">
            <a:srgbClr val="071525"/>
          </a:solidFill>
          <a:ln xmlns:a="http://schemas.openxmlformats.org/drawingml/2006/main" w="9525">
            <a:solidFill>
              <a:srgbClr val="071525"/>
            </a:solidFill>
            <a:prstDash val="solid"/>
          </a:ln>
        </p:spPr>
      </p:sp>
      <p:sp>
        <p:nvSpPr>
          <p:cNvPr id="14" name="">
            <a:extLst xmlns:a="http://schemas.openxmlformats.org/drawingml/2006/main">
              <a:ext uri="{FF2B5EF4-FFF2-40B4-BE49-F238E27FC236}">
                <a16:creationId xmlns:a16="http://schemas.microsoft.com/office/drawing/2014/main" id="{F2A17C3C-6B7E-4B30-8110-519420064E71}"/>
              </a:ext>
            </a:extLst>
          </p:cNvPr>
          <p:cNvSpPr>
            <a:spLocks xmlns:a="http://schemas.openxmlformats.org/drawingml/2006/main" noGrp="1"/>
          </p:cNvSpPr>
          <p:nvPr/>
        </p:nvSpPr>
        <p:spPr>
          <a:xfrm xmlns:a="http://schemas.openxmlformats.org/drawingml/2006/main">
            <a:off x="8458200"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1">
                <a:solidFill>
                  <a:srgbClr val="F8FAFC"/>
                </a:solidFill>
                <a:latin typeface="Helvetica Neue"/>
                <a:ea typeface="Helvetica Neue"/>
                <a:cs typeface="Helvetica Neue"/>
              </a:defRPr>
            </a:pPr>
            <a:r>
              <a:rPr sz="1500" b="1">
                <a:solidFill>
                  <a:srgbClr val="F8FAFC"/>
                </a:solidFill>
                <a:latin typeface="Helvetica Neue"/>
                <a:ea typeface="Helvetica Neue"/>
                <a:cs typeface="Helvetica Neue"/>
              </a:rPr>
              <a:t>3  LĒMUMS</a:t>
            </a:r>
          </a:p>
        </p:txBody>
      </p:sp>
      <p:sp>
        <p:nvSpPr>
          <p:cNvPr id="15" name="">
            <a:extLst xmlns:a="http://schemas.openxmlformats.org/drawingml/2006/main">
              <a:ext uri="{FF2B5EF4-FFF2-40B4-BE49-F238E27FC236}">
                <a16:creationId xmlns:a16="http://schemas.microsoft.com/office/drawing/2014/main" id="{3500A5F3-B522-4B2B-9E4E-7680110560A6}"/>
              </a:ext>
            </a:extLst>
          </p:cNvPr>
          <p:cNvSpPr>
            <a:spLocks xmlns:a="http://schemas.openxmlformats.org/drawingml/2006/main" noGrp="1"/>
          </p:cNvSpPr>
          <p:nvPr/>
        </p:nvSpPr>
        <p:spPr>
          <a:xfrm xmlns:a="http://schemas.openxmlformats.org/drawingml/2006/main">
            <a:off x="8458200" y="2466975"/>
            <a:ext cx="2933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7352"/>
          </a:bodyPr>
          <a:lstStyle xmlns:a="http://schemas.openxmlformats.org/drawingml/2006/main"/>
          <a:p xmlns:a="http://schemas.openxmlformats.org/drawingml/2006/main">
            <a:pPr algn="l">
              <a:lnSpc>
                <a:spcPct val="110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Vai problēma ir pietiekami bieža un dārga?</a:t>
            </a:r>
          </a:p>
          <a:p xmlns:a="http://schemas.openxmlformats.org/drawingml/2006/main">
            <a:r>
              <a:t/>
            </a:r>
          </a:p>
          <a:p xmlns:a="http://schemas.openxmlformats.org/drawingml/2006/main">
            <a:pPr algn="l">
              <a:lnSpc>
                <a:spcPct val="110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Kurš pain point ir visspēcīgākais?</a:t>
            </a:r>
          </a:p>
          <a:p xmlns:a="http://schemas.openxmlformats.org/drawingml/2006/main">
            <a:r>
              <a:t/>
            </a:r>
          </a:p>
          <a:p xmlns:a="http://schemas.openxmlformats.org/drawingml/2006/main">
            <a:pPr algn="l">
              <a:lnSpc>
                <a:spcPct val="110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Kas ir pirmais klients un mazākais MVP?</a:t>
            </a:r>
          </a:p>
          <a:p xmlns:a="http://schemas.openxmlformats.org/drawingml/2006/main">
            <a:r>
              <a:t/>
            </a:r>
          </a:p>
          <a:p xmlns:a="http://schemas.openxmlformats.org/drawingml/2006/main">
            <a:pPr algn="l">
              <a:lnSpc>
                <a:spcPct val="110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Vai TWIN pārspēj alternatīvo ideju pēc pierādījumiem?</a:t>
            </a:r>
          </a:p>
        </p:txBody>
      </p:sp>
      <p:sp>
        <p:nvSpPr>
          <p:cNvPr id="16" name="">
            <a:extLst xmlns:a="http://schemas.openxmlformats.org/drawingml/2006/main">
              <a:ext uri="{FF2B5EF4-FFF2-40B4-BE49-F238E27FC236}">
                <a16:creationId xmlns:a16="http://schemas.microsoft.com/office/drawing/2014/main" id="{F442F75B-27EA-40B8-B3E1-3385E3150BBA}"/>
              </a:ext>
            </a:extLst>
          </p:cNvPr>
          <p:cNvSpPr>
            <a:spLocks xmlns:a="http://schemas.openxmlformats.org/drawingml/2006/main" noGrp="1"/>
          </p:cNvSpPr>
          <p:nvPr/>
        </p:nvSpPr>
        <p:spPr>
          <a:xfrm xmlns:a="http://schemas.openxmlformats.org/drawingml/2006/main">
            <a:off x="600075" y="5153025"/>
            <a:ext cx="276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050" b="1">
                <a:solidFill>
                  <a:srgbClr val="E66A5C"/>
                </a:solidFill>
                <a:latin typeface="Helvetica Neue"/>
                <a:ea typeface="Helvetica Neue"/>
                <a:cs typeface="Helvetica Neue"/>
              </a:defRPr>
            </a:pPr>
            <a:r>
              <a:rPr sz="1050" b="1">
                <a:solidFill>
                  <a:srgbClr val="E66A5C"/>
                </a:solidFill>
                <a:latin typeface="Helvetica Neue"/>
                <a:ea typeface="Helvetica Neue"/>
                <a:cs typeface="Helvetica Neue"/>
              </a:rPr>
              <a:t>JĀPĀRBAUDA TIRGUS IZPĒTĒ</a:t>
            </a:r>
          </a:p>
        </p:txBody>
      </p:sp>
      <p:sp>
        <p:nvSpPr>
          <p:cNvPr id="17" name="">
            <a:extLst xmlns:a="http://schemas.openxmlformats.org/drawingml/2006/main">
              <a:ext uri="{FF2B5EF4-FFF2-40B4-BE49-F238E27FC236}">
                <a16:creationId xmlns:a16="http://schemas.microsoft.com/office/drawing/2014/main" id="{CFF2C623-6780-4F89-AAE5-F1A704398026}"/>
              </a:ext>
            </a:extLst>
          </p:cNvPr>
          <p:cNvSpPr>
            <a:spLocks xmlns:a="http://schemas.openxmlformats.org/drawingml/2006/main" noGrp="1"/>
          </p:cNvSpPr>
          <p:nvPr/>
        </p:nvSpPr>
        <p:spPr>
          <a:xfrm xmlns:a="http://schemas.openxmlformats.org/drawingml/2006/main">
            <a:off x="3476625" y="5076825"/>
            <a:ext cx="809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0F172A"/>
                </a:solidFill>
                <a:latin typeface="Helvetica Neue"/>
                <a:ea typeface="Helvetica Neue"/>
                <a:cs typeface="Helvetica Neue"/>
              </a:defRPr>
            </a:pPr>
            <a:r>
              <a:rPr sz="1425" b="0">
                <a:solidFill>
                  <a:srgbClr val="0F172A"/>
                </a:solidFill>
                <a:latin typeface="Helvetica Neue"/>
                <a:ea typeface="Helvetica Neue"/>
                <a:cs typeface="Helvetica Neue"/>
              </a:rPr>
              <a:t>problēmas biežums • maksātspēja • cloud/on-prem prasības • pirkuma lēmējs • izmērāma vērtība</a:t>
            </a:r>
          </a:p>
        </p:txBody>
      </p:sp>
      <p:sp>
        <p:nvSpPr>
          <p:cNvPr id="18" name="">
            <a:extLst xmlns:a="http://schemas.openxmlformats.org/drawingml/2006/main">
              <a:ext uri="{FF2B5EF4-FFF2-40B4-BE49-F238E27FC236}">
                <a16:creationId xmlns:a16="http://schemas.microsoft.com/office/drawing/2014/main" id="{3FBB152B-6B1C-4E1D-A41F-BD1792BA054E}"/>
              </a:ext>
            </a:extLst>
          </p:cNvPr>
          <p:cNvSpPr>
            <a:spLocks xmlns:a="http://schemas.openxmlformats.org/drawingml/2006/main" noGrp="1"/>
          </p:cNvSpPr>
          <p:nvPr/>
        </p:nvSpPr>
        <p:spPr>
          <a:xfrm xmlns:a="http://schemas.openxmlformats.org/drawingml/2006/main">
            <a:off x="600075" y="5829300"/>
            <a:ext cx="10982325" cy="476250"/>
          </a:xfrm>
          <a:prstGeom xmlns:a="http://schemas.openxmlformats.org/drawingml/2006/main" prst="roundRect">
            <a:avLst>
              <a:gd name="adj" fmla="val 22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025" b="1">
                <a:solidFill>
                  <a:srgbClr val="071525"/>
                </a:solidFill>
                <a:latin typeface="Helvetica Neue"/>
                <a:ea typeface="Helvetica Neue"/>
                <a:cs typeface="Helvetica Neue"/>
              </a:defRPr>
            </a:pPr>
            <a:r>
              <a:rPr sz="2025" b="1">
                <a:solidFill>
                  <a:srgbClr val="071525"/>
                </a:solidFill>
                <a:latin typeface="Helvetica Neue"/>
                <a:ea typeface="Helvetica Neue"/>
                <a:cs typeface="Helvetica Neue"/>
              </a:rPr>
              <a:t>Paplašinām tikai tad, ja to pamato klientu uzvedība un dati.</a:t>
            </a:r>
          </a:p>
        </p:txBody>
      </p:sp>
      <p:sp>
        <p:nvSpPr>
          <p:cNvPr id="19" name="">
            <a:extLst xmlns:a="http://schemas.openxmlformats.org/drawingml/2006/main">
              <a:ext uri="{FF2B5EF4-FFF2-40B4-BE49-F238E27FC236}">
                <a16:creationId xmlns:a16="http://schemas.microsoft.com/office/drawing/2014/main" id="{92B5E1C9-BF12-4EFB-91C4-692D0CD129BC}"/>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Diskusijas rezultāts: turpināt, sašaurināt, mainīt fokusu vai izvēlēties otru ideju</a:t>
            </a:r>
          </a:p>
        </p:txBody>
      </p:sp>
    </p:spTree>
    <p:extLst>
      <p:ext uri="{BB962C8B-B14F-4D97-AF65-F5344CB8AC3E}">
        <p14:creationId xmlns:p14="http://schemas.microsoft.com/office/powerpoint/2010/main" val="16134684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2026-09-24T17:42:52.1130000Z</dcterms:created>
  <dcterms:modified xsi:type="dcterms:W3CDTF">2026-09-24T17:42:52.1130000Z</dcterms:modified>
</coreProperties>
</file>