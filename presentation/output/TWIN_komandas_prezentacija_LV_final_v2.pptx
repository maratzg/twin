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94658"/>
  </p:normalViewPr>
  <p:slideViewPr>
    <p:cSldViewPr snapToGrid="0">
      <p:cViewPr varScale="1">
        <p:scale>
          <a:sx n="120" d="100"/>
          <a:sy n="120" d="100"/>
        </p:scale>
        <p:origin x="4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0:50.</a:t>
            </a:r>
          </a:p>
          <a:p>
            <a:endParaRPr/>
          </a:p>
          <a:p>
            <a:r>
              <a:t>Atklāj ar vienu teikumu: TWIN nav mēģinājums uzreiz uzbūvēt milzīgu AI platformu. Tā ir ideja par uzticamu datu pamatu, kas sākas ar konkrētu loģistikas problēmu. Pasaki, ka šīs prezentācijas mērķis nav pārdot ideju, bet dot komandai pietiekami skaidru pamatu salīdzinājumam ar alternatīvo projekta ideju.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1:40.</a:t>
            </a:r>
          </a:p>
          <a:p>
            <a:endParaRPr/>
          </a:p>
          <a:p>
            <a:r>
              <a:t>Apraksti vidi kā hipotēzi, nevis universālu faktu. Loģistikas uzņēmumam var būt daudz labu sistēmu, bet informācija starp tām joprojām var būt sadrumstalota. Uzsvars nav uz to, ka Excel vai PDF ir slikti, bet uz savienojuma un vienotas nozīmes trūkumu. Pāreja: ja problēma ir savstarpēji nesaistīta informācija, risinājumam jāsākas ar datu slāni, nevis ar čatbotu.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1:30.</a:t>
            </a:r>
          </a:p>
          <a:p>
            <a:endParaRPr/>
          </a:p>
          <a:p>
            <a:r>
              <a:t>Izskaidro secību. TWIN vērtības kodols ir uzticams datu slānis. Automatizācija un analītika jau ir daļēji realizēta, bet AI, prognozēšana un simulācija ir vēlākas pakāpes. Nepārspīlē: šī diagramma rāda produkta loģiku, nevis pilnībā pabeigtu platformu. Pāreja: nākamajā slaidā parādām, kā šī loģika izskatās produkta moduļos.</a:t>
            </a:r>
          </a:p>
          <a:p>
            <a:endParaRPr/>
          </a:p>
          <a:p>
            <a:r>
              <a:t>Avoti prezentētājam: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1:40.</a:t>
            </a:r>
          </a:p>
          <a:p>
            <a:endParaRPr/>
          </a:p>
          <a:p>
            <a:r>
              <a:t>Nosauc realizētos moduļus kā šodien pārbaudāmu prototipa robežu. Analytics ir realizēts Milestone 4A ietvaros. Savukārt atsevišķa Finance darba telpa, AI Analyst, FIN//TWIN un automatizāciju katalogs nav jāpasniedz kā strādājošas funkcijas. Pāreja: moduļus vieno Data Hub, kura pilnā vīzija ir plašāka par failu augšupielādi.</a:t>
            </a:r>
          </a:p>
          <a:p>
            <a:endParaRPr/>
          </a:p>
          <a:p>
            <a:r>
              <a:t>Avoti prezentētājam: README.md; frontend/app/.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1:45.</a:t>
            </a:r>
          </a:p>
          <a:p>
            <a:endParaRPr/>
          </a:p>
          <a:p>
            <a:r>
              <a:t>Šis ir galvenais scope slaids. Pašreizējais prototips pierāda failu ievadi, normalizāciju, validāciju un cilvēka review. Tas vēl nepierāda pilnu integrāciju platformu. Izskaidro četrus nākotnes ievades režīmus: faili, pieslēgtas sistēmas, API vai event plūsmas un manuālas korekcijas. Pāreja: lai dažādi avoti nekļūtu par dublikātiem, vajadzīgs vienots uzņēmuma datu modelis.</a:t>
            </a:r>
          </a:p>
          <a:p>
            <a:endParaRPr/>
          </a:p>
          <a:p>
            <a:r>
              <a:t>Avoti prezentētājam: README.md; docs/ARCHITECTURE.md.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1:45.</a:t>
            </a:r>
          </a:p>
          <a:p>
            <a:endParaRPr/>
          </a:p>
          <a:p>
            <a:r>
              <a:t>Izmanto SHP-12831 kā vienkāršu piemēru. Excel rinda dod booking informāciju, B/L pievieno konteinerus un maršrutu, rēķins pievieno finanšu kontekstu. Nākotnē API var papildināt to pašu objektu ar ETA vai tracking izmaiņām. Uzsvars: avota formāts nav biznesa objekts. Pāreja: tagad varam godīgi parādīt, kuras šīs ķēdes daļas repozitorijā jau darbojas.</a:t>
            </a:r>
          </a:p>
          <a:p>
            <a:endParaRPr/>
          </a:p>
          <a:p>
            <a:r>
              <a:t>Avoti prezentētājam: docs/DATA_MODEL.md; docs/BILL_OF_LADING.md.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1:40.</a:t>
            </a:r>
          </a:p>
          <a:p>
            <a:endParaRPr/>
          </a:p>
          <a:p>
            <a:r>
              <a:t>Ātri izstaigā četrus posmus. M1 un M2 pierāda kontrolētu tabulāro datu ievadi. M3A un M3B izmanto vienu dokumentu dzinēju rēķiniem un B/L, saglabājot evidence un izcelsmi. M4A jau aprēķina KPI un deterministiskus insights. Godīgi nosauc robežas: demo dati, nav gatavas produkcijas autentifikācijas un nav pilna OCR vai integrāciju slāņa. Pāreja: nākamais slaids parāda svarīgāko uzticamības principu.</a:t>
            </a:r>
          </a:p>
          <a:p>
            <a:endParaRPr/>
          </a:p>
          <a:p>
            <a:r>
              <a:t>Avoti prezentētājam: README.md; docs/IMPORT_REVIEW.md; docs/DOCUMENT_ENGINE.md; docs/ANALYTICS.md.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1:30.</a:t>
            </a:r>
          </a:p>
          <a:p>
            <a:endParaRPr/>
          </a:p>
          <a:p>
            <a:r>
              <a:t>Šeit neapgalvo, ka ir veikts plašs reālu klientu dokumentu tests. Repozitorijs dokumentē drošības arhitektūru un sintētiskos fixture testus: avots tiek saglabāts, neskaidri lauki nonāk review, kļūdas bloķē apstiprināšanu. Tas pierāda kontroles mehānismu, bet ne universālu extraction precizitāti. Pāreja: kad dati ir pietiekami uzticami, nākamais slānis ir deterministiska analītika.</a:t>
            </a:r>
          </a:p>
          <a:p>
            <a:endParaRPr/>
          </a:p>
          <a:p>
            <a:r>
              <a:t>Avoti prezentētājam: docs/DOCUMENT_ENGINE.md; docs/IMPORT_REVIEW.md; backend/tests/test_document_workflow.py.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1:45.</a:t>
            </a:r>
          </a:p>
          <a:p>
            <a:endParaRPr/>
          </a:p>
          <a:p>
            <a:r>
              <a:t>Pasaki, ka Analytics šobrīd ir realizēts un demonstrē pārvaldītu ceļu no canonical ierakstiem līdz KPI, salīdzinājumiem, insights un drill-down. Skaitļi ir apzināti sintētiska demo stāsta daļa, nevis tirgus vai klienta fakti. Cost/TEU pieaug straujāk nekā revenue/TEU, tādēļ marža krīt. Tas ir aprakstošs faktors, nevis pierādīta cēloņsakarība. Pāreja: šis ir pamats daudz lielākai produkta attīstības līnijai.</a:t>
            </a:r>
          </a:p>
          <a:p>
            <a:endParaRPr/>
          </a:p>
          <a:p>
            <a:r>
              <a:t>Avoti prezentētājam: docs/ANALYTICS.md; README.md sadaļa Management analytics demo.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1:40.</a:t>
            </a:r>
          </a:p>
          <a:p>
            <a:endParaRPr/>
          </a:p>
          <a:p>
            <a:r>
              <a:t>Rādi, ka pilnā vīzija ir liela, un tieši tāpēc attīstība notiek secīgi. Prototips jau automatizē daļu ievades un palīdz saprast datus ar KPI. AI Analyst, prognozes, simulācija un integrāciju mērogošana ir vēlāki horizonti. M3C nosaukums ir plānota Data Hub paplašināšana, nevis apgalvojums, ka vēsturiskā secība ir kļūdaina. Pāreja: lai tirgū pārbaudītu vērtību, vajadzīgs daudz mazāks pirmais produkts.</a:t>
            </a:r>
          </a:p>
          <a:p>
            <a:endParaRPr/>
          </a:p>
          <a:p>
            <a:r>
              <a:t>Avoti prezentētājam: README.md; docs/ANALYTICS.md; docs/DATA_MODEL.md.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1:50.</a:t>
            </a:r>
          </a:p>
          <a:p>
            <a:endParaRPr/>
          </a:p>
          <a:p>
            <a:r>
              <a:t>Šis ir svarīgākais scope lēmums. MVP jāspēj uzņemt trīs avotu tipus, izveidot savstarpēji saistītus shipment un finanšu objektus, ļaut cilvēkam pārskatīt izņēmumus un dot dažus noderīgus izvadus. Tas nav integrāciju tirgus, universāls dokumentu AI vai čatbots. Komandai jāvienojas par vienu konkrētu sākuma problēmu, piemēram, shipment profitability vai dokumentu un shipment datu konsolidāciju. Pāreja: pēdējais solis nav vēl viena funkcija, bet tirgus validācija.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Aptuvenais laiks: 2:05.</a:t>
            </a:r>
          </a:p>
          <a:p>
            <a:endParaRPr/>
          </a:p>
          <a:p>
            <a:r>
              <a:t>Noslēdz ar darbību, nevis ar produkta solījumu. Vispirms jāveic problēmu intervijas un jāvēro reālais workflow. Jautājums “vai jūs pirktu AI platformu?” nav pietiekams. Jānoskaidro esošās alternatīvas, kur rodas manuāls darbs, kāda informācija trūkst un vai uzņēmums būtu gatavs testēt mazu MVP. Konkurence ir kategoriju pārklājums, nevis tukšs lauks. Komandas lēmumam jābalstās pierādījumos: problēmas nozīmīgums, sasniedzams pirmais klients, MVP apjoms, obligātās integrācijas un salīdzinājums ar alternatīvo ideju. Noslēguma teikums: mēs paplašinām tikai tad, ja to pamato dati.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E18825E7-60AF-4B51-A5F3-DA0F591E3724}"/>
              </a:ext>
            </a:extLst>
          </p:cNvPr>
          <p:cNvSpPr>
            <a:spLocks noGrp="1"/>
          </p:cNvSpPr>
          <p:nvPr/>
        </p:nvSpPr>
        <p:spPr>
          <a:xfrm>
            <a:off x="609600" y="781050"/>
            <a:ext cx="95250" cy="4695825"/>
          </a:xfrm>
          <a:prstGeom prst="roundRect">
            <a:avLst>
              <a:gd name="adj" fmla="val 50000"/>
            </a:avLst>
          </a:prstGeom>
          <a:solidFill>
            <a:srgbClr val="38BDF8"/>
          </a:solidFill>
          <a:ln w="0">
            <a:noFill/>
            <a:prstDash val="solid"/>
          </a:ln>
        </p:spPr>
        <p:txBody>
          <a:bodyPr/>
          <a:lstStyle/>
          <a:p>
            <a:endParaRPr lang="en-US"/>
          </a:p>
        </p:txBody>
      </p:sp>
      <p:sp>
        <p:nvSpPr>
          <p:cNvPr id="2" name="Rectangle 1">
            <a:extLst>
              <a:ext uri="{FF2B5EF4-FFF2-40B4-BE49-F238E27FC236}">
                <a16:creationId xmlns:a16="http://schemas.microsoft.com/office/drawing/2014/main" id="{22A373AA-CEC4-4F7F-83E3-CC1DF5441297}"/>
              </a:ext>
            </a:extLst>
          </p:cNvPr>
          <p:cNvSpPr>
            <a:spLocks noGrp="1"/>
          </p:cNvSpPr>
          <p:nvPr/>
        </p:nvSpPr>
        <p:spPr>
          <a:xfrm>
            <a:off x="1009650" y="1390650"/>
            <a:ext cx="6667500" cy="1047750"/>
          </a:xfrm>
          <a:prstGeom prst="rect">
            <a:avLst/>
          </a:prstGeom>
          <a:noFill/>
          <a:ln w="0">
            <a:noFill/>
            <a:prstDash val="solid"/>
          </a:ln>
        </p:spPr>
        <p:txBody>
          <a:bodyPr lIns="76200" tIns="38100" rIns="76200" bIns="38100" anchor="t">
            <a:normAutofit/>
          </a:bodyPr>
          <a:lstStyle/>
          <a:p>
            <a:pPr algn="l">
              <a:lnSpc>
                <a:spcPct val="104000"/>
              </a:lnSpc>
              <a:buNone/>
              <a:defRPr sz="5850" b="1">
                <a:solidFill>
                  <a:srgbClr val="F8FAFC"/>
                </a:solidFill>
                <a:latin typeface="Noto Sans"/>
                <a:ea typeface="Noto Sans"/>
                <a:cs typeface="Noto Sans"/>
              </a:defRPr>
            </a:pPr>
            <a:r>
              <a:rPr sz="5850" b="1">
                <a:solidFill>
                  <a:srgbClr val="F8FAFC"/>
                </a:solidFill>
                <a:latin typeface="Noto Sans"/>
                <a:ea typeface="Noto Sans"/>
                <a:cs typeface="Noto Sans"/>
              </a:rPr>
              <a:t>TWIN</a:t>
            </a:r>
          </a:p>
        </p:txBody>
      </p:sp>
      <p:sp>
        <p:nvSpPr>
          <p:cNvPr id="3" name="Rectangle 2">
            <a:extLst>
              <a:ext uri="{FF2B5EF4-FFF2-40B4-BE49-F238E27FC236}">
                <a16:creationId xmlns:a16="http://schemas.microsoft.com/office/drawing/2014/main" id="{DDC26968-9F0D-4400-874F-4957BEAA45C3}"/>
              </a:ext>
            </a:extLst>
          </p:cNvPr>
          <p:cNvSpPr>
            <a:spLocks noGrp="1"/>
          </p:cNvSpPr>
          <p:nvPr/>
        </p:nvSpPr>
        <p:spPr>
          <a:xfrm>
            <a:off x="1066800" y="2571750"/>
            <a:ext cx="8096250" cy="1104900"/>
          </a:xfrm>
          <a:prstGeom prst="rect">
            <a:avLst/>
          </a:prstGeom>
          <a:noFill/>
          <a:ln w="0">
            <a:noFill/>
            <a:prstDash val="solid"/>
          </a:ln>
        </p:spPr>
        <p:txBody>
          <a:bodyPr lIns="76200" tIns="38100" rIns="76200" bIns="38100" anchor="t">
            <a:normAutofit/>
          </a:bodyPr>
          <a:lstStyle/>
          <a:p>
            <a:pPr algn="l">
              <a:lnSpc>
                <a:spcPct val="100000"/>
              </a:lnSpc>
              <a:buNone/>
              <a:defRPr sz="2550" b="0">
                <a:solidFill>
                  <a:srgbClr val="7DD3FC"/>
                </a:solidFill>
                <a:latin typeface="Noto Sans"/>
                <a:ea typeface="Noto Sans"/>
                <a:cs typeface="Noto Sans"/>
              </a:defRPr>
            </a:pPr>
            <a:r>
              <a:rPr sz="2550" b="0">
                <a:solidFill>
                  <a:srgbClr val="7DD3FC"/>
                </a:solidFill>
                <a:latin typeface="Noto Sans"/>
                <a:ea typeface="Noto Sans"/>
                <a:cs typeface="Noto Sans"/>
              </a:rPr>
              <a:t>No sadrumstalotiem datiem</a:t>
            </a:r>
          </a:p>
          <a:p>
            <a:pPr algn="l">
              <a:lnSpc>
                <a:spcPct val="100000"/>
              </a:lnSpc>
              <a:buNone/>
              <a:defRPr sz="2550" b="0">
                <a:solidFill>
                  <a:srgbClr val="7DD3FC"/>
                </a:solidFill>
                <a:latin typeface="Noto Sans"/>
                <a:ea typeface="Noto Sans"/>
                <a:cs typeface="Noto Sans"/>
              </a:defRPr>
            </a:pPr>
            <a:r>
              <a:rPr sz="2550" b="0">
                <a:solidFill>
                  <a:srgbClr val="7DD3FC"/>
                </a:solidFill>
                <a:latin typeface="Noto Sans"/>
                <a:ea typeface="Noto Sans"/>
                <a:cs typeface="Noto Sans"/>
              </a:rPr>
              <a:t>līdz operacionālajai inteliģencei</a:t>
            </a:r>
          </a:p>
        </p:txBody>
      </p:sp>
      <p:sp>
        <p:nvSpPr>
          <p:cNvPr id="4" name="Rectangle 3">
            <a:extLst>
              <a:ext uri="{FF2B5EF4-FFF2-40B4-BE49-F238E27FC236}">
                <a16:creationId xmlns:a16="http://schemas.microsoft.com/office/drawing/2014/main" id="{9611E2AB-1F82-424C-9ED9-604127C8AA81}"/>
              </a:ext>
            </a:extLst>
          </p:cNvPr>
          <p:cNvSpPr>
            <a:spLocks noGrp="1"/>
          </p:cNvSpPr>
          <p:nvPr/>
        </p:nvSpPr>
        <p:spPr>
          <a:xfrm>
            <a:off x="1066800" y="4057650"/>
            <a:ext cx="7239000" cy="381000"/>
          </a:xfrm>
          <a:prstGeom prst="rect">
            <a:avLst/>
          </a:prstGeom>
          <a:noFill/>
          <a:ln w="0">
            <a:noFill/>
            <a:prstDash val="solid"/>
          </a:ln>
        </p:spPr>
        <p:txBody>
          <a:bodyPr lIns="76200" tIns="38100" rIns="76200" bIns="38100" anchor="ctr">
            <a:normAutofit/>
          </a:bodyPr>
          <a:lstStyle/>
          <a:p>
            <a:pPr algn="l">
              <a:lnSpc>
                <a:spcPct val="104000"/>
              </a:lnSpc>
              <a:buNone/>
              <a:defRPr sz="1725" b="0">
                <a:solidFill>
                  <a:srgbClr val="CBD5E1"/>
                </a:solidFill>
                <a:latin typeface="Noto Sans"/>
                <a:ea typeface="Noto Sans"/>
                <a:cs typeface="Noto Sans"/>
              </a:defRPr>
            </a:pPr>
            <a:r>
              <a:rPr sz="1725" b="0">
                <a:solidFill>
                  <a:srgbClr val="CBD5E1"/>
                </a:solidFill>
                <a:latin typeface="Noto Sans"/>
                <a:ea typeface="Noto Sans"/>
                <a:cs typeface="Noto Sans"/>
              </a:rPr>
              <a:t>Loģistikas uzņēmumu datu un inteliģences platforma</a:t>
            </a:r>
          </a:p>
        </p:txBody>
      </p:sp>
      <p:sp>
        <p:nvSpPr>
          <p:cNvPr id="5" name="Rounded Rectangle 4">
            <a:extLst>
              <a:ext uri="{FF2B5EF4-FFF2-40B4-BE49-F238E27FC236}">
                <a16:creationId xmlns:a16="http://schemas.microsoft.com/office/drawing/2014/main" id="{662ADC7B-3DF8-4A1A-A434-E54E07885C3A}"/>
              </a:ext>
            </a:extLst>
          </p:cNvPr>
          <p:cNvSpPr>
            <a:spLocks noGrp="1"/>
          </p:cNvSpPr>
          <p:nvPr/>
        </p:nvSpPr>
        <p:spPr>
          <a:xfrm>
            <a:off x="8829675" y="1162050"/>
            <a:ext cx="2286000" cy="2286000"/>
          </a:xfrm>
          <a:prstGeom prst="roundRect">
            <a:avLst>
              <a:gd name="adj" fmla="val 50000"/>
            </a:avLst>
          </a:prstGeom>
          <a:solidFill>
            <a:srgbClr val="0F2A45"/>
          </a:solidFill>
          <a:ln w="19050">
            <a:solidFill>
              <a:srgbClr val="214D72"/>
            </a:solidFill>
            <a:prstDash val="solid"/>
          </a:ln>
        </p:spPr>
        <p:txBody>
          <a:bodyPr/>
          <a:lstStyle/>
          <a:p>
            <a:endParaRPr lang="en-US"/>
          </a:p>
        </p:txBody>
      </p:sp>
      <p:sp>
        <p:nvSpPr>
          <p:cNvPr id="6" name="Rounded Rectangle 5">
            <a:extLst>
              <a:ext uri="{FF2B5EF4-FFF2-40B4-BE49-F238E27FC236}">
                <a16:creationId xmlns:a16="http://schemas.microsoft.com/office/drawing/2014/main" id="{4C22FA8C-E0B5-407A-A2D5-D9239092084A}"/>
              </a:ext>
            </a:extLst>
          </p:cNvPr>
          <p:cNvSpPr>
            <a:spLocks noGrp="1"/>
          </p:cNvSpPr>
          <p:nvPr/>
        </p:nvSpPr>
        <p:spPr>
          <a:xfrm>
            <a:off x="9344025" y="1676400"/>
            <a:ext cx="1257300" cy="1257300"/>
          </a:xfrm>
          <a:prstGeom prst="roundRect">
            <a:avLst>
              <a:gd name="adj" fmla="val 50000"/>
            </a:avLst>
          </a:prstGeom>
          <a:solidFill>
            <a:srgbClr val="38BDF8"/>
          </a:solidFill>
          <a:ln w="0">
            <a:noFill/>
            <a:prstDash val="solid"/>
          </a:ln>
        </p:spPr>
        <p:txBody>
          <a:bodyPr/>
          <a:lstStyle/>
          <a:p>
            <a:endParaRPr lang="en-US"/>
          </a:p>
        </p:txBody>
      </p:sp>
      <p:sp>
        <p:nvSpPr>
          <p:cNvPr id="7" name="Rectangle 6">
            <a:extLst>
              <a:ext uri="{FF2B5EF4-FFF2-40B4-BE49-F238E27FC236}">
                <a16:creationId xmlns:a16="http://schemas.microsoft.com/office/drawing/2014/main" id="{41115CE7-4FE1-447E-BE53-DE3E01E4771E}"/>
              </a:ext>
            </a:extLst>
          </p:cNvPr>
          <p:cNvSpPr>
            <a:spLocks noGrp="1"/>
          </p:cNvSpPr>
          <p:nvPr/>
        </p:nvSpPr>
        <p:spPr>
          <a:xfrm>
            <a:off x="9658350" y="1752600"/>
            <a:ext cx="647700" cy="1066800"/>
          </a:xfrm>
          <a:prstGeom prst="rect">
            <a:avLst/>
          </a:prstGeom>
          <a:noFill/>
          <a:ln w="0">
            <a:noFill/>
            <a:prstDash val="solid"/>
          </a:ln>
        </p:spPr>
        <p:txBody>
          <a:bodyPr lIns="76200" tIns="38100" rIns="76200" bIns="38100" anchor="ctr">
            <a:normAutofit/>
          </a:bodyPr>
          <a:lstStyle/>
          <a:p>
            <a:pPr algn="ctr">
              <a:lnSpc>
                <a:spcPct val="104000"/>
              </a:lnSpc>
              <a:buNone/>
              <a:defRPr sz="4800" b="1">
                <a:solidFill>
                  <a:srgbClr val="071525"/>
                </a:solidFill>
                <a:latin typeface="Noto Sans"/>
                <a:ea typeface="Noto Sans"/>
                <a:cs typeface="Noto Sans"/>
              </a:defRPr>
            </a:pPr>
            <a:r>
              <a:rPr sz="4800" b="1">
                <a:solidFill>
                  <a:srgbClr val="071525"/>
                </a:solidFill>
                <a:latin typeface="Noto Sans"/>
                <a:ea typeface="Noto Sans"/>
                <a:cs typeface="Noto Sans"/>
              </a:rPr>
              <a:t>T</a:t>
            </a:r>
          </a:p>
        </p:txBody>
      </p:sp>
      <p:sp>
        <p:nvSpPr>
          <p:cNvPr id="8" name="Rectangle 7">
            <a:extLst>
              <a:ext uri="{FF2B5EF4-FFF2-40B4-BE49-F238E27FC236}">
                <a16:creationId xmlns:a16="http://schemas.microsoft.com/office/drawing/2014/main" id="{ED4F7C87-E530-41FE-9FFA-87742957F339}"/>
              </a:ext>
            </a:extLst>
          </p:cNvPr>
          <p:cNvSpPr>
            <a:spLocks noGrp="1"/>
          </p:cNvSpPr>
          <p:nvPr/>
        </p:nvSpPr>
        <p:spPr>
          <a:xfrm>
            <a:off x="1057275" y="5953125"/>
            <a:ext cx="5905500" cy="266700"/>
          </a:xfrm>
          <a:prstGeom prst="rect">
            <a:avLst/>
          </a:prstGeom>
          <a:noFill/>
          <a:ln w="0">
            <a:noFill/>
            <a:prstDash val="solid"/>
          </a:ln>
        </p:spPr>
        <p:txBody>
          <a:bodyPr lIns="76200" tIns="38100" rIns="76200" bIns="38100" anchor="ctr">
            <a:normAutofit/>
          </a:bodyPr>
          <a:lstStyle/>
          <a:p>
            <a:pPr algn="l">
              <a:lnSpc>
                <a:spcPct val="104000"/>
              </a:lnSpc>
              <a:buNone/>
              <a:defRPr sz="1200" b="0">
                <a:solidFill>
                  <a:srgbClr val="94A3B8"/>
                </a:solidFill>
                <a:latin typeface="Noto Sans"/>
                <a:ea typeface="Noto Sans"/>
                <a:cs typeface="Noto Sans"/>
              </a:defRPr>
            </a:pPr>
            <a:r>
              <a:rPr sz="1200" b="0">
                <a:solidFill>
                  <a:srgbClr val="94A3B8"/>
                </a:solidFill>
                <a:latin typeface="Noto Sans"/>
                <a:ea typeface="Noto Sans"/>
                <a:cs typeface="Noto Sans"/>
              </a:rPr>
              <a:t>Projekta izvērtējums komandai  •  2026</a:t>
            </a:r>
          </a:p>
        </p:txBody>
      </p:sp>
    </p:spTree>
    <p:extLst>
      <p:ext uri="{BB962C8B-B14F-4D97-AF65-F5344CB8AC3E}">
        <p14:creationId xmlns:p14="http://schemas.microsoft.com/office/powerpoint/2010/main" val="603311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72EDAF0-AC3A-4020-B5E3-3A99BBAB86AE}"/>
              </a:ext>
            </a:extLst>
          </p:cNvPr>
          <p:cNvSpPr>
            <a:spLocks noGrp="1"/>
          </p:cNvSpPr>
          <p:nvPr/>
        </p:nvSpPr>
        <p:spPr>
          <a:xfrm>
            <a:off x="552450" y="266700"/>
            <a:ext cx="4000500" cy="228600"/>
          </a:xfrm>
          <a:prstGeom prst="rect">
            <a:avLst/>
          </a:prstGeom>
          <a:noFill/>
          <a:ln w="0">
            <a:noFill/>
            <a:prstDash val="solid"/>
          </a:ln>
        </p:spPr>
        <p:txBody>
          <a:bodyPr lIns="76200" tIns="38100" rIns="76200" bIns="38100" anchor="ctr">
            <a:normAutofit fontScale="85470"/>
          </a:bodyPr>
          <a:lstStyle/>
          <a:p>
            <a:pPr algn="l">
              <a:lnSpc>
                <a:spcPct val="104000"/>
              </a:lnSpc>
              <a:buNone/>
              <a:defRPr sz="1125" b="1">
                <a:solidFill>
                  <a:srgbClr val="123A63"/>
                </a:solidFill>
                <a:latin typeface="Noto Sans"/>
                <a:ea typeface="Noto Sans"/>
                <a:cs typeface="Noto Sans"/>
              </a:defRPr>
            </a:pPr>
            <a:r>
              <a:rPr sz="1125" b="1">
                <a:solidFill>
                  <a:srgbClr val="123A63"/>
                </a:solidFill>
                <a:latin typeface="Noto Sans"/>
                <a:ea typeface="Noto Sans"/>
                <a:cs typeface="Noto Sans"/>
              </a:rPr>
              <a:t>TWIN  /  KOMANDAS DISKUSIJA</a:t>
            </a:r>
          </a:p>
        </p:txBody>
      </p:sp>
      <p:sp>
        <p:nvSpPr>
          <p:cNvPr id="2" name="Rectangle 1">
            <a:extLst>
              <a:ext uri="{FF2B5EF4-FFF2-40B4-BE49-F238E27FC236}">
                <a16:creationId xmlns:a16="http://schemas.microsoft.com/office/drawing/2014/main" id="{2270EB6D-B2DF-43B5-8BA7-CF1219A3B48A}"/>
              </a:ext>
            </a:extLst>
          </p:cNvPr>
          <p:cNvSpPr>
            <a:spLocks noGrp="1"/>
          </p:cNvSpPr>
          <p:nvPr/>
        </p:nvSpPr>
        <p:spPr>
          <a:xfrm>
            <a:off x="11191875" y="257175"/>
            <a:ext cx="438150" cy="238125"/>
          </a:xfrm>
          <a:prstGeom prst="rect">
            <a:avLst/>
          </a:prstGeom>
          <a:noFill/>
          <a:ln w="0">
            <a:noFill/>
            <a:prstDash val="solid"/>
          </a:ln>
        </p:spPr>
        <p:txBody>
          <a:bodyPr lIns="76200" tIns="38100" rIns="76200" bIns="38100" anchor="ctr">
            <a:normAutofit fontScale="90812"/>
          </a:bodyPr>
          <a:lstStyle/>
          <a:p>
            <a:pPr algn="r">
              <a:lnSpc>
                <a:spcPct val="104000"/>
              </a:lnSpc>
              <a:buNone/>
              <a:defRPr sz="1125" b="1">
                <a:solidFill>
                  <a:srgbClr val="94A3B8"/>
                </a:solidFill>
                <a:latin typeface="Noto Sans"/>
                <a:ea typeface="Noto Sans"/>
                <a:cs typeface="Noto Sans"/>
              </a:defRPr>
            </a:pPr>
            <a:r>
              <a:rPr sz="1125" b="1">
                <a:solidFill>
                  <a:srgbClr val="94A3B8"/>
                </a:solidFill>
                <a:latin typeface="Noto Sans"/>
                <a:ea typeface="Noto Sans"/>
                <a:cs typeface="Noto Sans"/>
              </a:rPr>
              <a:t>02</a:t>
            </a:r>
          </a:p>
        </p:txBody>
      </p:sp>
      <p:sp>
        <p:nvSpPr>
          <p:cNvPr id="3" name="Rectangle 2">
            <a:extLst>
              <a:ext uri="{FF2B5EF4-FFF2-40B4-BE49-F238E27FC236}">
                <a16:creationId xmlns:a16="http://schemas.microsoft.com/office/drawing/2014/main" id="{CAB52747-3810-429C-8AEC-4982621CB83A}"/>
              </a:ext>
            </a:extLst>
          </p:cNvPr>
          <p:cNvSpPr>
            <a:spLocks noGrp="1"/>
          </p:cNvSpPr>
          <p:nvPr/>
        </p:nvSpPr>
        <p:spPr>
          <a:xfrm>
            <a:off x="552450" y="628650"/>
            <a:ext cx="10382250" cy="590550"/>
          </a:xfrm>
          <a:prstGeom prst="rect">
            <a:avLst/>
          </a:prstGeom>
          <a:noFill/>
          <a:ln w="0">
            <a:noFill/>
            <a:prstDash val="solid"/>
          </a:ln>
        </p:spPr>
        <p:txBody>
          <a:bodyPr lIns="76200" tIns="38100" rIns="76200" bIns="38100" anchor="t">
            <a:normAutofit fontScale="98339"/>
          </a:bodyPr>
          <a:lstStyle/>
          <a:p>
            <a:pPr algn="l">
              <a:lnSpc>
                <a:spcPct val="104000"/>
              </a:lnSpc>
              <a:buNone/>
              <a:defRPr sz="3300" b="1">
                <a:solidFill>
                  <a:srgbClr val="0F172A"/>
                </a:solidFill>
                <a:latin typeface="Noto Sans"/>
                <a:ea typeface="Noto Sans"/>
                <a:cs typeface="Noto Sans"/>
              </a:defRPr>
            </a:pPr>
            <a:r>
              <a:rPr sz="3300" b="1">
                <a:solidFill>
                  <a:srgbClr val="0F172A"/>
                </a:solidFill>
                <a:latin typeface="Noto Sans"/>
                <a:ea typeface="Noto Sans"/>
                <a:cs typeface="Noto Sans"/>
              </a:rPr>
              <a:t>Datu ir daudz. Sistēmas nav.</a:t>
            </a:r>
          </a:p>
        </p:txBody>
      </p:sp>
      <p:sp>
        <p:nvSpPr>
          <p:cNvPr id="4" name="Rectangle 3">
            <a:extLst>
              <a:ext uri="{FF2B5EF4-FFF2-40B4-BE49-F238E27FC236}">
                <a16:creationId xmlns:a16="http://schemas.microsoft.com/office/drawing/2014/main" id="{6717FBA1-38B5-41D7-9CA2-5B08C19939B1}"/>
              </a:ext>
            </a:extLst>
          </p:cNvPr>
          <p:cNvSpPr>
            <a:spLocks noGrp="1"/>
          </p:cNvSpPr>
          <p:nvPr/>
        </p:nvSpPr>
        <p:spPr>
          <a:xfrm>
            <a:off x="581025" y="1219200"/>
            <a:ext cx="10287000" cy="323850"/>
          </a:xfrm>
          <a:prstGeom prst="rect">
            <a:avLst/>
          </a:prstGeom>
          <a:noFill/>
          <a:ln w="0">
            <a:noFill/>
            <a:prstDash val="solid"/>
          </a:ln>
        </p:spPr>
        <p:txBody>
          <a:bodyPr lIns="76200" tIns="38100" rIns="76200" bIns="38100" anchor="t">
            <a:normAutofit/>
          </a:bodyPr>
          <a:lstStyle/>
          <a:p>
            <a:pPr algn="l">
              <a:lnSpc>
                <a:spcPct val="104000"/>
              </a:lnSpc>
              <a:buNone/>
              <a:defRPr sz="1500" b="0">
                <a:solidFill>
                  <a:srgbClr val="64748B"/>
                </a:solidFill>
                <a:latin typeface="Noto Sans"/>
                <a:ea typeface="Noto Sans"/>
                <a:cs typeface="Noto Sans"/>
              </a:defRPr>
            </a:pPr>
            <a:r>
              <a:rPr sz="1500" b="0">
                <a:solidFill>
                  <a:srgbClr val="64748B"/>
                </a:solidFill>
                <a:latin typeface="Noto Sans"/>
                <a:ea typeface="Noto Sans"/>
                <a:cs typeface="Noto Sans"/>
              </a:rPr>
              <a:t>Potenciālā vide mazā vai vidējā loģistikas uzņēmumā</a:t>
            </a:r>
          </a:p>
        </p:txBody>
      </p:sp>
      <p:sp>
        <p:nvSpPr>
          <p:cNvPr id="5" name="Rectangle 4">
            <a:extLst>
              <a:ext uri="{FF2B5EF4-FFF2-40B4-BE49-F238E27FC236}">
                <a16:creationId xmlns:a16="http://schemas.microsoft.com/office/drawing/2014/main" id="{84877F2C-1A1B-4639-BEB4-3FCECE6047C0}"/>
              </a:ext>
            </a:extLst>
          </p:cNvPr>
          <p:cNvSpPr>
            <a:spLocks noGrp="1"/>
          </p:cNvSpPr>
          <p:nvPr/>
        </p:nvSpPr>
        <p:spPr>
          <a:xfrm>
            <a:off x="552450" y="1600200"/>
            <a:ext cx="11087100" cy="19050"/>
          </a:xfrm>
          <a:prstGeom prst="rect">
            <a:avLst/>
          </a:prstGeom>
          <a:solidFill>
            <a:srgbClr val="C7D7E2"/>
          </a:solidFill>
          <a:ln w="0">
            <a:noFill/>
            <a:prstDash val="solid"/>
          </a:ln>
        </p:spPr>
        <p:txBody>
          <a:bodyPr/>
          <a:lstStyle/>
          <a:p>
            <a:endParaRPr lang="en-US"/>
          </a:p>
        </p:txBody>
      </p:sp>
      <p:sp>
        <p:nvSpPr>
          <p:cNvPr id="6" name="Rounded Rectangle 5">
            <a:extLst>
              <a:ext uri="{FF2B5EF4-FFF2-40B4-BE49-F238E27FC236}">
                <a16:creationId xmlns:a16="http://schemas.microsoft.com/office/drawing/2014/main" id="{B732E863-DB36-4CA6-8E92-95BBA549CEF3}"/>
              </a:ext>
            </a:extLst>
          </p:cNvPr>
          <p:cNvSpPr>
            <a:spLocks noGrp="1"/>
          </p:cNvSpPr>
          <p:nvPr/>
        </p:nvSpPr>
        <p:spPr>
          <a:xfrm>
            <a:off x="628650" y="1990725"/>
            <a:ext cx="1695450" cy="457200"/>
          </a:xfrm>
          <a:prstGeom prst="roundRect">
            <a:avLst>
              <a:gd name="adj" fmla="val 20833"/>
            </a:avLst>
          </a:prstGeom>
          <a:solidFill>
            <a:srgbClr val="F1F5F9"/>
          </a:solidFill>
          <a:ln w="0">
            <a:noFill/>
            <a:prstDash val="solid"/>
          </a:ln>
        </p:spPr>
        <p:txBody>
          <a:bodyPr lIns="76200" tIns="38100" rIns="76200" bIns="38100" anchor="ctr">
            <a:normAutofit/>
          </a:bodyPr>
          <a:lstStyle/>
          <a:p>
            <a:pPr algn="ctr">
              <a:lnSpc>
                <a:spcPct val="104000"/>
              </a:lnSpc>
              <a:buNone/>
              <a:defRPr sz="1350" b="1">
                <a:solidFill>
                  <a:srgbClr val="0F172A"/>
                </a:solidFill>
                <a:latin typeface="Noto Sans"/>
                <a:ea typeface="Noto Sans"/>
                <a:cs typeface="Noto Sans"/>
              </a:defRPr>
            </a:pPr>
            <a:r>
              <a:rPr sz="1350" b="1">
                <a:solidFill>
                  <a:srgbClr val="0F172A"/>
                </a:solidFill>
                <a:latin typeface="Noto Sans"/>
                <a:ea typeface="Noto Sans"/>
                <a:cs typeface="Noto Sans"/>
              </a:rPr>
              <a:t>Excel / CSV</a:t>
            </a:r>
          </a:p>
        </p:txBody>
      </p:sp>
      <p:sp>
        <p:nvSpPr>
          <p:cNvPr id="7" name="Rounded Rectangle 6">
            <a:extLst>
              <a:ext uri="{FF2B5EF4-FFF2-40B4-BE49-F238E27FC236}">
                <a16:creationId xmlns:a16="http://schemas.microsoft.com/office/drawing/2014/main" id="{678A80B1-54A4-47B8-A8A8-1418E2E56E81}"/>
              </a:ext>
            </a:extLst>
          </p:cNvPr>
          <p:cNvSpPr>
            <a:spLocks noGrp="1"/>
          </p:cNvSpPr>
          <p:nvPr/>
        </p:nvSpPr>
        <p:spPr>
          <a:xfrm>
            <a:off x="2581275" y="1990725"/>
            <a:ext cx="1695450" cy="457200"/>
          </a:xfrm>
          <a:prstGeom prst="roundRect">
            <a:avLst>
              <a:gd name="adj" fmla="val 20833"/>
            </a:avLst>
          </a:prstGeom>
          <a:solidFill>
            <a:srgbClr val="F1F5F9"/>
          </a:solidFill>
          <a:ln w="0">
            <a:noFill/>
            <a:prstDash val="solid"/>
          </a:ln>
        </p:spPr>
        <p:txBody>
          <a:bodyPr lIns="76200" tIns="38100" rIns="76200" bIns="38100" anchor="ctr">
            <a:normAutofit/>
          </a:bodyPr>
          <a:lstStyle/>
          <a:p>
            <a:pPr algn="ctr">
              <a:lnSpc>
                <a:spcPct val="104000"/>
              </a:lnSpc>
              <a:buNone/>
              <a:defRPr sz="1350" b="1">
                <a:solidFill>
                  <a:srgbClr val="123A63"/>
                </a:solidFill>
                <a:latin typeface="Noto Sans"/>
                <a:ea typeface="Noto Sans"/>
                <a:cs typeface="Noto Sans"/>
              </a:defRPr>
            </a:pPr>
            <a:r>
              <a:rPr sz="1350" b="1">
                <a:solidFill>
                  <a:srgbClr val="123A63"/>
                </a:solidFill>
                <a:latin typeface="Noto Sans"/>
                <a:ea typeface="Noto Sans"/>
                <a:cs typeface="Noto Sans"/>
              </a:rPr>
              <a:t>Rēķini</a:t>
            </a:r>
          </a:p>
        </p:txBody>
      </p:sp>
      <p:sp>
        <p:nvSpPr>
          <p:cNvPr id="8" name="Rounded Rectangle 7">
            <a:extLst>
              <a:ext uri="{FF2B5EF4-FFF2-40B4-BE49-F238E27FC236}">
                <a16:creationId xmlns:a16="http://schemas.microsoft.com/office/drawing/2014/main" id="{65C5D17F-9CCC-4ADC-B305-13F31160A724}"/>
              </a:ext>
            </a:extLst>
          </p:cNvPr>
          <p:cNvSpPr>
            <a:spLocks noGrp="1"/>
          </p:cNvSpPr>
          <p:nvPr/>
        </p:nvSpPr>
        <p:spPr>
          <a:xfrm>
            <a:off x="628650" y="2724150"/>
            <a:ext cx="1695450" cy="457200"/>
          </a:xfrm>
          <a:prstGeom prst="roundRect">
            <a:avLst>
              <a:gd name="adj" fmla="val 20833"/>
            </a:avLst>
          </a:prstGeom>
          <a:solidFill>
            <a:srgbClr val="F1F5F9"/>
          </a:solidFill>
          <a:ln w="0">
            <a:noFill/>
            <a:prstDash val="solid"/>
          </a:ln>
        </p:spPr>
        <p:txBody>
          <a:bodyPr lIns="76200" tIns="38100" rIns="76200" bIns="38100" anchor="ctr">
            <a:normAutofit/>
          </a:bodyPr>
          <a:lstStyle/>
          <a:p>
            <a:pPr algn="ctr">
              <a:lnSpc>
                <a:spcPct val="104000"/>
              </a:lnSpc>
              <a:buNone/>
              <a:defRPr sz="1350" b="1">
                <a:solidFill>
                  <a:srgbClr val="0F172A"/>
                </a:solidFill>
                <a:latin typeface="Noto Sans"/>
                <a:ea typeface="Noto Sans"/>
                <a:cs typeface="Noto Sans"/>
              </a:defRPr>
            </a:pPr>
            <a:r>
              <a:rPr sz="1350" b="1">
                <a:solidFill>
                  <a:srgbClr val="0F172A"/>
                </a:solidFill>
                <a:latin typeface="Noto Sans"/>
                <a:ea typeface="Noto Sans"/>
                <a:cs typeface="Noto Sans"/>
              </a:rPr>
              <a:t>B/L</a:t>
            </a:r>
          </a:p>
        </p:txBody>
      </p:sp>
      <p:sp>
        <p:nvSpPr>
          <p:cNvPr id="9" name="Rounded Rectangle 8">
            <a:extLst>
              <a:ext uri="{FF2B5EF4-FFF2-40B4-BE49-F238E27FC236}">
                <a16:creationId xmlns:a16="http://schemas.microsoft.com/office/drawing/2014/main" id="{77BE96FB-64F0-462A-803E-1856EBBE1788}"/>
              </a:ext>
            </a:extLst>
          </p:cNvPr>
          <p:cNvSpPr>
            <a:spLocks noGrp="1"/>
          </p:cNvSpPr>
          <p:nvPr/>
        </p:nvSpPr>
        <p:spPr>
          <a:xfrm>
            <a:off x="2581275" y="2724150"/>
            <a:ext cx="1695450" cy="457200"/>
          </a:xfrm>
          <a:prstGeom prst="roundRect">
            <a:avLst>
              <a:gd name="adj" fmla="val 20833"/>
            </a:avLst>
          </a:prstGeom>
          <a:solidFill>
            <a:srgbClr val="F1F5F9"/>
          </a:solidFill>
          <a:ln w="0">
            <a:noFill/>
            <a:prstDash val="solid"/>
          </a:ln>
        </p:spPr>
        <p:txBody>
          <a:bodyPr lIns="76200" tIns="38100" rIns="76200" bIns="38100" anchor="ctr">
            <a:normAutofit/>
          </a:bodyPr>
          <a:lstStyle/>
          <a:p>
            <a:pPr algn="ctr">
              <a:lnSpc>
                <a:spcPct val="104000"/>
              </a:lnSpc>
              <a:buNone/>
              <a:defRPr sz="1350" b="1">
                <a:solidFill>
                  <a:srgbClr val="123A63"/>
                </a:solidFill>
                <a:latin typeface="Noto Sans"/>
                <a:ea typeface="Noto Sans"/>
                <a:cs typeface="Noto Sans"/>
              </a:defRPr>
            </a:pPr>
            <a:r>
              <a:rPr sz="1350" b="1">
                <a:solidFill>
                  <a:srgbClr val="123A63"/>
                </a:solidFill>
                <a:latin typeface="Noto Sans"/>
                <a:ea typeface="Noto Sans"/>
                <a:cs typeface="Noto Sans"/>
              </a:rPr>
              <a:t>E-pasts</a:t>
            </a:r>
          </a:p>
        </p:txBody>
      </p:sp>
      <p:sp>
        <p:nvSpPr>
          <p:cNvPr id="10" name="Rounded Rectangle 9">
            <a:extLst>
              <a:ext uri="{FF2B5EF4-FFF2-40B4-BE49-F238E27FC236}">
                <a16:creationId xmlns:a16="http://schemas.microsoft.com/office/drawing/2014/main" id="{510548FE-6FA0-44FE-96A1-335394717CA2}"/>
              </a:ext>
            </a:extLst>
          </p:cNvPr>
          <p:cNvSpPr>
            <a:spLocks noGrp="1"/>
          </p:cNvSpPr>
          <p:nvPr/>
        </p:nvSpPr>
        <p:spPr>
          <a:xfrm>
            <a:off x="628650" y="3457575"/>
            <a:ext cx="1695450" cy="457200"/>
          </a:xfrm>
          <a:prstGeom prst="roundRect">
            <a:avLst>
              <a:gd name="adj" fmla="val 20833"/>
            </a:avLst>
          </a:prstGeom>
          <a:solidFill>
            <a:srgbClr val="F1F5F9"/>
          </a:solidFill>
          <a:ln w="0">
            <a:noFill/>
            <a:prstDash val="solid"/>
          </a:ln>
        </p:spPr>
        <p:txBody>
          <a:bodyPr lIns="76200" tIns="38100" rIns="76200" bIns="38100" anchor="ctr">
            <a:normAutofit/>
          </a:bodyPr>
          <a:lstStyle/>
          <a:p>
            <a:pPr algn="ctr">
              <a:lnSpc>
                <a:spcPct val="104000"/>
              </a:lnSpc>
              <a:buNone/>
              <a:defRPr sz="1350" b="1">
                <a:solidFill>
                  <a:srgbClr val="0F172A"/>
                </a:solidFill>
                <a:latin typeface="Noto Sans"/>
                <a:ea typeface="Noto Sans"/>
                <a:cs typeface="Noto Sans"/>
              </a:defRPr>
            </a:pPr>
            <a:r>
              <a:rPr sz="1350" b="1">
                <a:solidFill>
                  <a:srgbClr val="0F172A"/>
                </a:solidFill>
                <a:latin typeface="Noto Sans"/>
                <a:ea typeface="Noto Sans"/>
                <a:cs typeface="Noto Sans"/>
              </a:rPr>
              <a:t>TMS</a:t>
            </a:r>
          </a:p>
        </p:txBody>
      </p:sp>
      <p:sp>
        <p:nvSpPr>
          <p:cNvPr id="11" name="Rounded Rectangle 10">
            <a:extLst>
              <a:ext uri="{FF2B5EF4-FFF2-40B4-BE49-F238E27FC236}">
                <a16:creationId xmlns:a16="http://schemas.microsoft.com/office/drawing/2014/main" id="{C73ED6AF-3C03-45F2-A907-B5152E0B4182}"/>
              </a:ext>
            </a:extLst>
          </p:cNvPr>
          <p:cNvSpPr>
            <a:spLocks noGrp="1"/>
          </p:cNvSpPr>
          <p:nvPr/>
        </p:nvSpPr>
        <p:spPr>
          <a:xfrm>
            <a:off x="2581275" y="3457575"/>
            <a:ext cx="1695450" cy="457200"/>
          </a:xfrm>
          <a:prstGeom prst="roundRect">
            <a:avLst>
              <a:gd name="adj" fmla="val 20833"/>
            </a:avLst>
          </a:prstGeom>
          <a:solidFill>
            <a:srgbClr val="F1F5F9"/>
          </a:solidFill>
          <a:ln w="0">
            <a:noFill/>
            <a:prstDash val="solid"/>
          </a:ln>
        </p:spPr>
        <p:txBody>
          <a:bodyPr lIns="76200" tIns="38100" rIns="76200" bIns="38100" anchor="ctr">
            <a:normAutofit/>
          </a:bodyPr>
          <a:lstStyle/>
          <a:p>
            <a:pPr algn="ctr">
              <a:lnSpc>
                <a:spcPct val="104000"/>
              </a:lnSpc>
              <a:buNone/>
              <a:defRPr sz="1350" b="1">
                <a:solidFill>
                  <a:srgbClr val="123A63"/>
                </a:solidFill>
                <a:latin typeface="Noto Sans"/>
                <a:ea typeface="Noto Sans"/>
                <a:cs typeface="Noto Sans"/>
              </a:defRPr>
            </a:pPr>
            <a:r>
              <a:rPr sz="1350" b="1">
                <a:solidFill>
                  <a:srgbClr val="123A63"/>
                </a:solidFill>
                <a:latin typeface="Noto Sans"/>
                <a:ea typeface="Noto Sans"/>
                <a:cs typeface="Noto Sans"/>
              </a:rPr>
              <a:t>ERP</a:t>
            </a:r>
          </a:p>
        </p:txBody>
      </p:sp>
      <p:sp>
        <p:nvSpPr>
          <p:cNvPr id="12" name="Rounded Rectangle 11">
            <a:extLst>
              <a:ext uri="{FF2B5EF4-FFF2-40B4-BE49-F238E27FC236}">
                <a16:creationId xmlns:a16="http://schemas.microsoft.com/office/drawing/2014/main" id="{9DBDF948-0F6D-4BC1-95AA-F4941EC02F5F}"/>
              </a:ext>
            </a:extLst>
          </p:cNvPr>
          <p:cNvSpPr>
            <a:spLocks noGrp="1"/>
          </p:cNvSpPr>
          <p:nvPr/>
        </p:nvSpPr>
        <p:spPr>
          <a:xfrm>
            <a:off x="628650" y="4191000"/>
            <a:ext cx="1695450" cy="457200"/>
          </a:xfrm>
          <a:prstGeom prst="roundRect">
            <a:avLst>
              <a:gd name="adj" fmla="val 20833"/>
            </a:avLst>
          </a:prstGeom>
          <a:solidFill>
            <a:srgbClr val="F1F5F9"/>
          </a:solidFill>
          <a:ln w="0">
            <a:noFill/>
            <a:prstDash val="solid"/>
          </a:ln>
        </p:spPr>
        <p:txBody>
          <a:bodyPr lIns="76200" tIns="38100" rIns="76200" bIns="38100" anchor="ctr">
            <a:normAutofit/>
          </a:bodyPr>
          <a:lstStyle/>
          <a:p>
            <a:pPr algn="ctr">
              <a:lnSpc>
                <a:spcPct val="104000"/>
              </a:lnSpc>
              <a:buNone/>
              <a:defRPr sz="1350" b="1">
                <a:solidFill>
                  <a:srgbClr val="0F172A"/>
                </a:solidFill>
                <a:latin typeface="Noto Sans"/>
                <a:ea typeface="Noto Sans"/>
                <a:cs typeface="Noto Sans"/>
              </a:defRPr>
            </a:pPr>
            <a:r>
              <a:rPr sz="1350" b="1">
                <a:solidFill>
                  <a:srgbClr val="0F172A"/>
                </a:solidFill>
                <a:latin typeface="Noto Sans"/>
                <a:ea typeface="Noto Sans"/>
                <a:cs typeface="Noto Sans"/>
              </a:rPr>
              <a:t>Carrier portāli</a:t>
            </a:r>
          </a:p>
        </p:txBody>
      </p:sp>
      <p:sp>
        <p:nvSpPr>
          <p:cNvPr id="13" name="Rounded Rectangle 12">
            <a:extLst>
              <a:ext uri="{FF2B5EF4-FFF2-40B4-BE49-F238E27FC236}">
                <a16:creationId xmlns:a16="http://schemas.microsoft.com/office/drawing/2014/main" id="{15E891E1-E997-4810-B3C9-AB657558823A}"/>
              </a:ext>
            </a:extLst>
          </p:cNvPr>
          <p:cNvSpPr>
            <a:spLocks noGrp="1"/>
          </p:cNvSpPr>
          <p:nvPr/>
        </p:nvSpPr>
        <p:spPr>
          <a:xfrm>
            <a:off x="2581275" y="4191000"/>
            <a:ext cx="1695450" cy="457200"/>
          </a:xfrm>
          <a:prstGeom prst="roundRect">
            <a:avLst>
              <a:gd name="adj" fmla="val 20833"/>
            </a:avLst>
          </a:prstGeom>
          <a:solidFill>
            <a:srgbClr val="F1F5F9"/>
          </a:solidFill>
          <a:ln w="0">
            <a:noFill/>
            <a:prstDash val="solid"/>
          </a:ln>
        </p:spPr>
        <p:txBody>
          <a:bodyPr lIns="76200" tIns="38100" rIns="76200" bIns="38100" anchor="ctr">
            <a:normAutofit/>
          </a:bodyPr>
          <a:lstStyle/>
          <a:p>
            <a:pPr algn="ctr">
              <a:lnSpc>
                <a:spcPct val="104000"/>
              </a:lnSpc>
              <a:buNone/>
              <a:defRPr sz="1350" b="1">
                <a:solidFill>
                  <a:srgbClr val="123A63"/>
                </a:solidFill>
                <a:latin typeface="Noto Sans"/>
                <a:ea typeface="Noto Sans"/>
                <a:cs typeface="Noto Sans"/>
              </a:defRPr>
            </a:pPr>
            <a:r>
              <a:rPr sz="1350" b="1">
                <a:solidFill>
                  <a:srgbClr val="123A63"/>
                </a:solidFill>
                <a:latin typeface="Noto Sans"/>
                <a:ea typeface="Noto Sans"/>
                <a:cs typeface="Noto Sans"/>
              </a:rPr>
              <a:t>Banka</a:t>
            </a:r>
          </a:p>
        </p:txBody>
      </p:sp>
      <p:sp>
        <p:nvSpPr>
          <p:cNvPr id="14" name="Rectangle 13">
            <a:extLst>
              <a:ext uri="{FF2B5EF4-FFF2-40B4-BE49-F238E27FC236}">
                <a16:creationId xmlns:a16="http://schemas.microsoft.com/office/drawing/2014/main" id="{2AC35714-C36A-4B82-88B3-DE261F6AC0A5}"/>
              </a:ext>
            </a:extLst>
          </p:cNvPr>
          <p:cNvSpPr>
            <a:spLocks noGrp="1"/>
          </p:cNvSpPr>
          <p:nvPr/>
        </p:nvSpPr>
        <p:spPr>
          <a:xfrm>
            <a:off x="4619625" y="2076450"/>
            <a:ext cx="19050" cy="3067050"/>
          </a:xfrm>
          <a:prstGeom prst="rect">
            <a:avLst/>
          </a:prstGeom>
          <a:solidFill>
            <a:srgbClr val="C7D7E2"/>
          </a:solidFill>
          <a:ln w="0">
            <a:noFill/>
            <a:prstDash val="solid"/>
          </a:ln>
        </p:spPr>
        <p:txBody>
          <a:bodyPr/>
          <a:lstStyle/>
          <a:p>
            <a:endParaRPr lang="en-US"/>
          </a:p>
        </p:txBody>
      </p:sp>
      <p:sp>
        <p:nvSpPr>
          <p:cNvPr id="15" name="Rectangle 14">
            <a:extLst>
              <a:ext uri="{FF2B5EF4-FFF2-40B4-BE49-F238E27FC236}">
                <a16:creationId xmlns:a16="http://schemas.microsoft.com/office/drawing/2014/main" id="{4B0E677A-3194-4911-BEFD-BD7892674DCE}"/>
              </a:ext>
            </a:extLst>
          </p:cNvPr>
          <p:cNvSpPr>
            <a:spLocks noGrp="1"/>
          </p:cNvSpPr>
          <p:nvPr/>
        </p:nvSpPr>
        <p:spPr>
          <a:xfrm>
            <a:off x="4848225" y="2828925"/>
            <a:ext cx="904875" cy="904875"/>
          </a:xfrm>
          <a:prstGeom prst="rect">
            <a:avLst/>
          </a:prstGeom>
          <a:noFill/>
          <a:ln w="0">
            <a:noFill/>
            <a:prstDash val="solid"/>
          </a:ln>
        </p:spPr>
        <p:txBody>
          <a:bodyPr lIns="76200" tIns="38100" rIns="76200" bIns="38100" anchor="ctr">
            <a:normAutofit/>
          </a:bodyPr>
          <a:lstStyle/>
          <a:p>
            <a:pPr algn="ctr">
              <a:lnSpc>
                <a:spcPct val="104000"/>
              </a:lnSpc>
              <a:buNone/>
              <a:defRPr sz="5100" b="1">
                <a:solidFill>
                  <a:srgbClr val="E66A5C"/>
                </a:solidFill>
                <a:latin typeface="Noto Sans"/>
                <a:ea typeface="Noto Sans"/>
                <a:cs typeface="Noto Sans"/>
              </a:defRPr>
            </a:pPr>
            <a:r>
              <a:rPr sz="5100" b="1">
                <a:solidFill>
                  <a:srgbClr val="E66A5C"/>
                </a:solidFill>
                <a:latin typeface="Noto Sans"/>
                <a:ea typeface="Noto Sans"/>
                <a:cs typeface="Noto Sans"/>
              </a:rPr>
              <a:t>↯</a:t>
            </a:r>
          </a:p>
        </p:txBody>
      </p:sp>
      <p:sp>
        <p:nvSpPr>
          <p:cNvPr id="16" name="Rectangle 15">
            <a:extLst>
              <a:ext uri="{FF2B5EF4-FFF2-40B4-BE49-F238E27FC236}">
                <a16:creationId xmlns:a16="http://schemas.microsoft.com/office/drawing/2014/main" id="{E05FB81D-22A7-4476-A412-BB843A92519F}"/>
              </a:ext>
            </a:extLst>
          </p:cNvPr>
          <p:cNvSpPr>
            <a:spLocks noGrp="1"/>
          </p:cNvSpPr>
          <p:nvPr/>
        </p:nvSpPr>
        <p:spPr>
          <a:xfrm>
            <a:off x="4733925" y="3714750"/>
            <a:ext cx="1162050" cy="666750"/>
          </a:xfrm>
          <a:prstGeom prst="rect">
            <a:avLst/>
          </a:prstGeom>
          <a:noFill/>
          <a:ln w="0">
            <a:noFill/>
            <a:prstDash val="solid"/>
          </a:ln>
        </p:spPr>
        <p:txBody>
          <a:bodyPr lIns="76200" tIns="38100" rIns="76200" bIns="38100" anchor="ctr">
            <a:normAutofit/>
          </a:bodyPr>
          <a:lstStyle/>
          <a:p>
            <a:pPr algn="ctr">
              <a:lnSpc>
                <a:spcPct val="104000"/>
              </a:lnSpc>
              <a:buNone/>
              <a:defRPr sz="1350" b="1">
                <a:solidFill>
                  <a:srgbClr val="64748B"/>
                </a:solidFill>
                <a:latin typeface="Noto Sans"/>
                <a:ea typeface="Noto Sans"/>
                <a:cs typeface="Noto Sans"/>
              </a:defRPr>
            </a:pPr>
            <a:r>
              <a:rPr sz="1350" b="1">
                <a:solidFill>
                  <a:srgbClr val="64748B"/>
                </a:solidFill>
                <a:latin typeface="Noto Sans"/>
                <a:ea typeface="Noto Sans"/>
                <a:cs typeface="Noto Sans"/>
              </a:rPr>
              <a:t>NESAISTĪTI</a:t>
            </a:r>
          </a:p>
          <a:p>
            <a:pPr algn="ctr">
              <a:lnSpc>
                <a:spcPct val="104000"/>
              </a:lnSpc>
              <a:buNone/>
              <a:defRPr sz="1350" b="1">
                <a:solidFill>
                  <a:srgbClr val="64748B"/>
                </a:solidFill>
                <a:latin typeface="Noto Sans"/>
                <a:ea typeface="Noto Sans"/>
                <a:cs typeface="Noto Sans"/>
              </a:defRPr>
            </a:pPr>
            <a:r>
              <a:rPr sz="1350" b="1">
                <a:solidFill>
                  <a:srgbClr val="64748B"/>
                </a:solidFill>
                <a:latin typeface="Noto Sans"/>
                <a:ea typeface="Noto Sans"/>
                <a:cs typeface="Noto Sans"/>
              </a:rPr>
              <a:t>DATI</a:t>
            </a:r>
          </a:p>
        </p:txBody>
      </p:sp>
      <p:sp>
        <p:nvSpPr>
          <p:cNvPr id="17" name="Rectangle 16">
            <a:extLst>
              <a:ext uri="{FF2B5EF4-FFF2-40B4-BE49-F238E27FC236}">
                <a16:creationId xmlns:a16="http://schemas.microsoft.com/office/drawing/2014/main" id="{084D840A-9E42-48B6-B0DE-433CF5C090F3}"/>
              </a:ext>
            </a:extLst>
          </p:cNvPr>
          <p:cNvSpPr>
            <a:spLocks noGrp="1"/>
          </p:cNvSpPr>
          <p:nvPr/>
        </p:nvSpPr>
        <p:spPr>
          <a:xfrm>
            <a:off x="6334125" y="1943100"/>
            <a:ext cx="4762500" cy="400050"/>
          </a:xfrm>
          <a:prstGeom prst="rect">
            <a:avLst/>
          </a:prstGeom>
          <a:noFill/>
          <a:ln w="0">
            <a:noFill/>
            <a:prstDash val="solid"/>
          </a:ln>
        </p:spPr>
        <p:txBody>
          <a:bodyPr lIns="76200" tIns="38100" rIns="76200" bIns="38100" anchor="ctr">
            <a:normAutofit/>
          </a:bodyPr>
          <a:lstStyle/>
          <a:p>
            <a:pPr algn="l">
              <a:lnSpc>
                <a:spcPct val="104000"/>
              </a:lnSpc>
              <a:buNone/>
              <a:defRPr sz="1650" b="0">
                <a:solidFill>
                  <a:srgbClr val="0F172A"/>
                </a:solidFill>
                <a:latin typeface="Noto Sans"/>
                <a:ea typeface="Noto Sans"/>
                <a:cs typeface="Noto Sans"/>
              </a:defRPr>
            </a:pPr>
            <a:r>
              <a:rPr sz="1650" b="0">
                <a:solidFill>
                  <a:srgbClr val="0F172A"/>
                </a:solidFill>
                <a:latin typeface="Noto Sans"/>
                <a:ea typeface="Noto Sans"/>
                <a:cs typeface="Noto Sans"/>
              </a:rPr>
              <a:t>•  Atkārtota manuāla ievade</a:t>
            </a:r>
          </a:p>
        </p:txBody>
      </p:sp>
      <p:sp>
        <p:nvSpPr>
          <p:cNvPr id="18" name="Rectangle 17">
            <a:extLst>
              <a:ext uri="{FF2B5EF4-FFF2-40B4-BE49-F238E27FC236}">
                <a16:creationId xmlns:a16="http://schemas.microsoft.com/office/drawing/2014/main" id="{3BC71EFD-9D10-47DC-8C32-C395C988A9E5}"/>
              </a:ext>
            </a:extLst>
          </p:cNvPr>
          <p:cNvSpPr>
            <a:spLocks noGrp="1"/>
          </p:cNvSpPr>
          <p:nvPr/>
        </p:nvSpPr>
        <p:spPr>
          <a:xfrm>
            <a:off x="6334125" y="2495550"/>
            <a:ext cx="4762500" cy="400050"/>
          </a:xfrm>
          <a:prstGeom prst="rect">
            <a:avLst/>
          </a:prstGeom>
          <a:noFill/>
          <a:ln w="0">
            <a:noFill/>
            <a:prstDash val="solid"/>
          </a:ln>
        </p:spPr>
        <p:txBody>
          <a:bodyPr lIns="76200" tIns="38100" rIns="76200" bIns="38100" anchor="ctr">
            <a:normAutofit/>
          </a:bodyPr>
          <a:lstStyle/>
          <a:p>
            <a:pPr algn="l">
              <a:lnSpc>
                <a:spcPct val="104000"/>
              </a:lnSpc>
              <a:buNone/>
              <a:defRPr sz="1650" b="0">
                <a:solidFill>
                  <a:srgbClr val="0F172A"/>
                </a:solidFill>
                <a:latin typeface="Noto Sans"/>
                <a:ea typeface="Noto Sans"/>
                <a:cs typeface="Noto Sans"/>
              </a:defRPr>
            </a:pPr>
            <a:r>
              <a:rPr sz="1650" b="0">
                <a:solidFill>
                  <a:srgbClr val="0F172A"/>
                </a:solidFill>
                <a:latin typeface="Noto Sans"/>
                <a:ea typeface="Noto Sans"/>
                <a:cs typeface="Noto Sans"/>
              </a:rPr>
              <a:t>•  Manuāli reporti</a:t>
            </a:r>
          </a:p>
        </p:txBody>
      </p:sp>
      <p:sp>
        <p:nvSpPr>
          <p:cNvPr id="19" name="Rectangle 18">
            <a:extLst>
              <a:ext uri="{FF2B5EF4-FFF2-40B4-BE49-F238E27FC236}">
                <a16:creationId xmlns:a16="http://schemas.microsoft.com/office/drawing/2014/main" id="{1AA76729-4876-4FDF-B342-1B85D7D0917D}"/>
              </a:ext>
            </a:extLst>
          </p:cNvPr>
          <p:cNvSpPr>
            <a:spLocks noGrp="1"/>
          </p:cNvSpPr>
          <p:nvPr/>
        </p:nvSpPr>
        <p:spPr>
          <a:xfrm>
            <a:off x="6334125" y="3048000"/>
            <a:ext cx="4762500" cy="400050"/>
          </a:xfrm>
          <a:prstGeom prst="rect">
            <a:avLst/>
          </a:prstGeom>
          <a:noFill/>
          <a:ln w="0">
            <a:noFill/>
            <a:prstDash val="solid"/>
          </a:ln>
        </p:spPr>
        <p:txBody>
          <a:bodyPr lIns="76200" tIns="38100" rIns="76200" bIns="38100" anchor="ctr">
            <a:normAutofit/>
          </a:bodyPr>
          <a:lstStyle/>
          <a:p>
            <a:pPr algn="l">
              <a:lnSpc>
                <a:spcPct val="104000"/>
              </a:lnSpc>
              <a:buNone/>
              <a:defRPr sz="1650" b="0">
                <a:solidFill>
                  <a:srgbClr val="0F172A"/>
                </a:solidFill>
                <a:latin typeface="Noto Sans"/>
                <a:ea typeface="Noto Sans"/>
                <a:cs typeface="Noto Sans"/>
              </a:defRPr>
            </a:pPr>
            <a:r>
              <a:rPr sz="1650" b="0">
                <a:solidFill>
                  <a:srgbClr val="0F172A"/>
                </a:solidFill>
                <a:latin typeface="Noto Sans"/>
                <a:ea typeface="Noto Sans"/>
                <a:cs typeface="Noto Sans"/>
              </a:rPr>
              <a:t>•  Datu kvalitātes problēmas</a:t>
            </a:r>
          </a:p>
        </p:txBody>
      </p:sp>
      <p:sp>
        <p:nvSpPr>
          <p:cNvPr id="20" name="Rectangle 19">
            <a:extLst>
              <a:ext uri="{FF2B5EF4-FFF2-40B4-BE49-F238E27FC236}">
                <a16:creationId xmlns:a16="http://schemas.microsoft.com/office/drawing/2014/main" id="{EE89440D-0810-4528-B8BB-B9BF0B8814CE}"/>
              </a:ext>
            </a:extLst>
          </p:cNvPr>
          <p:cNvSpPr>
            <a:spLocks noGrp="1"/>
          </p:cNvSpPr>
          <p:nvPr/>
        </p:nvSpPr>
        <p:spPr>
          <a:xfrm>
            <a:off x="6334125" y="3600450"/>
            <a:ext cx="4762500" cy="400050"/>
          </a:xfrm>
          <a:prstGeom prst="rect">
            <a:avLst/>
          </a:prstGeom>
          <a:noFill/>
          <a:ln w="0">
            <a:noFill/>
            <a:prstDash val="solid"/>
          </a:ln>
        </p:spPr>
        <p:txBody>
          <a:bodyPr lIns="76200" tIns="38100" rIns="76200" bIns="38100" anchor="ctr">
            <a:normAutofit/>
          </a:bodyPr>
          <a:lstStyle/>
          <a:p>
            <a:pPr algn="l">
              <a:lnSpc>
                <a:spcPct val="104000"/>
              </a:lnSpc>
              <a:buNone/>
              <a:defRPr sz="1650" b="0">
                <a:solidFill>
                  <a:srgbClr val="0F172A"/>
                </a:solidFill>
                <a:latin typeface="Noto Sans"/>
                <a:ea typeface="Noto Sans"/>
                <a:cs typeface="Noto Sans"/>
              </a:defRPr>
            </a:pPr>
            <a:r>
              <a:rPr sz="1650" b="0">
                <a:solidFill>
                  <a:srgbClr val="0F172A"/>
                </a:solidFill>
                <a:latin typeface="Noto Sans"/>
                <a:ea typeface="Noto Sans"/>
                <a:cs typeface="Noto Sans"/>
              </a:rPr>
              <a:t>•  Grūti redzēt peļņu pa shipment</a:t>
            </a:r>
          </a:p>
        </p:txBody>
      </p:sp>
      <p:sp>
        <p:nvSpPr>
          <p:cNvPr id="21" name="Rectangle 20">
            <a:extLst>
              <a:ext uri="{FF2B5EF4-FFF2-40B4-BE49-F238E27FC236}">
                <a16:creationId xmlns:a16="http://schemas.microsoft.com/office/drawing/2014/main" id="{178E86AF-C04E-4191-914D-0F46981DD2EA}"/>
              </a:ext>
            </a:extLst>
          </p:cNvPr>
          <p:cNvSpPr>
            <a:spLocks noGrp="1"/>
          </p:cNvSpPr>
          <p:nvPr/>
        </p:nvSpPr>
        <p:spPr>
          <a:xfrm>
            <a:off x="6334125" y="4152900"/>
            <a:ext cx="4762500" cy="400050"/>
          </a:xfrm>
          <a:prstGeom prst="rect">
            <a:avLst/>
          </a:prstGeom>
          <a:noFill/>
          <a:ln w="0">
            <a:noFill/>
            <a:prstDash val="solid"/>
          </a:ln>
        </p:spPr>
        <p:txBody>
          <a:bodyPr lIns="76200" tIns="38100" rIns="76200" bIns="38100" anchor="ctr">
            <a:normAutofit/>
          </a:bodyPr>
          <a:lstStyle/>
          <a:p>
            <a:pPr algn="l">
              <a:lnSpc>
                <a:spcPct val="104000"/>
              </a:lnSpc>
              <a:buNone/>
              <a:defRPr sz="1650" b="0">
                <a:solidFill>
                  <a:srgbClr val="0F172A"/>
                </a:solidFill>
                <a:latin typeface="Noto Sans"/>
                <a:ea typeface="Noto Sans"/>
                <a:cs typeface="Noto Sans"/>
              </a:defRPr>
            </a:pPr>
            <a:r>
              <a:rPr sz="1650" b="0">
                <a:solidFill>
                  <a:srgbClr val="0F172A"/>
                </a:solidFill>
                <a:latin typeface="Noto Sans"/>
                <a:ea typeface="Noto Sans"/>
                <a:cs typeface="Noto Sans"/>
              </a:rPr>
              <a:t>•  Vēsture nav izsekojama</a:t>
            </a:r>
          </a:p>
        </p:txBody>
      </p:sp>
      <p:sp>
        <p:nvSpPr>
          <p:cNvPr id="22" name="Rectangle 21">
            <a:extLst>
              <a:ext uri="{FF2B5EF4-FFF2-40B4-BE49-F238E27FC236}">
                <a16:creationId xmlns:a16="http://schemas.microsoft.com/office/drawing/2014/main" id="{B3C8395D-D366-407B-A6F2-76B56F5BBA0B}"/>
              </a:ext>
            </a:extLst>
          </p:cNvPr>
          <p:cNvSpPr>
            <a:spLocks noGrp="1"/>
          </p:cNvSpPr>
          <p:nvPr/>
        </p:nvSpPr>
        <p:spPr>
          <a:xfrm>
            <a:off x="6334125" y="4705350"/>
            <a:ext cx="4762500" cy="400050"/>
          </a:xfrm>
          <a:prstGeom prst="rect">
            <a:avLst/>
          </a:prstGeom>
          <a:noFill/>
          <a:ln w="0">
            <a:noFill/>
            <a:prstDash val="solid"/>
          </a:ln>
        </p:spPr>
        <p:txBody>
          <a:bodyPr lIns="76200" tIns="38100" rIns="76200" bIns="38100" anchor="ctr">
            <a:normAutofit/>
          </a:bodyPr>
          <a:lstStyle/>
          <a:p>
            <a:pPr algn="l">
              <a:lnSpc>
                <a:spcPct val="104000"/>
              </a:lnSpc>
              <a:buNone/>
              <a:defRPr sz="1650" b="0">
                <a:solidFill>
                  <a:srgbClr val="0F172A"/>
                </a:solidFill>
                <a:latin typeface="Noto Sans"/>
                <a:ea typeface="Noto Sans"/>
                <a:cs typeface="Noto Sans"/>
              </a:defRPr>
            </a:pPr>
            <a:r>
              <a:rPr sz="1650" b="0">
                <a:solidFill>
                  <a:srgbClr val="0F172A"/>
                </a:solidFill>
                <a:latin typeface="Noto Sans"/>
                <a:ea typeface="Noto Sans"/>
                <a:cs typeface="Noto Sans"/>
              </a:rPr>
              <a:t>•  Lēmumi no vairākiem avotiem</a:t>
            </a:r>
          </a:p>
        </p:txBody>
      </p:sp>
      <p:sp>
        <p:nvSpPr>
          <p:cNvPr id="23" name="Rounded Rectangle 22">
            <a:extLst>
              <a:ext uri="{FF2B5EF4-FFF2-40B4-BE49-F238E27FC236}">
                <a16:creationId xmlns:a16="http://schemas.microsoft.com/office/drawing/2014/main" id="{B3C088C7-B742-4F17-BFF8-6BC3C1D85984}"/>
              </a:ext>
            </a:extLst>
          </p:cNvPr>
          <p:cNvSpPr>
            <a:spLocks noGrp="1"/>
          </p:cNvSpPr>
          <p:nvPr/>
        </p:nvSpPr>
        <p:spPr>
          <a:xfrm>
            <a:off x="628650" y="5562600"/>
            <a:ext cx="10467975" cy="552450"/>
          </a:xfrm>
          <a:prstGeom prst="roundRect">
            <a:avLst>
              <a:gd name="adj" fmla="val 20690"/>
            </a:avLst>
          </a:prstGeom>
          <a:solidFill>
            <a:srgbClr val="EAF4FA"/>
          </a:solidFill>
          <a:ln w="0">
            <a:noFill/>
            <a:prstDash val="solid"/>
          </a:ln>
        </p:spPr>
        <p:txBody>
          <a:bodyPr lIns="76200" tIns="38100" rIns="76200" bIns="38100" anchor="ctr">
            <a:normAutofit/>
          </a:bodyPr>
          <a:lstStyle/>
          <a:p>
            <a:pPr algn="ctr">
              <a:lnSpc>
                <a:spcPct val="104000"/>
              </a:lnSpc>
              <a:buNone/>
              <a:defRPr sz="2025" b="1">
                <a:solidFill>
                  <a:srgbClr val="071525"/>
                </a:solidFill>
                <a:latin typeface="Noto Sans"/>
                <a:ea typeface="Noto Sans"/>
                <a:cs typeface="Noto Sans"/>
              </a:defRPr>
            </a:pPr>
            <a:r>
              <a:rPr sz="2025" b="1">
                <a:solidFill>
                  <a:srgbClr val="071525"/>
                </a:solidFill>
                <a:latin typeface="Noto Sans"/>
                <a:ea typeface="Noto Sans"/>
                <a:cs typeface="Noto Sans"/>
              </a:rPr>
              <a:t>Problēma nav datu trūkums. Problēma ir tas, ka dati nedarbojas kā viena sistēma.</a:t>
            </a:r>
          </a:p>
        </p:txBody>
      </p:sp>
      <p:sp>
        <p:nvSpPr>
          <p:cNvPr id="24" name="Rectangle 23">
            <a:extLst>
              <a:ext uri="{FF2B5EF4-FFF2-40B4-BE49-F238E27FC236}">
                <a16:creationId xmlns:a16="http://schemas.microsoft.com/office/drawing/2014/main" id="{7A962E70-6709-4FA6-AF42-1C9E13515D86}"/>
              </a:ext>
            </a:extLst>
          </p:cNvPr>
          <p:cNvSpPr>
            <a:spLocks noGrp="1"/>
          </p:cNvSpPr>
          <p:nvPr/>
        </p:nvSpPr>
        <p:spPr>
          <a:xfrm>
            <a:off x="552450" y="6486525"/>
            <a:ext cx="4762500" cy="171450"/>
          </a:xfrm>
          <a:prstGeom prst="rect">
            <a:avLst/>
          </a:prstGeom>
          <a:noFill/>
          <a:ln w="0">
            <a:noFill/>
            <a:prstDash val="solid"/>
          </a:ln>
        </p:spPr>
        <p:txBody>
          <a:bodyPr lIns="76200" tIns="38100" rIns="76200" bIns="38100" anchor="ctr">
            <a:normAutofit fontScale="61637"/>
          </a:bodyPr>
          <a:lstStyle/>
          <a:p>
            <a:pPr algn="l">
              <a:lnSpc>
                <a:spcPct val="104000"/>
              </a:lnSpc>
              <a:buNone/>
              <a:defRPr sz="975" b="0">
                <a:solidFill>
                  <a:srgbClr val="94A3B8"/>
                </a:solidFill>
                <a:latin typeface="Noto Sans"/>
                <a:ea typeface="Noto Sans"/>
                <a:cs typeface="Noto Sans"/>
              </a:defRPr>
            </a:pPr>
            <a:r>
              <a:rPr sz="975" b="0">
                <a:solidFill>
                  <a:srgbClr val="94A3B8"/>
                </a:solidFill>
                <a:latin typeface="Noto Sans"/>
                <a:ea typeface="Noto Sans"/>
                <a:cs typeface="Noto Sans"/>
              </a:rPr>
              <a:t>Hipotēze, kas jāpārbauda klientu intervijās</a:t>
            </a:r>
          </a:p>
        </p:txBody>
      </p:sp>
    </p:spTree>
    <p:extLst>
      <p:ext uri="{BB962C8B-B14F-4D97-AF65-F5344CB8AC3E}">
        <p14:creationId xmlns:p14="http://schemas.microsoft.com/office/powerpoint/2010/main" val="1068117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06BB537A-1A5C-48D5-ABFC-DDF55DC12A4A}"/>
              </a:ext>
            </a:extLst>
          </p:cNvPr>
          <p:cNvSpPr>
            <a:spLocks noGrp="1"/>
          </p:cNvSpPr>
          <p:nvPr/>
        </p:nvSpPr>
        <p:spPr>
          <a:xfrm>
            <a:off x="552450" y="495300"/>
            <a:ext cx="6667500" cy="552450"/>
          </a:xfrm>
          <a:prstGeom prst="rect">
            <a:avLst/>
          </a:prstGeom>
          <a:noFill/>
          <a:ln w="0">
            <a:noFill/>
            <a:prstDash val="solid"/>
          </a:ln>
        </p:spPr>
        <p:txBody>
          <a:bodyPr lIns="76200" tIns="38100" rIns="76200" bIns="38100" anchor="ctr">
            <a:normAutofit fontScale="91055"/>
          </a:bodyPr>
          <a:lstStyle/>
          <a:p>
            <a:pPr algn="l">
              <a:lnSpc>
                <a:spcPct val="104000"/>
              </a:lnSpc>
              <a:buNone/>
              <a:defRPr sz="3300" b="1">
                <a:solidFill>
                  <a:srgbClr val="F8FAFC"/>
                </a:solidFill>
                <a:latin typeface="Noto Sans"/>
                <a:ea typeface="Noto Sans"/>
                <a:cs typeface="Noto Sans"/>
              </a:defRPr>
            </a:pPr>
            <a:r>
              <a:rPr sz="3300" b="1">
                <a:solidFill>
                  <a:srgbClr val="F8FAFC"/>
                </a:solidFill>
                <a:latin typeface="Noto Sans"/>
                <a:ea typeface="Noto Sans"/>
                <a:cs typeface="Noto Sans"/>
              </a:rPr>
              <a:t>TWIN pamatideja</a:t>
            </a:r>
          </a:p>
        </p:txBody>
      </p:sp>
      <p:sp>
        <p:nvSpPr>
          <p:cNvPr id="2" name="Rectangle 1">
            <a:extLst>
              <a:ext uri="{FF2B5EF4-FFF2-40B4-BE49-F238E27FC236}">
                <a16:creationId xmlns:a16="http://schemas.microsoft.com/office/drawing/2014/main" id="{7B953E3E-7211-44D7-AC2B-B85850A91FB5}"/>
              </a:ext>
            </a:extLst>
          </p:cNvPr>
          <p:cNvSpPr>
            <a:spLocks noGrp="1"/>
          </p:cNvSpPr>
          <p:nvPr/>
        </p:nvSpPr>
        <p:spPr>
          <a:xfrm>
            <a:off x="571500" y="1104900"/>
            <a:ext cx="6858000" cy="333375"/>
          </a:xfrm>
          <a:prstGeom prst="rect">
            <a:avLst/>
          </a:prstGeom>
          <a:noFill/>
          <a:ln w="0">
            <a:noFill/>
            <a:prstDash val="solid"/>
          </a:ln>
        </p:spPr>
        <p:txBody>
          <a:bodyPr lIns="76200" tIns="38100" rIns="76200" bIns="38100" anchor="ctr">
            <a:normAutofit fontScale="98339"/>
          </a:bodyPr>
          <a:lstStyle/>
          <a:p>
            <a:pPr algn="l">
              <a:lnSpc>
                <a:spcPct val="104000"/>
              </a:lnSpc>
              <a:buNone/>
              <a:defRPr sz="1650" b="0">
                <a:solidFill>
                  <a:srgbClr val="7DD3FC"/>
                </a:solidFill>
                <a:latin typeface="Noto Sans"/>
                <a:ea typeface="Noto Sans"/>
                <a:cs typeface="Noto Sans"/>
              </a:defRPr>
            </a:pPr>
            <a:r>
              <a:rPr sz="1650" b="0">
                <a:solidFill>
                  <a:srgbClr val="7DD3FC"/>
                </a:solidFill>
                <a:latin typeface="Noto Sans"/>
                <a:ea typeface="Noto Sans"/>
                <a:cs typeface="Noto Sans"/>
              </a:rPr>
              <a:t>Vispirms struktūra. Tad inteliģence.</a:t>
            </a:r>
          </a:p>
        </p:txBody>
      </p:sp>
      <p:sp>
        <p:nvSpPr>
          <p:cNvPr id="3" name="Rounded Rectangle 2">
            <a:extLst>
              <a:ext uri="{FF2B5EF4-FFF2-40B4-BE49-F238E27FC236}">
                <a16:creationId xmlns:a16="http://schemas.microsoft.com/office/drawing/2014/main" id="{17B936E7-8B19-4974-B23A-6408221C3A57}"/>
              </a:ext>
            </a:extLst>
          </p:cNvPr>
          <p:cNvSpPr>
            <a:spLocks noGrp="1"/>
          </p:cNvSpPr>
          <p:nvPr/>
        </p:nvSpPr>
        <p:spPr>
          <a:xfrm>
            <a:off x="628650" y="2114550"/>
            <a:ext cx="3048000" cy="1562100"/>
          </a:xfrm>
          <a:prstGeom prst="roundRect">
            <a:avLst>
              <a:gd name="adj" fmla="val 8537"/>
            </a:avLst>
          </a:prstGeom>
          <a:solidFill>
            <a:srgbClr val="102A44"/>
          </a:solidFill>
          <a:ln w="9525">
            <a:solidFill>
              <a:srgbClr val="244A6B"/>
            </a:solidFill>
            <a:prstDash val="solid"/>
          </a:ln>
        </p:spPr>
        <p:txBody>
          <a:bodyPr/>
          <a:lstStyle/>
          <a:p>
            <a:endParaRPr lang="en-US"/>
          </a:p>
        </p:txBody>
      </p:sp>
      <p:sp>
        <p:nvSpPr>
          <p:cNvPr id="4" name="Rectangle 3">
            <a:extLst>
              <a:ext uri="{FF2B5EF4-FFF2-40B4-BE49-F238E27FC236}">
                <a16:creationId xmlns:a16="http://schemas.microsoft.com/office/drawing/2014/main" id="{854FA065-954D-4D61-AABE-18F4384B1F44}"/>
              </a:ext>
            </a:extLst>
          </p:cNvPr>
          <p:cNvSpPr>
            <a:spLocks noGrp="1"/>
          </p:cNvSpPr>
          <p:nvPr/>
        </p:nvSpPr>
        <p:spPr>
          <a:xfrm>
            <a:off x="819150" y="2257425"/>
            <a:ext cx="2667000" cy="323850"/>
          </a:xfrm>
          <a:prstGeom prst="rect">
            <a:avLst/>
          </a:prstGeom>
          <a:noFill/>
          <a:ln w="0">
            <a:noFill/>
            <a:prstDash val="solid"/>
          </a:ln>
        </p:spPr>
        <p:txBody>
          <a:bodyPr lIns="76200" tIns="38100" rIns="76200" bIns="38100" anchor="t">
            <a:normAutofit fontScale="94697"/>
          </a:bodyPr>
          <a:lstStyle/>
          <a:p>
            <a:pPr algn="l">
              <a:lnSpc>
                <a:spcPct val="104000"/>
              </a:lnSpc>
              <a:buNone/>
              <a:defRPr sz="1650" b="1">
                <a:solidFill>
                  <a:srgbClr val="F8FAFC"/>
                </a:solidFill>
                <a:latin typeface="Noto Sans"/>
                <a:ea typeface="Noto Sans"/>
                <a:cs typeface="Noto Sans"/>
              </a:defRPr>
            </a:pPr>
            <a:r>
              <a:rPr sz="1650" b="1">
                <a:solidFill>
                  <a:srgbClr val="F8FAFC"/>
                </a:solidFill>
                <a:latin typeface="Noto Sans"/>
                <a:ea typeface="Noto Sans"/>
                <a:cs typeface="Noto Sans"/>
              </a:rPr>
              <a:t>SADRUMSTALOTI AVOTI</a:t>
            </a:r>
          </a:p>
        </p:txBody>
      </p:sp>
      <p:sp>
        <p:nvSpPr>
          <p:cNvPr id="5" name="Rectangle 4">
            <a:extLst>
              <a:ext uri="{FF2B5EF4-FFF2-40B4-BE49-F238E27FC236}">
                <a16:creationId xmlns:a16="http://schemas.microsoft.com/office/drawing/2014/main" id="{62507EC4-A7CB-4085-BE4B-2746057434B2}"/>
              </a:ext>
            </a:extLst>
          </p:cNvPr>
          <p:cNvSpPr>
            <a:spLocks noGrp="1"/>
          </p:cNvSpPr>
          <p:nvPr/>
        </p:nvSpPr>
        <p:spPr>
          <a:xfrm>
            <a:off x="819150" y="2628900"/>
            <a:ext cx="2667000" cy="923925"/>
          </a:xfrm>
          <a:prstGeom prst="rect">
            <a:avLst/>
          </a:prstGeom>
          <a:noFill/>
          <a:ln w="0">
            <a:noFill/>
            <a:prstDash val="solid"/>
          </a:ln>
        </p:spPr>
        <p:txBody>
          <a:bodyPr lIns="76200" tIns="38100" rIns="76200" bIns="38100" anchor="t">
            <a:normAutofit/>
          </a:bodyPr>
          <a:lstStyle/>
          <a:p>
            <a:pPr algn="l">
              <a:lnSpc>
                <a:spcPct val="110000"/>
              </a:lnSpc>
              <a:buNone/>
              <a:defRPr sz="1425" b="0">
                <a:solidFill>
                  <a:srgbClr val="CBD5E1"/>
                </a:solidFill>
                <a:latin typeface="Noto Sans"/>
                <a:ea typeface="Noto Sans"/>
                <a:cs typeface="Noto Sans"/>
              </a:defRPr>
            </a:pPr>
            <a:r>
              <a:rPr sz="1425" b="0">
                <a:solidFill>
                  <a:srgbClr val="CBD5E1"/>
                </a:solidFill>
                <a:latin typeface="Noto Sans"/>
                <a:ea typeface="Noto Sans"/>
                <a:cs typeface="Noto Sans"/>
              </a:rPr>
              <a:t>Faili • sistēmas • API</a:t>
            </a:r>
          </a:p>
        </p:txBody>
      </p:sp>
      <p:sp>
        <p:nvSpPr>
          <p:cNvPr id="6" name="Rectangle 5">
            <a:extLst>
              <a:ext uri="{FF2B5EF4-FFF2-40B4-BE49-F238E27FC236}">
                <a16:creationId xmlns:a16="http://schemas.microsoft.com/office/drawing/2014/main" id="{345D8D37-8C82-4960-BD8D-E5233CA93F73}"/>
              </a:ext>
            </a:extLst>
          </p:cNvPr>
          <p:cNvSpPr>
            <a:spLocks noGrp="1"/>
          </p:cNvSpPr>
          <p:nvPr/>
        </p:nvSpPr>
        <p:spPr>
          <a:xfrm>
            <a:off x="3781425" y="2514600"/>
            <a:ext cx="457200" cy="666750"/>
          </a:xfrm>
          <a:prstGeom prst="rect">
            <a:avLst/>
          </a:prstGeom>
          <a:noFill/>
          <a:ln w="0">
            <a:noFill/>
            <a:prstDash val="solid"/>
          </a:ln>
        </p:spPr>
        <p:txBody>
          <a:bodyPr lIns="76200" tIns="38100" rIns="76200" bIns="38100" anchor="ctr">
            <a:normAutofit fontScale="76392"/>
          </a:bodyPr>
          <a:lstStyle/>
          <a:p>
            <a:pPr algn="ctr">
              <a:lnSpc>
                <a:spcPct val="104000"/>
              </a:lnSpc>
              <a:buNone/>
              <a:defRPr sz="3150" b="0">
                <a:solidFill>
                  <a:srgbClr val="7DD3FC"/>
                </a:solidFill>
                <a:latin typeface="Noto Sans"/>
                <a:ea typeface="Noto Sans"/>
                <a:cs typeface="Noto Sans"/>
              </a:defRPr>
            </a:pPr>
            <a:r>
              <a:rPr sz="3150" b="0">
                <a:solidFill>
                  <a:srgbClr val="7DD3FC"/>
                </a:solidFill>
                <a:latin typeface="Noto Sans"/>
                <a:ea typeface="Noto Sans"/>
                <a:cs typeface="Noto Sans"/>
              </a:rPr>
              <a:t>→</a:t>
            </a:r>
          </a:p>
        </p:txBody>
      </p:sp>
      <p:sp>
        <p:nvSpPr>
          <p:cNvPr id="7" name="Rounded Rectangle 6">
            <a:extLst>
              <a:ext uri="{FF2B5EF4-FFF2-40B4-BE49-F238E27FC236}">
                <a16:creationId xmlns:a16="http://schemas.microsoft.com/office/drawing/2014/main" id="{93C59031-992A-42E5-8591-41E770F85259}"/>
              </a:ext>
            </a:extLst>
          </p:cNvPr>
          <p:cNvSpPr>
            <a:spLocks noGrp="1"/>
          </p:cNvSpPr>
          <p:nvPr/>
        </p:nvSpPr>
        <p:spPr>
          <a:xfrm>
            <a:off x="4343400" y="2114550"/>
            <a:ext cx="3048000" cy="1562100"/>
          </a:xfrm>
          <a:prstGeom prst="roundRect">
            <a:avLst>
              <a:gd name="adj" fmla="val 8537"/>
            </a:avLst>
          </a:prstGeom>
          <a:solidFill>
            <a:srgbClr val="38BDF8"/>
          </a:solidFill>
          <a:ln w="9525">
            <a:solidFill>
              <a:srgbClr val="38BDF8"/>
            </a:solidFill>
            <a:prstDash val="solid"/>
          </a:ln>
        </p:spPr>
        <p:txBody>
          <a:bodyPr/>
          <a:lstStyle/>
          <a:p>
            <a:endParaRPr lang="en-US"/>
          </a:p>
        </p:txBody>
      </p:sp>
      <p:sp>
        <p:nvSpPr>
          <p:cNvPr id="8" name="Rectangle 7">
            <a:extLst>
              <a:ext uri="{FF2B5EF4-FFF2-40B4-BE49-F238E27FC236}">
                <a16:creationId xmlns:a16="http://schemas.microsoft.com/office/drawing/2014/main" id="{3C6002D9-B7AD-4972-8E4D-4C48506CCC60}"/>
              </a:ext>
            </a:extLst>
          </p:cNvPr>
          <p:cNvSpPr>
            <a:spLocks noGrp="1"/>
          </p:cNvSpPr>
          <p:nvPr/>
        </p:nvSpPr>
        <p:spPr>
          <a:xfrm>
            <a:off x="4533900" y="2257425"/>
            <a:ext cx="2667000" cy="323850"/>
          </a:xfrm>
          <a:prstGeom prst="rect">
            <a:avLst/>
          </a:prstGeom>
          <a:noFill/>
          <a:ln w="0">
            <a:noFill/>
            <a:prstDash val="solid"/>
          </a:ln>
        </p:spPr>
        <p:txBody>
          <a:bodyPr lIns="76200" tIns="38100" rIns="76200" bIns="38100" anchor="t">
            <a:normAutofit fontScale="94697"/>
          </a:bodyPr>
          <a:lstStyle/>
          <a:p>
            <a:pPr algn="l">
              <a:lnSpc>
                <a:spcPct val="104000"/>
              </a:lnSpc>
              <a:buNone/>
              <a:defRPr sz="1650" b="1">
                <a:solidFill>
                  <a:srgbClr val="071525"/>
                </a:solidFill>
                <a:latin typeface="Noto Sans"/>
                <a:ea typeface="Noto Sans"/>
                <a:cs typeface="Noto Sans"/>
              </a:defRPr>
            </a:pPr>
            <a:r>
              <a:rPr sz="1650" b="1">
                <a:solidFill>
                  <a:srgbClr val="071525"/>
                </a:solidFill>
                <a:latin typeface="Noto Sans"/>
                <a:ea typeface="Noto Sans"/>
                <a:cs typeface="Noto Sans"/>
              </a:rPr>
              <a:t>TWIN DATA HUB</a:t>
            </a:r>
          </a:p>
        </p:txBody>
      </p:sp>
      <p:sp>
        <p:nvSpPr>
          <p:cNvPr id="9" name="Rectangle 8">
            <a:extLst>
              <a:ext uri="{FF2B5EF4-FFF2-40B4-BE49-F238E27FC236}">
                <a16:creationId xmlns:a16="http://schemas.microsoft.com/office/drawing/2014/main" id="{CFD8D41F-81A1-4C7E-A271-A2E96078E056}"/>
              </a:ext>
            </a:extLst>
          </p:cNvPr>
          <p:cNvSpPr>
            <a:spLocks noGrp="1"/>
          </p:cNvSpPr>
          <p:nvPr/>
        </p:nvSpPr>
        <p:spPr>
          <a:xfrm>
            <a:off x="4533900" y="2628900"/>
            <a:ext cx="2667000" cy="923925"/>
          </a:xfrm>
          <a:prstGeom prst="rect">
            <a:avLst/>
          </a:prstGeom>
          <a:noFill/>
          <a:ln w="0">
            <a:noFill/>
            <a:prstDash val="solid"/>
          </a:ln>
        </p:spPr>
        <p:txBody>
          <a:bodyPr lIns="76200" tIns="38100" rIns="76200" bIns="38100" anchor="t">
            <a:normAutofit/>
          </a:bodyPr>
          <a:lstStyle/>
          <a:p>
            <a:pPr algn="l">
              <a:lnSpc>
                <a:spcPct val="110000"/>
              </a:lnSpc>
              <a:buNone/>
              <a:defRPr sz="1425" b="0">
                <a:solidFill>
                  <a:srgbClr val="123A63"/>
                </a:solidFill>
                <a:latin typeface="Noto Sans"/>
                <a:ea typeface="Noto Sans"/>
                <a:cs typeface="Noto Sans"/>
              </a:defRPr>
            </a:pPr>
            <a:r>
              <a:rPr sz="1425" b="0">
                <a:solidFill>
                  <a:srgbClr val="123A63"/>
                </a:solidFill>
                <a:latin typeface="Noto Sans"/>
                <a:ea typeface="Noto Sans"/>
                <a:cs typeface="Noto Sans"/>
              </a:rPr>
              <a:t>Ievade • kartēšana • validācija</a:t>
            </a:r>
          </a:p>
        </p:txBody>
      </p:sp>
      <p:sp>
        <p:nvSpPr>
          <p:cNvPr id="10" name="Rectangle 9">
            <a:extLst>
              <a:ext uri="{FF2B5EF4-FFF2-40B4-BE49-F238E27FC236}">
                <a16:creationId xmlns:a16="http://schemas.microsoft.com/office/drawing/2014/main" id="{F00EB193-AC0C-4C67-BEDC-7A660614FC21}"/>
              </a:ext>
            </a:extLst>
          </p:cNvPr>
          <p:cNvSpPr>
            <a:spLocks noGrp="1"/>
          </p:cNvSpPr>
          <p:nvPr/>
        </p:nvSpPr>
        <p:spPr>
          <a:xfrm>
            <a:off x="7496175" y="2514600"/>
            <a:ext cx="457200" cy="666750"/>
          </a:xfrm>
          <a:prstGeom prst="rect">
            <a:avLst/>
          </a:prstGeom>
          <a:noFill/>
          <a:ln w="0">
            <a:noFill/>
            <a:prstDash val="solid"/>
          </a:ln>
        </p:spPr>
        <p:txBody>
          <a:bodyPr lIns="76200" tIns="38100" rIns="76200" bIns="38100" anchor="ctr">
            <a:normAutofit fontScale="76392"/>
          </a:bodyPr>
          <a:lstStyle/>
          <a:p>
            <a:pPr algn="ctr">
              <a:lnSpc>
                <a:spcPct val="104000"/>
              </a:lnSpc>
              <a:buNone/>
              <a:defRPr sz="3150" b="0">
                <a:solidFill>
                  <a:srgbClr val="7DD3FC"/>
                </a:solidFill>
                <a:latin typeface="Noto Sans"/>
                <a:ea typeface="Noto Sans"/>
                <a:cs typeface="Noto Sans"/>
              </a:defRPr>
            </a:pPr>
            <a:r>
              <a:rPr sz="3150" b="0">
                <a:solidFill>
                  <a:srgbClr val="7DD3FC"/>
                </a:solidFill>
                <a:latin typeface="Noto Sans"/>
                <a:ea typeface="Noto Sans"/>
                <a:cs typeface="Noto Sans"/>
              </a:rPr>
              <a:t>→</a:t>
            </a:r>
          </a:p>
        </p:txBody>
      </p:sp>
      <p:sp>
        <p:nvSpPr>
          <p:cNvPr id="11" name="Rounded Rectangle 10">
            <a:extLst>
              <a:ext uri="{FF2B5EF4-FFF2-40B4-BE49-F238E27FC236}">
                <a16:creationId xmlns:a16="http://schemas.microsoft.com/office/drawing/2014/main" id="{937317E8-8D07-4F94-A514-CA2286EE983B}"/>
              </a:ext>
            </a:extLst>
          </p:cNvPr>
          <p:cNvSpPr>
            <a:spLocks noGrp="1"/>
          </p:cNvSpPr>
          <p:nvPr/>
        </p:nvSpPr>
        <p:spPr>
          <a:xfrm>
            <a:off x="8058150" y="2114550"/>
            <a:ext cx="3048000" cy="1562100"/>
          </a:xfrm>
          <a:prstGeom prst="roundRect">
            <a:avLst>
              <a:gd name="adj" fmla="val 8537"/>
            </a:avLst>
          </a:prstGeom>
          <a:solidFill>
            <a:srgbClr val="102A44"/>
          </a:solidFill>
          <a:ln w="9525">
            <a:solidFill>
              <a:srgbClr val="244A6B"/>
            </a:solidFill>
            <a:prstDash val="solid"/>
          </a:ln>
        </p:spPr>
        <p:txBody>
          <a:bodyPr/>
          <a:lstStyle/>
          <a:p>
            <a:endParaRPr lang="en-US"/>
          </a:p>
        </p:txBody>
      </p:sp>
      <p:sp>
        <p:nvSpPr>
          <p:cNvPr id="12" name="Rectangle 11">
            <a:extLst>
              <a:ext uri="{FF2B5EF4-FFF2-40B4-BE49-F238E27FC236}">
                <a16:creationId xmlns:a16="http://schemas.microsoft.com/office/drawing/2014/main" id="{10078995-631B-4CA2-ACD7-E4087E10797B}"/>
              </a:ext>
            </a:extLst>
          </p:cNvPr>
          <p:cNvSpPr>
            <a:spLocks noGrp="1"/>
          </p:cNvSpPr>
          <p:nvPr/>
        </p:nvSpPr>
        <p:spPr>
          <a:xfrm>
            <a:off x="8248650" y="2257425"/>
            <a:ext cx="2667000" cy="323850"/>
          </a:xfrm>
          <a:prstGeom prst="rect">
            <a:avLst/>
          </a:prstGeom>
          <a:noFill/>
          <a:ln w="0">
            <a:noFill/>
            <a:prstDash val="solid"/>
          </a:ln>
        </p:spPr>
        <p:txBody>
          <a:bodyPr lIns="76200" tIns="38100" rIns="76200" bIns="38100" anchor="t">
            <a:normAutofit fontScale="94697"/>
          </a:bodyPr>
          <a:lstStyle/>
          <a:p>
            <a:pPr algn="l">
              <a:lnSpc>
                <a:spcPct val="104000"/>
              </a:lnSpc>
              <a:buNone/>
              <a:defRPr sz="1650" b="1">
                <a:solidFill>
                  <a:srgbClr val="F8FAFC"/>
                </a:solidFill>
                <a:latin typeface="Noto Sans"/>
                <a:ea typeface="Noto Sans"/>
                <a:cs typeface="Noto Sans"/>
              </a:defRPr>
            </a:pPr>
            <a:r>
              <a:rPr sz="1650" b="1">
                <a:solidFill>
                  <a:srgbClr val="F8FAFC"/>
                </a:solidFill>
                <a:latin typeface="Noto Sans"/>
                <a:ea typeface="Noto Sans"/>
                <a:cs typeface="Noto Sans"/>
              </a:rPr>
              <a:t>UZTICAMS DATU SLĀNIS</a:t>
            </a:r>
          </a:p>
        </p:txBody>
      </p:sp>
      <p:sp>
        <p:nvSpPr>
          <p:cNvPr id="13" name="Rectangle 12">
            <a:extLst>
              <a:ext uri="{FF2B5EF4-FFF2-40B4-BE49-F238E27FC236}">
                <a16:creationId xmlns:a16="http://schemas.microsoft.com/office/drawing/2014/main" id="{4AB3CC40-4953-40E3-BC64-2CA48F2CD162}"/>
              </a:ext>
            </a:extLst>
          </p:cNvPr>
          <p:cNvSpPr>
            <a:spLocks noGrp="1"/>
          </p:cNvSpPr>
          <p:nvPr/>
        </p:nvSpPr>
        <p:spPr>
          <a:xfrm>
            <a:off x="8248650" y="2628900"/>
            <a:ext cx="2667000" cy="923925"/>
          </a:xfrm>
          <a:prstGeom prst="rect">
            <a:avLst/>
          </a:prstGeom>
          <a:noFill/>
          <a:ln w="0">
            <a:noFill/>
            <a:prstDash val="solid"/>
          </a:ln>
        </p:spPr>
        <p:txBody>
          <a:bodyPr lIns="76200" tIns="38100" rIns="76200" bIns="38100" anchor="t">
            <a:normAutofit/>
          </a:bodyPr>
          <a:lstStyle/>
          <a:p>
            <a:pPr algn="l">
              <a:lnSpc>
                <a:spcPct val="110000"/>
              </a:lnSpc>
              <a:buNone/>
              <a:defRPr sz="1425" b="0">
                <a:solidFill>
                  <a:srgbClr val="CBD5E1"/>
                </a:solidFill>
                <a:latin typeface="Noto Sans"/>
                <a:ea typeface="Noto Sans"/>
                <a:cs typeface="Noto Sans"/>
              </a:defRPr>
            </a:pPr>
            <a:r>
              <a:rPr sz="1425" b="0">
                <a:solidFill>
                  <a:srgbClr val="CBD5E1"/>
                </a:solidFill>
                <a:latin typeface="Noto Sans"/>
                <a:ea typeface="Noto Sans"/>
                <a:cs typeface="Noto Sans"/>
              </a:rPr>
              <a:t>Vienoti uzņēmuma objekti</a:t>
            </a:r>
          </a:p>
        </p:txBody>
      </p:sp>
      <p:sp>
        <p:nvSpPr>
          <p:cNvPr id="14" name="Rounded Rectangle 13">
            <a:extLst>
              <a:ext uri="{FF2B5EF4-FFF2-40B4-BE49-F238E27FC236}">
                <a16:creationId xmlns:a16="http://schemas.microsoft.com/office/drawing/2014/main" id="{30DE3768-F4CC-430F-9299-9C7C6B1CEEB5}"/>
              </a:ext>
            </a:extLst>
          </p:cNvPr>
          <p:cNvSpPr>
            <a:spLocks noGrp="1"/>
          </p:cNvSpPr>
          <p:nvPr/>
        </p:nvSpPr>
        <p:spPr>
          <a:xfrm>
            <a:off x="638175" y="4324350"/>
            <a:ext cx="1943100" cy="628650"/>
          </a:xfrm>
          <a:prstGeom prst="roundRect">
            <a:avLst>
              <a:gd name="adj" fmla="val 18182"/>
            </a:avLst>
          </a:prstGeom>
          <a:solidFill>
            <a:srgbClr val="123A63"/>
          </a:solidFill>
          <a:ln w="0">
            <a:noFill/>
            <a:prstDash val="solid"/>
          </a:ln>
        </p:spPr>
        <p:txBody>
          <a:bodyPr lIns="76200" tIns="38100" rIns="76200" bIns="38100" anchor="ctr">
            <a:normAutofit/>
          </a:bodyPr>
          <a:lstStyle/>
          <a:p>
            <a:pPr algn="ctr">
              <a:lnSpc>
                <a:spcPct val="104000"/>
              </a:lnSpc>
              <a:buNone/>
              <a:defRPr sz="1350" b="1">
                <a:solidFill>
                  <a:srgbClr val="F8FAFC"/>
                </a:solidFill>
                <a:latin typeface="Noto Sans"/>
                <a:ea typeface="Noto Sans"/>
                <a:cs typeface="Noto Sans"/>
              </a:defRPr>
            </a:pPr>
            <a:r>
              <a:rPr sz="1350" b="1">
                <a:solidFill>
                  <a:srgbClr val="F8FAFC"/>
                </a:solidFill>
                <a:latin typeface="Noto Sans"/>
                <a:ea typeface="Noto Sans"/>
                <a:cs typeface="Noto Sans"/>
              </a:rPr>
              <a:t>Automatizācija</a:t>
            </a:r>
          </a:p>
        </p:txBody>
      </p:sp>
      <p:sp>
        <p:nvSpPr>
          <p:cNvPr id="15" name="Rounded Rectangle 14">
            <a:extLst>
              <a:ext uri="{FF2B5EF4-FFF2-40B4-BE49-F238E27FC236}">
                <a16:creationId xmlns:a16="http://schemas.microsoft.com/office/drawing/2014/main" id="{23EDD82E-9E53-42C9-9C0D-C9699F0504B1}"/>
              </a:ext>
            </a:extLst>
          </p:cNvPr>
          <p:cNvSpPr>
            <a:spLocks noGrp="1"/>
          </p:cNvSpPr>
          <p:nvPr/>
        </p:nvSpPr>
        <p:spPr>
          <a:xfrm>
            <a:off x="2838450" y="4324350"/>
            <a:ext cx="1943100" cy="628650"/>
          </a:xfrm>
          <a:prstGeom prst="roundRect">
            <a:avLst>
              <a:gd name="adj" fmla="val 18182"/>
            </a:avLst>
          </a:prstGeom>
          <a:solidFill>
            <a:srgbClr val="123A63"/>
          </a:solidFill>
          <a:ln w="0">
            <a:noFill/>
            <a:prstDash val="solid"/>
          </a:ln>
        </p:spPr>
        <p:txBody>
          <a:bodyPr lIns="76200" tIns="38100" rIns="76200" bIns="38100" anchor="ctr">
            <a:normAutofit/>
          </a:bodyPr>
          <a:lstStyle/>
          <a:p>
            <a:pPr algn="ctr">
              <a:lnSpc>
                <a:spcPct val="104000"/>
              </a:lnSpc>
              <a:buNone/>
              <a:defRPr sz="1350" b="1">
                <a:solidFill>
                  <a:srgbClr val="F8FAFC"/>
                </a:solidFill>
                <a:latin typeface="Noto Sans"/>
                <a:ea typeface="Noto Sans"/>
                <a:cs typeface="Noto Sans"/>
              </a:defRPr>
            </a:pPr>
            <a:r>
              <a:rPr sz="1350" b="1">
                <a:solidFill>
                  <a:srgbClr val="F8FAFC"/>
                </a:solidFill>
                <a:latin typeface="Noto Sans"/>
                <a:ea typeface="Noto Sans"/>
                <a:cs typeface="Noto Sans"/>
              </a:rPr>
              <a:t>Analītika</a:t>
            </a:r>
          </a:p>
        </p:txBody>
      </p:sp>
      <p:sp>
        <p:nvSpPr>
          <p:cNvPr id="16" name="Rounded Rectangle 15">
            <a:extLst>
              <a:ext uri="{FF2B5EF4-FFF2-40B4-BE49-F238E27FC236}">
                <a16:creationId xmlns:a16="http://schemas.microsoft.com/office/drawing/2014/main" id="{753DA2E4-BA0F-484B-B415-87AC3A9FDA7B}"/>
              </a:ext>
            </a:extLst>
          </p:cNvPr>
          <p:cNvSpPr>
            <a:spLocks noGrp="1"/>
          </p:cNvSpPr>
          <p:nvPr/>
        </p:nvSpPr>
        <p:spPr>
          <a:xfrm>
            <a:off x="5038725" y="4324350"/>
            <a:ext cx="1943100" cy="628650"/>
          </a:xfrm>
          <a:prstGeom prst="roundRect">
            <a:avLst>
              <a:gd name="adj" fmla="val 18182"/>
            </a:avLst>
          </a:prstGeom>
          <a:solidFill>
            <a:srgbClr val="13273D"/>
          </a:solidFill>
          <a:ln w="0">
            <a:noFill/>
            <a:prstDash val="solid"/>
          </a:ln>
        </p:spPr>
        <p:txBody>
          <a:bodyPr lIns="76200" tIns="38100" rIns="76200" bIns="38100" anchor="ctr">
            <a:normAutofit/>
          </a:bodyPr>
          <a:lstStyle/>
          <a:p>
            <a:pPr algn="ctr">
              <a:lnSpc>
                <a:spcPct val="104000"/>
              </a:lnSpc>
              <a:buNone/>
              <a:defRPr sz="1350" b="1">
                <a:solidFill>
                  <a:srgbClr val="94A3B8"/>
                </a:solidFill>
                <a:latin typeface="Noto Sans"/>
                <a:ea typeface="Noto Sans"/>
                <a:cs typeface="Noto Sans"/>
              </a:defRPr>
            </a:pPr>
            <a:r>
              <a:rPr sz="1350" b="1">
                <a:solidFill>
                  <a:srgbClr val="94A3B8"/>
                </a:solidFill>
                <a:latin typeface="Noto Sans"/>
                <a:ea typeface="Noto Sans"/>
                <a:cs typeface="Noto Sans"/>
              </a:rPr>
              <a:t>AI analīze</a:t>
            </a:r>
          </a:p>
        </p:txBody>
      </p:sp>
      <p:sp>
        <p:nvSpPr>
          <p:cNvPr id="17" name="Rounded Rectangle 16">
            <a:extLst>
              <a:ext uri="{FF2B5EF4-FFF2-40B4-BE49-F238E27FC236}">
                <a16:creationId xmlns:a16="http://schemas.microsoft.com/office/drawing/2014/main" id="{EFFC6B76-F9A5-4846-A427-205DE353D71A}"/>
              </a:ext>
            </a:extLst>
          </p:cNvPr>
          <p:cNvSpPr>
            <a:spLocks noGrp="1"/>
          </p:cNvSpPr>
          <p:nvPr/>
        </p:nvSpPr>
        <p:spPr>
          <a:xfrm>
            <a:off x="7239000" y="4324350"/>
            <a:ext cx="1943100" cy="628650"/>
          </a:xfrm>
          <a:prstGeom prst="roundRect">
            <a:avLst>
              <a:gd name="adj" fmla="val 18182"/>
            </a:avLst>
          </a:prstGeom>
          <a:solidFill>
            <a:srgbClr val="13273D"/>
          </a:solidFill>
          <a:ln w="0">
            <a:noFill/>
            <a:prstDash val="solid"/>
          </a:ln>
        </p:spPr>
        <p:txBody>
          <a:bodyPr lIns="76200" tIns="38100" rIns="76200" bIns="38100" anchor="ctr">
            <a:normAutofit/>
          </a:bodyPr>
          <a:lstStyle/>
          <a:p>
            <a:pPr algn="ctr">
              <a:lnSpc>
                <a:spcPct val="104000"/>
              </a:lnSpc>
              <a:buNone/>
              <a:defRPr sz="1350" b="1">
                <a:solidFill>
                  <a:srgbClr val="94A3B8"/>
                </a:solidFill>
                <a:latin typeface="Noto Sans"/>
                <a:ea typeface="Noto Sans"/>
                <a:cs typeface="Noto Sans"/>
              </a:defRPr>
            </a:pPr>
            <a:r>
              <a:rPr sz="1350" b="1">
                <a:solidFill>
                  <a:srgbClr val="94A3B8"/>
                </a:solidFill>
                <a:latin typeface="Noto Sans"/>
                <a:ea typeface="Noto Sans"/>
                <a:cs typeface="Noto Sans"/>
              </a:rPr>
              <a:t>Prognozes</a:t>
            </a:r>
          </a:p>
        </p:txBody>
      </p:sp>
      <p:sp>
        <p:nvSpPr>
          <p:cNvPr id="18" name="Rounded Rectangle 17">
            <a:extLst>
              <a:ext uri="{FF2B5EF4-FFF2-40B4-BE49-F238E27FC236}">
                <a16:creationId xmlns:a16="http://schemas.microsoft.com/office/drawing/2014/main" id="{06AE7A39-6DBF-48FC-B806-DA29F6D75B08}"/>
              </a:ext>
            </a:extLst>
          </p:cNvPr>
          <p:cNvSpPr>
            <a:spLocks noGrp="1"/>
          </p:cNvSpPr>
          <p:nvPr/>
        </p:nvSpPr>
        <p:spPr>
          <a:xfrm>
            <a:off x="9439275" y="4324350"/>
            <a:ext cx="1943100" cy="628650"/>
          </a:xfrm>
          <a:prstGeom prst="roundRect">
            <a:avLst>
              <a:gd name="adj" fmla="val 18182"/>
            </a:avLst>
          </a:prstGeom>
          <a:solidFill>
            <a:srgbClr val="13273D"/>
          </a:solidFill>
          <a:ln w="0">
            <a:noFill/>
            <a:prstDash val="solid"/>
          </a:ln>
        </p:spPr>
        <p:txBody>
          <a:bodyPr lIns="76200" tIns="38100" rIns="76200" bIns="38100" anchor="ctr">
            <a:normAutofit/>
          </a:bodyPr>
          <a:lstStyle/>
          <a:p>
            <a:pPr algn="ctr">
              <a:lnSpc>
                <a:spcPct val="104000"/>
              </a:lnSpc>
              <a:buNone/>
              <a:defRPr sz="1350" b="1">
                <a:solidFill>
                  <a:srgbClr val="94A3B8"/>
                </a:solidFill>
                <a:latin typeface="Noto Sans"/>
                <a:ea typeface="Noto Sans"/>
                <a:cs typeface="Noto Sans"/>
              </a:defRPr>
            </a:pPr>
            <a:r>
              <a:rPr sz="1350" b="1">
                <a:solidFill>
                  <a:srgbClr val="94A3B8"/>
                </a:solidFill>
                <a:latin typeface="Noto Sans"/>
                <a:ea typeface="Noto Sans"/>
                <a:cs typeface="Noto Sans"/>
              </a:rPr>
              <a:t>Simulācijas</a:t>
            </a:r>
          </a:p>
        </p:txBody>
      </p:sp>
      <p:sp>
        <p:nvSpPr>
          <p:cNvPr id="19" name="Rectangle 18">
            <a:extLst>
              <a:ext uri="{FF2B5EF4-FFF2-40B4-BE49-F238E27FC236}">
                <a16:creationId xmlns:a16="http://schemas.microsoft.com/office/drawing/2014/main" id="{98BD8FDE-7E0F-4D43-B432-6F15339E65DE}"/>
              </a:ext>
            </a:extLst>
          </p:cNvPr>
          <p:cNvSpPr>
            <a:spLocks noGrp="1"/>
          </p:cNvSpPr>
          <p:nvPr/>
        </p:nvSpPr>
        <p:spPr>
          <a:xfrm>
            <a:off x="666750" y="5133975"/>
            <a:ext cx="4191000" cy="238125"/>
          </a:xfrm>
          <a:prstGeom prst="rect">
            <a:avLst/>
          </a:prstGeom>
          <a:noFill/>
          <a:ln w="0">
            <a:noFill/>
            <a:prstDash val="solid"/>
          </a:ln>
        </p:spPr>
        <p:txBody>
          <a:bodyPr lIns="76200" tIns="38100" rIns="76200" bIns="38100" anchor="ctr">
            <a:normAutofit fontScale="97298"/>
          </a:bodyPr>
          <a:lstStyle/>
          <a:p>
            <a:pPr algn="l">
              <a:lnSpc>
                <a:spcPct val="104000"/>
              </a:lnSpc>
              <a:buNone/>
              <a:defRPr sz="1050" b="1">
                <a:solidFill>
                  <a:srgbClr val="38BDF8"/>
                </a:solidFill>
                <a:latin typeface="Noto Sans"/>
                <a:ea typeface="Noto Sans"/>
                <a:cs typeface="Noto Sans"/>
              </a:defRPr>
            </a:pPr>
            <a:r>
              <a:rPr sz="1050" b="1">
                <a:solidFill>
                  <a:srgbClr val="38BDF8"/>
                </a:solidFill>
                <a:latin typeface="Noto Sans"/>
                <a:ea typeface="Noto Sans"/>
                <a:cs typeface="Noto Sans"/>
              </a:rPr>
              <a:t>REALIZĒTS PAMATS</a:t>
            </a:r>
          </a:p>
        </p:txBody>
      </p:sp>
      <p:sp>
        <p:nvSpPr>
          <p:cNvPr id="20" name="Rectangle 19">
            <a:extLst>
              <a:ext uri="{FF2B5EF4-FFF2-40B4-BE49-F238E27FC236}">
                <a16:creationId xmlns:a16="http://schemas.microsoft.com/office/drawing/2014/main" id="{990E9AEE-1F64-47D3-9A2C-0ACD1957DF28}"/>
              </a:ext>
            </a:extLst>
          </p:cNvPr>
          <p:cNvSpPr>
            <a:spLocks noGrp="1"/>
          </p:cNvSpPr>
          <p:nvPr/>
        </p:nvSpPr>
        <p:spPr>
          <a:xfrm>
            <a:off x="5648325" y="5133975"/>
            <a:ext cx="5334000" cy="238125"/>
          </a:xfrm>
          <a:prstGeom prst="rect">
            <a:avLst/>
          </a:prstGeom>
          <a:noFill/>
          <a:ln w="0">
            <a:noFill/>
            <a:prstDash val="solid"/>
          </a:ln>
        </p:spPr>
        <p:txBody>
          <a:bodyPr lIns="76200" tIns="38100" rIns="76200" bIns="38100" anchor="ctr">
            <a:normAutofit fontScale="97298"/>
          </a:bodyPr>
          <a:lstStyle/>
          <a:p>
            <a:pPr algn="r">
              <a:lnSpc>
                <a:spcPct val="104000"/>
              </a:lnSpc>
              <a:buNone/>
              <a:defRPr sz="1050" b="1">
                <a:solidFill>
                  <a:srgbClr val="94A3B8"/>
                </a:solidFill>
                <a:latin typeface="Noto Sans"/>
                <a:ea typeface="Noto Sans"/>
                <a:cs typeface="Noto Sans"/>
              </a:defRPr>
            </a:pPr>
            <a:r>
              <a:rPr sz="1050" b="1">
                <a:solidFill>
                  <a:srgbClr val="94A3B8"/>
                </a:solidFill>
                <a:latin typeface="Noto Sans"/>
                <a:ea typeface="Noto Sans"/>
                <a:cs typeface="Noto Sans"/>
              </a:rPr>
              <a:t>PLĀNOTS / ILGTERMIŅA VĪZIJA</a:t>
            </a:r>
          </a:p>
        </p:txBody>
      </p:sp>
      <p:sp>
        <p:nvSpPr>
          <p:cNvPr id="21" name="Rectangle 20">
            <a:extLst>
              <a:ext uri="{FF2B5EF4-FFF2-40B4-BE49-F238E27FC236}">
                <a16:creationId xmlns:a16="http://schemas.microsoft.com/office/drawing/2014/main" id="{82C732A6-2AD9-4458-B549-2F615EA8239F}"/>
              </a:ext>
            </a:extLst>
          </p:cNvPr>
          <p:cNvSpPr>
            <a:spLocks noGrp="1"/>
          </p:cNvSpPr>
          <p:nvPr/>
        </p:nvSpPr>
        <p:spPr>
          <a:xfrm>
            <a:off x="628650" y="5753100"/>
            <a:ext cx="10572750" cy="476250"/>
          </a:xfrm>
          <a:prstGeom prst="rect">
            <a:avLst/>
          </a:prstGeom>
          <a:noFill/>
          <a:ln w="0">
            <a:noFill/>
            <a:prstDash val="solid"/>
          </a:ln>
        </p:spPr>
        <p:txBody>
          <a:bodyPr lIns="76200" tIns="38100" rIns="76200" bIns="38100" anchor="ctr">
            <a:normAutofit/>
          </a:bodyPr>
          <a:lstStyle/>
          <a:p>
            <a:pPr algn="ctr">
              <a:lnSpc>
                <a:spcPct val="104000"/>
              </a:lnSpc>
              <a:buNone/>
              <a:defRPr sz="1725" b="0">
                <a:solidFill>
                  <a:srgbClr val="F8FAFC"/>
                </a:solidFill>
                <a:latin typeface="Noto Sans"/>
                <a:ea typeface="Noto Sans"/>
                <a:cs typeface="Noto Sans"/>
              </a:defRPr>
            </a:pPr>
            <a:r>
              <a:rPr sz="1725" b="0">
                <a:solidFill>
                  <a:srgbClr val="F8FAFC"/>
                </a:solidFill>
                <a:latin typeface="Noto Sans"/>
                <a:ea typeface="Noto Sans"/>
                <a:cs typeface="Noto Sans"/>
              </a:rPr>
              <a:t>AI nedrīkst izgudrot faktus. Tas strādā virs deterministiski aprēķinātas un izsekojamas informācijas.</a:t>
            </a:r>
          </a:p>
        </p:txBody>
      </p:sp>
    </p:spTree>
    <p:extLst>
      <p:ext uri="{BB962C8B-B14F-4D97-AF65-F5344CB8AC3E}">
        <p14:creationId xmlns:p14="http://schemas.microsoft.com/office/powerpoint/2010/main" val="1956113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643B679-E55B-400E-9A3D-D86A9E9040CE}"/>
              </a:ext>
            </a:extLst>
          </p:cNvPr>
          <p:cNvSpPr>
            <a:spLocks noGrp="1"/>
          </p:cNvSpPr>
          <p:nvPr/>
        </p:nvSpPr>
        <p:spPr>
          <a:xfrm>
            <a:off x="552450" y="266700"/>
            <a:ext cx="4000500" cy="228600"/>
          </a:xfrm>
          <a:prstGeom prst="rect">
            <a:avLst/>
          </a:prstGeom>
          <a:noFill/>
          <a:ln w="0">
            <a:noFill/>
            <a:prstDash val="solid"/>
          </a:ln>
        </p:spPr>
        <p:txBody>
          <a:bodyPr lIns="76200" tIns="38100" rIns="76200" bIns="38100" anchor="ctr">
            <a:normAutofit fontScale="85470"/>
          </a:bodyPr>
          <a:lstStyle/>
          <a:p>
            <a:pPr algn="l">
              <a:lnSpc>
                <a:spcPct val="104000"/>
              </a:lnSpc>
              <a:buNone/>
              <a:defRPr sz="1125" b="1">
                <a:solidFill>
                  <a:srgbClr val="123A63"/>
                </a:solidFill>
                <a:latin typeface="Noto Sans"/>
                <a:ea typeface="Noto Sans"/>
                <a:cs typeface="Noto Sans"/>
              </a:defRPr>
            </a:pPr>
            <a:r>
              <a:rPr sz="1125" b="1">
                <a:solidFill>
                  <a:srgbClr val="123A63"/>
                </a:solidFill>
                <a:latin typeface="Noto Sans"/>
                <a:ea typeface="Noto Sans"/>
                <a:cs typeface="Noto Sans"/>
              </a:rPr>
              <a:t>TWIN  /  KOMANDAS DISKUSIJA</a:t>
            </a:r>
          </a:p>
        </p:txBody>
      </p:sp>
      <p:sp>
        <p:nvSpPr>
          <p:cNvPr id="2" name="Rectangle 1">
            <a:extLst>
              <a:ext uri="{FF2B5EF4-FFF2-40B4-BE49-F238E27FC236}">
                <a16:creationId xmlns:a16="http://schemas.microsoft.com/office/drawing/2014/main" id="{165315B2-C47D-4434-AE7F-421F4DB4042F}"/>
              </a:ext>
            </a:extLst>
          </p:cNvPr>
          <p:cNvSpPr>
            <a:spLocks noGrp="1"/>
          </p:cNvSpPr>
          <p:nvPr/>
        </p:nvSpPr>
        <p:spPr>
          <a:xfrm>
            <a:off x="11191875" y="257175"/>
            <a:ext cx="438150" cy="238125"/>
          </a:xfrm>
          <a:prstGeom prst="rect">
            <a:avLst/>
          </a:prstGeom>
          <a:noFill/>
          <a:ln w="0">
            <a:noFill/>
            <a:prstDash val="solid"/>
          </a:ln>
        </p:spPr>
        <p:txBody>
          <a:bodyPr lIns="76200" tIns="38100" rIns="76200" bIns="38100" anchor="ctr">
            <a:normAutofit fontScale="90812"/>
          </a:bodyPr>
          <a:lstStyle/>
          <a:p>
            <a:pPr algn="r">
              <a:lnSpc>
                <a:spcPct val="104000"/>
              </a:lnSpc>
              <a:buNone/>
              <a:defRPr sz="1125" b="1">
                <a:solidFill>
                  <a:srgbClr val="94A3B8"/>
                </a:solidFill>
                <a:latin typeface="Noto Sans"/>
                <a:ea typeface="Noto Sans"/>
                <a:cs typeface="Noto Sans"/>
              </a:defRPr>
            </a:pPr>
            <a:r>
              <a:rPr sz="1125" b="1">
                <a:solidFill>
                  <a:srgbClr val="94A3B8"/>
                </a:solidFill>
                <a:latin typeface="Noto Sans"/>
                <a:ea typeface="Noto Sans"/>
                <a:cs typeface="Noto Sans"/>
              </a:rPr>
              <a:t>04</a:t>
            </a:r>
          </a:p>
        </p:txBody>
      </p:sp>
      <p:sp>
        <p:nvSpPr>
          <p:cNvPr id="3" name="Rectangle 2">
            <a:extLst>
              <a:ext uri="{FF2B5EF4-FFF2-40B4-BE49-F238E27FC236}">
                <a16:creationId xmlns:a16="http://schemas.microsoft.com/office/drawing/2014/main" id="{ED3E5AF5-E759-4841-A988-AD592D0DE5A2}"/>
              </a:ext>
            </a:extLst>
          </p:cNvPr>
          <p:cNvSpPr>
            <a:spLocks noGrp="1"/>
          </p:cNvSpPr>
          <p:nvPr/>
        </p:nvSpPr>
        <p:spPr>
          <a:xfrm>
            <a:off x="552450" y="628650"/>
            <a:ext cx="10382250" cy="590550"/>
          </a:xfrm>
          <a:prstGeom prst="rect">
            <a:avLst/>
          </a:prstGeom>
          <a:noFill/>
          <a:ln w="0">
            <a:noFill/>
            <a:prstDash val="solid"/>
          </a:ln>
        </p:spPr>
        <p:txBody>
          <a:bodyPr lIns="76200" tIns="38100" rIns="76200" bIns="38100" anchor="t">
            <a:normAutofit fontScale="98339"/>
          </a:bodyPr>
          <a:lstStyle/>
          <a:p>
            <a:pPr algn="l">
              <a:lnSpc>
                <a:spcPct val="104000"/>
              </a:lnSpc>
              <a:buNone/>
              <a:defRPr sz="3300" b="1">
                <a:solidFill>
                  <a:srgbClr val="0F172A"/>
                </a:solidFill>
                <a:latin typeface="Noto Sans"/>
                <a:ea typeface="Noto Sans"/>
                <a:cs typeface="Noto Sans"/>
              </a:defRPr>
            </a:pPr>
            <a:r>
              <a:rPr sz="3300" b="1">
                <a:solidFill>
                  <a:srgbClr val="0F172A"/>
                </a:solidFill>
                <a:latin typeface="Noto Sans"/>
                <a:ea typeface="Noto Sans"/>
                <a:cs typeface="Noto Sans"/>
              </a:rPr>
              <a:t>Viena darba vide, divi attīstības horizonti</a:t>
            </a:r>
          </a:p>
        </p:txBody>
      </p:sp>
      <p:sp>
        <p:nvSpPr>
          <p:cNvPr id="4" name="Rectangle 3">
            <a:extLst>
              <a:ext uri="{FF2B5EF4-FFF2-40B4-BE49-F238E27FC236}">
                <a16:creationId xmlns:a16="http://schemas.microsoft.com/office/drawing/2014/main" id="{B9FC7551-3484-43C2-B5DB-4F800F807EF4}"/>
              </a:ext>
            </a:extLst>
          </p:cNvPr>
          <p:cNvSpPr>
            <a:spLocks noGrp="1"/>
          </p:cNvSpPr>
          <p:nvPr/>
        </p:nvSpPr>
        <p:spPr>
          <a:xfrm>
            <a:off x="581025" y="1219200"/>
            <a:ext cx="10287000" cy="323850"/>
          </a:xfrm>
          <a:prstGeom prst="rect">
            <a:avLst/>
          </a:prstGeom>
          <a:noFill/>
          <a:ln w="0">
            <a:noFill/>
            <a:prstDash val="solid"/>
          </a:ln>
        </p:spPr>
        <p:txBody>
          <a:bodyPr lIns="76200" tIns="38100" rIns="76200" bIns="38100" anchor="t">
            <a:normAutofit/>
          </a:bodyPr>
          <a:lstStyle/>
          <a:p>
            <a:pPr algn="l">
              <a:lnSpc>
                <a:spcPct val="104000"/>
              </a:lnSpc>
              <a:buNone/>
              <a:defRPr sz="1500" b="0">
                <a:solidFill>
                  <a:srgbClr val="64748B"/>
                </a:solidFill>
                <a:latin typeface="Noto Sans"/>
                <a:ea typeface="Noto Sans"/>
                <a:cs typeface="Noto Sans"/>
              </a:defRPr>
            </a:pPr>
            <a:r>
              <a:rPr sz="1500" b="0">
                <a:solidFill>
                  <a:srgbClr val="64748B"/>
                </a:solidFill>
                <a:latin typeface="Noto Sans"/>
                <a:ea typeface="Noto Sans"/>
                <a:cs typeface="Noto Sans"/>
              </a:rPr>
              <a:t>Pārlūkā pieejams operacionālais kodols ar skaidri nošķirtu nākotnes slāni</a:t>
            </a:r>
          </a:p>
        </p:txBody>
      </p:sp>
      <p:sp>
        <p:nvSpPr>
          <p:cNvPr id="5" name="Rectangle 4">
            <a:extLst>
              <a:ext uri="{FF2B5EF4-FFF2-40B4-BE49-F238E27FC236}">
                <a16:creationId xmlns:a16="http://schemas.microsoft.com/office/drawing/2014/main" id="{1EB1A9CA-54A0-4D3D-9323-799DCE5A0AF6}"/>
              </a:ext>
            </a:extLst>
          </p:cNvPr>
          <p:cNvSpPr>
            <a:spLocks noGrp="1"/>
          </p:cNvSpPr>
          <p:nvPr/>
        </p:nvSpPr>
        <p:spPr>
          <a:xfrm>
            <a:off x="552450" y="1600200"/>
            <a:ext cx="11087100" cy="19050"/>
          </a:xfrm>
          <a:prstGeom prst="rect">
            <a:avLst/>
          </a:prstGeom>
          <a:solidFill>
            <a:srgbClr val="C7D7E2"/>
          </a:solidFill>
          <a:ln w="0">
            <a:noFill/>
            <a:prstDash val="solid"/>
          </a:ln>
        </p:spPr>
        <p:txBody>
          <a:bodyPr/>
          <a:lstStyle/>
          <a:p>
            <a:endParaRPr lang="en-US"/>
          </a:p>
        </p:txBody>
      </p:sp>
      <p:sp>
        <p:nvSpPr>
          <p:cNvPr id="6" name="Rounded Rectangle 5">
            <a:extLst>
              <a:ext uri="{FF2B5EF4-FFF2-40B4-BE49-F238E27FC236}">
                <a16:creationId xmlns:a16="http://schemas.microsoft.com/office/drawing/2014/main" id="{CC2964C4-3167-4E16-A47F-6121835A6CDA}"/>
              </a:ext>
            </a:extLst>
          </p:cNvPr>
          <p:cNvSpPr>
            <a:spLocks noGrp="1"/>
          </p:cNvSpPr>
          <p:nvPr/>
        </p:nvSpPr>
        <p:spPr>
          <a:xfrm>
            <a:off x="590550" y="1952625"/>
            <a:ext cx="11010900" cy="3600450"/>
          </a:xfrm>
          <a:prstGeom prst="roundRect">
            <a:avLst>
              <a:gd name="adj" fmla="val 4233"/>
            </a:avLst>
          </a:prstGeom>
          <a:solidFill>
            <a:srgbClr val="F1F5F9"/>
          </a:solidFill>
          <a:ln w="9525">
            <a:solidFill>
              <a:srgbClr val="C7D7E2"/>
            </a:solidFill>
            <a:prstDash val="solid"/>
          </a:ln>
        </p:spPr>
        <p:txBody>
          <a:bodyPr/>
          <a:lstStyle/>
          <a:p>
            <a:endParaRPr lang="en-US"/>
          </a:p>
        </p:txBody>
      </p:sp>
      <p:sp>
        <p:nvSpPr>
          <p:cNvPr id="7" name="Rounded Rectangle 6">
            <a:extLst>
              <a:ext uri="{FF2B5EF4-FFF2-40B4-BE49-F238E27FC236}">
                <a16:creationId xmlns:a16="http://schemas.microsoft.com/office/drawing/2014/main" id="{03A0A047-376C-4F79-95AA-D9D8608156EE}"/>
              </a:ext>
            </a:extLst>
          </p:cNvPr>
          <p:cNvSpPr>
            <a:spLocks noGrp="1"/>
          </p:cNvSpPr>
          <p:nvPr/>
        </p:nvSpPr>
        <p:spPr>
          <a:xfrm>
            <a:off x="590550" y="1952625"/>
            <a:ext cx="11010900" cy="381000"/>
          </a:xfrm>
          <a:prstGeom prst="roundRect">
            <a:avLst>
              <a:gd name="adj" fmla="val 40000"/>
            </a:avLst>
          </a:prstGeom>
          <a:solidFill>
            <a:srgbClr val="071525"/>
          </a:solidFill>
          <a:ln w="0">
            <a:noFill/>
            <a:prstDash val="solid"/>
          </a:ln>
        </p:spPr>
        <p:txBody>
          <a:bodyPr/>
          <a:lstStyle/>
          <a:p>
            <a:endParaRPr lang="en-US"/>
          </a:p>
        </p:txBody>
      </p:sp>
      <p:sp>
        <p:nvSpPr>
          <p:cNvPr id="8" name="Rectangle 7">
            <a:extLst>
              <a:ext uri="{FF2B5EF4-FFF2-40B4-BE49-F238E27FC236}">
                <a16:creationId xmlns:a16="http://schemas.microsoft.com/office/drawing/2014/main" id="{EC13680C-EEB2-4C28-B910-D7C57D2147C6}"/>
              </a:ext>
            </a:extLst>
          </p:cNvPr>
          <p:cNvSpPr>
            <a:spLocks noGrp="1"/>
          </p:cNvSpPr>
          <p:nvPr/>
        </p:nvSpPr>
        <p:spPr>
          <a:xfrm>
            <a:off x="590550" y="2181225"/>
            <a:ext cx="11010900" cy="152400"/>
          </a:xfrm>
          <a:prstGeom prst="rect">
            <a:avLst/>
          </a:prstGeom>
          <a:solidFill>
            <a:srgbClr val="071525"/>
          </a:solidFill>
          <a:ln w="0">
            <a:noFill/>
            <a:prstDash val="solid"/>
          </a:ln>
        </p:spPr>
        <p:txBody>
          <a:bodyPr/>
          <a:lstStyle/>
          <a:p>
            <a:endParaRPr lang="en-US"/>
          </a:p>
        </p:txBody>
      </p:sp>
      <p:sp>
        <p:nvSpPr>
          <p:cNvPr id="9" name="Rounded Rectangle 8">
            <a:extLst>
              <a:ext uri="{FF2B5EF4-FFF2-40B4-BE49-F238E27FC236}">
                <a16:creationId xmlns:a16="http://schemas.microsoft.com/office/drawing/2014/main" id="{DF0D95AE-DDDD-444F-8AFB-CC8B6AA93308}"/>
              </a:ext>
            </a:extLst>
          </p:cNvPr>
          <p:cNvSpPr>
            <a:spLocks noGrp="1"/>
          </p:cNvSpPr>
          <p:nvPr/>
        </p:nvSpPr>
        <p:spPr>
          <a:xfrm>
            <a:off x="800100" y="2095500"/>
            <a:ext cx="76200" cy="76200"/>
          </a:xfrm>
          <a:prstGeom prst="roundRect">
            <a:avLst>
              <a:gd name="adj" fmla="val 50000"/>
            </a:avLst>
          </a:prstGeom>
          <a:solidFill>
            <a:srgbClr val="E66A5C"/>
          </a:solidFill>
          <a:ln w="0">
            <a:noFill/>
            <a:prstDash val="solid"/>
          </a:ln>
        </p:spPr>
        <p:txBody>
          <a:bodyPr/>
          <a:lstStyle/>
          <a:p>
            <a:endParaRPr lang="en-US"/>
          </a:p>
        </p:txBody>
      </p:sp>
      <p:sp>
        <p:nvSpPr>
          <p:cNvPr id="10" name="Rounded Rectangle 9">
            <a:extLst>
              <a:ext uri="{FF2B5EF4-FFF2-40B4-BE49-F238E27FC236}">
                <a16:creationId xmlns:a16="http://schemas.microsoft.com/office/drawing/2014/main" id="{473B35AA-4919-458A-A1A3-8623867EBE92}"/>
              </a:ext>
            </a:extLst>
          </p:cNvPr>
          <p:cNvSpPr>
            <a:spLocks noGrp="1"/>
          </p:cNvSpPr>
          <p:nvPr/>
        </p:nvSpPr>
        <p:spPr>
          <a:xfrm>
            <a:off x="990600" y="2095500"/>
            <a:ext cx="76200" cy="76200"/>
          </a:xfrm>
          <a:prstGeom prst="roundRect">
            <a:avLst>
              <a:gd name="adj" fmla="val 50000"/>
            </a:avLst>
          </a:prstGeom>
          <a:solidFill>
            <a:srgbClr val="38BDF8"/>
          </a:solidFill>
          <a:ln w="0">
            <a:noFill/>
            <a:prstDash val="solid"/>
          </a:ln>
        </p:spPr>
        <p:txBody>
          <a:bodyPr/>
          <a:lstStyle/>
          <a:p>
            <a:endParaRPr lang="en-US"/>
          </a:p>
        </p:txBody>
      </p:sp>
      <p:sp>
        <p:nvSpPr>
          <p:cNvPr id="11" name="Rounded Rectangle 10">
            <a:extLst>
              <a:ext uri="{FF2B5EF4-FFF2-40B4-BE49-F238E27FC236}">
                <a16:creationId xmlns:a16="http://schemas.microsoft.com/office/drawing/2014/main" id="{317812B4-F1AD-4996-9E9D-7E3980195268}"/>
              </a:ext>
            </a:extLst>
          </p:cNvPr>
          <p:cNvSpPr>
            <a:spLocks noGrp="1"/>
          </p:cNvSpPr>
          <p:nvPr/>
        </p:nvSpPr>
        <p:spPr>
          <a:xfrm>
            <a:off x="1181100" y="2095500"/>
            <a:ext cx="76200" cy="76200"/>
          </a:xfrm>
          <a:prstGeom prst="roundRect">
            <a:avLst>
              <a:gd name="adj" fmla="val 50000"/>
            </a:avLst>
          </a:prstGeom>
          <a:solidFill>
            <a:srgbClr val="94A3B8"/>
          </a:solidFill>
          <a:ln w="0">
            <a:noFill/>
            <a:prstDash val="solid"/>
          </a:ln>
        </p:spPr>
        <p:txBody>
          <a:bodyPr/>
          <a:lstStyle/>
          <a:p>
            <a:endParaRPr lang="en-US"/>
          </a:p>
        </p:txBody>
      </p:sp>
      <p:sp>
        <p:nvSpPr>
          <p:cNvPr id="12" name="Rounded Rectangle 11">
            <a:extLst>
              <a:ext uri="{FF2B5EF4-FFF2-40B4-BE49-F238E27FC236}">
                <a16:creationId xmlns:a16="http://schemas.microsoft.com/office/drawing/2014/main" id="{DD0C4510-7E56-41D7-8623-A7B46A09528A}"/>
              </a:ext>
            </a:extLst>
          </p:cNvPr>
          <p:cNvSpPr>
            <a:spLocks noGrp="1"/>
          </p:cNvSpPr>
          <p:nvPr/>
        </p:nvSpPr>
        <p:spPr>
          <a:xfrm>
            <a:off x="857250" y="2562225"/>
            <a:ext cx="1809750" cy="266700"/>
          </a:xfrm>
          <a:prstGeom prst="roundRect">
            <a:avLst>
              <a:gd name="adj" fmla="val 50000"/>
            </a:avLst>
          </a:prstGeom>
          <a:solidFill>
            <a:srgbClr val="071525"/>
          </a:solidFill>
          <a:ln w="0">
            <a:noFill/>
            <a:prstDash val="solid"/>
          </a:ln>
        </p:spPr>
        <p:txBody>
          <a:bodyPr lIns="76200" tIns="19050" rIns="76200" bIns="19050" anchor="ctr">
            <a:normAutofit fontScale="90425"/>
          </a:bodyPr>
          <a:lstStyle/>
          <a:p>
            <a:pPr algn="ctr">
              <a:lnSpc>
                <a:spcPct val="104000"/>
              </a:lnSpc>
              <a:buNone/>
              <a:defRPr sz="1050" b="1">
                <a:solidFill>
                  <a:srgbClr val="F8FAFC"/>
                </a:solidFill>
                <a:latin typeface="Noto Sans"/>
                <a:ea typeface="Noto Sans"/>
                <a:cs typeface="Noto Sans"/>
              </a:defRPr>
            </a:pPr>
            <a:r>
              <a:rPr sz="1050" b="1">
                <a:solidFill>
                  <a:srgbClr val="F8FAFC"/>
                </a:solidFill>
                <a:latin typeface="Noto Sans"/>
                <a:ea typeface="Noto Sans"/>
                <a:cs typeface="Noto Sans"/>
              </a:rPr>
              <a:t>ŠOBRĪD REALIZĒTS</a:t>
            </a:r>
          </a:p>
        </p:txBody>
      </p:sp>
      <p:sp>
        <p:nvSpPr>
          <p:cNvPr id="13" name="Rounded Rectangle 12">
            <a:extLst>
              <a:ext uri="{FF2B5EF4-FFF2-40B4-BE49-F238E27FC236}">
                <a16:creationId xmlns:a16="http://schemas.microsoft.com/office/drawing/2014/main" id="{3A8984E8-A5E9-40DF-9D61-FDE8E8CCF01B}"/>
              </a:ext>
            </a:extLst>
          </p:cNvPr>
          <p:cNvSpPr>
            <a:spLocks noGrp="1"/>
          </p:cNvSpPr>
          <p:nvPr/>
        </p:nvSpPr>
        <p:spPr>
          <a:xfrm>
            <a:off x="857250" y="3038475"/>
            <a:ext cx="2266950" cy="590550"/>
          </a:xfrm>
          <a:prstGeom prst="roundRect">
            <a:avLst>
              <a:gd name="adj" fmla="val 16129"/>
            </a:avLst>
          </a:prstGeom>
          <a:solidFill>
            <a:srgbClr val="F8FAFC"/>
          </a:solidFill>
          <a:ln w="9525">
            <a:solidFill>
              <a:srgbClr val="C7D7E2"/>
            </a:solidFill>
            <a:prstDash val="solid"/>
          </a:ln>
        </p:spPr>
        <p:txBody>
          <a:bodyPr lIns="76200" tIns="38100" rIns="76200" bIns="38100" anchor="ctr">
            <a:normAutofit/>
          </a:bodyPr>
          <a:lstStyle/>
          <a:p>
            <a:pPr algn="ctr">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Overview</a:t>
            </a:r>
          </a:p>
        </p:txBody>
      </p:sp>
      <p:sp>
        <p:nvSpPr>
          <p:cNvPr id="14" name="Rounded Rectangle 13">
            <a:extLst>
              <a:ext uri="{FF2B5EF4-FFF2-40B4-BE49-F238E27FC236}">
                <a16:creationId xmlns:a16="http://schemas.microsoft.com/office/drawing/2014/main" id="{278A687B-6DBC-4287-847A-DC25BFF4206E}"/>
              </a:ext>
            </a:extLst>
          </p:cNvPr>
          <p:cNvSpPr>
            <a:spLocks noGrp="1"/>
          </p:cNvSpPr>
          <p:nvPr/>
        </p:nvSpPr>
        <p:spPr>
          <a:xfrm>
            <a:off x="3409950" y="3038475"/>
            <a:ext cx="2266950" cy="590550"/>
          </a:xfrm>
          <a:prstGeom prst="roundRect">
            <a:avLst>
              <a:gd name="adj" fmla="val 16129"/>
            </a:avLst>
          </a:prstGeom>
          <a:solidFill>
            <a:srgbClr val="F8FAFC"/>
          </a:solidFill>
          <a:ln w="9525">
            <a:solidFill>
              <a:srgbClr val="C7D7E2"/>
            </a:solidFill>
            <a:prstDash val="solid"/>
          </a:ln>
        </p:spPr>
        <p:txBody>
          <a:bodyPr lIns="76200" tIns="38100" rIns="76200" bIns="38100" anchor="ctr">
            <a:normAutofit/>
          </a:bodyPr>
          <a:lstStyle/>
          <a:p>
            <a:pPr algn="ctr">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Data</a:t>
            </a:r>
          </a:p>
        </p:txBody>
      </p:sp>
      <p:sp>
        <p:nvSpPr>
          <p:cNvPr id="15" name="Rounded Rectangle 14">
            <a:extLst>
              <a:ext uri="{FF2B5EF4-FFF2-40B4-BE49-F238E27FC236}">
                <a16:creationId xmlns:a16="http://schemas.microsoft.com/office/drawing/2014/main" id="{C8AF080D-776F-4C2C-A517-7C225F326445}"/>
              </a:ext>
            </a:extLst>
          </p:cNvPr>
          <p:cNvSpPr>
            <a:spLocks noGrp="1"/>
          </p:cNvSpPr>
          <p:nvPr/>
        </p:nvSpPr>
        <p:spPr>
          <a:xfrm>
            <a:off x="5962650" y="3038475"/>
            <a:ext cx="2266950" cy="590550"/>
          </a:xfrm>
          <a:prstGeom prst="roundRect">
            <a:avLst>
              <a:gd name="adj" fmla="val 16129"/>
            </a:avLst>
          </a:prstGeom>
          <a:solidFill>
            <a:srgbClr val="F8FAFC"/>
          </a:solidFill>
          <a:ln w="9525">
            <a:solidFill>
              <a:srgbClr val="C7D7E2"/>
            </a:solidFill>
            <a:prstDash val="solid"/>
          </a:ln>
        </p:spPr>
        <p:txBody>
          <a:bodyPr lIns="76200" tIns="38100" rIns="76200" bIns="38100" anchor="ctr">
            <a:normAutofit/>
          </a:bodyPr>
          <a:lstStyle/>
          <a:p>
            <a:pPr algn="ctr">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Documents</a:t>
            </a:r>
          </a:p>
        </p:txBody>
      </p:sp>
      <p:sp>
        <p:nvSpPr>
          <p:cNvPr id="16" name="Rounded Rectangle 15">
            <a:extLst>
              <a:ext uri="{FF2B5EF4-FFF2-40B4-BE49-F238E27FC236}">
                <a16:creationId xmlns:a16="http://schemas.microsoft.com/office/drawing/2014/main" id="{CBBF3458-92A1-42C7-BFDC-DC4585639053}"/>
              </a:ext>
            </a:extLst>
          </p:cNvPr>
          <p:cNvSpPr>
            <a:spLocks noGrp="1"/>
          </p:cNvSpPr>
          <p:nvPr/>
        </p:nvSpPr>
        <p:spPr>
          <a:xfrm>
            <a:off x="8515350" y="3038475"/>
            <a:ext cx="2266950" cy="590550"/>
          </a:xfrm>
          <a:prstGeom prst="roundRect">
            <a:avLst>
              <a:gd name="adj" fmla="val 16129"/>
            </a:avLst>
          </a:prstGeom>
          <a:solidFill>
            <a:srgbClr val="F8FAFC"/>
          </a:solidFill>
          <a:ln w="9525">
            <a:solidFill>
              <a:srgbClr val="C7D7E2"/>
            </a:solidFill>
            <a:prstDash val="solid"/>
          </a:ln>
        </p:spPr>
        <p:txBody>
          <a:bodyPr lIns="76200" tIns="38100" rIns="76200" bIns="38100" anchor="ctr">
            <a:normAutofit/>
          </a:bodyPr>
          <a:lstStyle/>
          <a:p>
            <a:pPr algn="ctr">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Shipments</a:t>
            </a:r>
          </a:p>
        </p:txBody>
      </p:sp>
      <p:sp>
        <p:nvSpPr>
          <p:cNvPr id="17" name="Rounded Rectangle 16">
            <a:extLst>
              <a:ext uri="{FF2B5EF4-FFF2-40B4-BE49-F238E27FC236}">
                <a16:creationId xmlns:a16="http://schemas.microsoft.com/office/drawing/2014/main" id="{D84595EB-FC96-4092-91E1-4E7783663CDD}"/>
              </a:ext>
            </a:extLst>
          </p:cNvPr>
          <p:cNvSpPr>
            <a:spLocks noGrp="1"/>
          </p:cNvSpPr>
          <p:nvPr/>
        </p:nvSpPr>
        <p:spPr>
          <a:xfrm>
            <a:off x="857250" y="3857625"/>
            <a:ext cx="2266950" cy="590550"/>
          </a:xfrm>
          <a:prstGeom prst="roundRect">
            <a:avLst>
              <a:gd name="adj" fmla="val 16129"/>
            </a:avLst>
          </a:prstGeom>
          <a:solidFill>
            <a:srgbClr val="F8FAFC"/>
          </a:solidFill>
          <a:ln w="9525">
            <a:solidFill>
              <a:srgbClr val="C7D7E2"/>
            </a:solidFill>
            <a:prstDash val="solid"/>
          </a:ln>
        </p:spPr>
        <p:txBody>
          <a:bodyPr lIns="76200" tIns="38100" rIns="76200" bIns="38100" anchor="ctr">
            <a:normAutofit/>
          </a:bodyPr>
          <a:lstStyle/>
          <a:p>
            <a:pPr algn="ctr">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Invoices</a:t>
            </a:r>
          </a:p>
        </p:txBody>
      </p:sp>
      <p:sp>
        <p:nvSpPr>
          <p:cNvPr id="18" name="Rounded Rectangle 17">
            <a:extLst>
              <a:ext uri="{FF2B5EF4-FFF2-40B4-BE49-F238E27FC236}">
                <a16:creationId xmlns:a16="http://schemas.microsoft.com/office/drawing/2014/main" id="{28DEE3D9-C646-4C83-8447-45EE076D0F42}"/>
              </a:ext>
            </a:extLst>
          </p:cNvPr>
          <p:cNvSpPr>
            <a:spLocks noGrp="1"/>
          </p:cNvSpPr>
          <p:nvPr/>
        </p:nvSpPr>
        <p:spPr>
          <a:xfrm>
            <a:off x="3409950" y="3857625"/>
            <a:ext cx="2266950" cy="590550"/>
          </a:xfrm>
          <a:prstGeom prst="roundRect">
            <a:avLst>
              <a:gd name="adj" fmla="val 16129"/>
            </a:avLst>
          </a:prstGeom>
          <a:solidFill>
            <a:srgbClr val="F8FAFC"/>
          </a:solidFill>
          <a:ln w="9525">
            <a:solidFill>
              <a:srgbClr val="C7D7E2"/>
            </a:solidFill>
            <a:prstDash val="solid"/>
          </a:ln>
        </p:spPr>
        <p:txBody>
          <a:bodyPr lIns="76200" tIns="38100" rIns="76200" bIns="38100" anchor="ctr">
            <a:normAutofit/>
          </a:bodyPr>
          <a:lstStyle/>
          <a:p>
            <a:pPr algn="ctr">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B/L</a:t>
            </a:r>
          </a:p>
        </p:txBody>
      </p:sp>
      <p:sp>
        <p:nvSpPr>
          <p:cNvPr id="19" name="Rounded Rectangle 18">
            <a:extLst>
              <a:ext uri="{FF2B5EF4-FFF2-40B4-BE49-F238E27FC236}">
                <a16:creationId xmlns:a16="http://schemas.microsoft.com/office/drawing/2014/main" id="{25F7F334-EC20-47C8-ABA9-8826D60B4F72}"/>
              </a:ext>
            </a:extLst>
          </p:cNvPr>
          <p:cNvSpPr>
            <a:spLocks noGrp="1"/>
          </p:cNvSpPr>
          <p:nvPr/>
        </p:nvSpPr>
        <p:spPr>
          <a:xfrm>
            <a:off x="5962650" y="3857625"/>
            <a:ext cx="2266950" cy="590550"/>
          </a:xfrm>
          <a:prstGeom prst="roundRect">
            <a:avLst>
              <a:gd name="adj" fmla="val 16129"/>
            </a:avLst>
          </a:prstGeom>
          <a:solidFill>
            <a:srgbClr val="F8FAFC"/>
          </a:solidFill>
          <a:ln w="9525">
            <a:solidFill>
              <a:srgbClr val="C7D7E2"/>
            </a:solidFill>
            <a:prstDash val="solid"/>
          </a:ln>
        </p:spPr>
        <p:txBody>
          <a:bodyPr lIns="76200" tIns="38100" rIns="76200" bIns="38100" anchor="ctr">
            <a:normAutofit/>
          </a:bodyPr>
          <a:lstStyle/>
          <a:p>
            <a:pPr algn="ctr">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Analytics</a:t>
            </a:r>
          </a:p>
        </p:txBody>
      </p:sp>
      <p:sp>
        <p:nvSpPr>
          <p:cNvPr id="20" name="Rounded Rectangle 19">
            <a:extLst>
              <a:ext uri="{FF2B5EF4-FFF2-40B4-BE49-F238E27FC236}">
                <a16:creationId xmlns:a16="http://schemas.microsoft.com/office/drawing/2014/main" id="{D238412E-BE09-4FD5-8D52-48923C33B8AD}"/>
              </a:ext>
            </a:extLst>
          </p:cNvPr>
          <p:cNvSpPr>
            <a:spLocks noGrp="1"/>
          </p:cNvSpPr>
          <p:nvPr/>
        </p:nvSpPr>
        <p:spPr>
          <a:xfrm>
            <a:off x="857250" y="4867275"/>
            <a:ext cx="1000125" cy="266700"/>
          </a:xfrm>
          <a:prstGeom prst="roundRect">
            <a:avLst>
              <a:gd name="adj" fmla="val 50000"/>
            </a:avLst>
          </a:prstGeom>
          <a:solidFill>
            <a:srgbClr val="F1F5F9"/>
          </a:solidFill>
          <a:ln w="0">
            <a:noFill/>
            <a:prstDash val="solid"/>
          </a:ln>
        </p:spPr>
        <p:txBody>
          <a:bodyPr lIns="76200" tIns="19050" rIns="76200" bIns="19050" anchor="ctr">
            <a:normAutofit fontScale="90425"/>
          </a:bodyPr>
          <a:lstStyle/>
          <a:p>
            <a:pPr algn="ctr">
              <a:lnSpc>
                <a:spcPct val="104000"/>
              </a:lnSpc>
              <a:buNone/>
              <a:defRPr sz="1050" b="1">
                <a:solidFill>
                  <a:srgbClr val="64748B"/>
                </a:solidFill>
                <a:latin typeface="Noto Sans"/>
                <a:ea typeface="Noto Sans"/>
                <a:cs typeface="Noto Sans"/>
              </a:defRPr>
            </a:pPr>
            <a:r>
              <a:rPr sz="1050" b="1">
                <a:solidFill>
                  <a:srgbClr val="64748B"/>
                </a:solidFill>
                <a:latin typeface="Noto Sans"/>
                <a:ea typeface="Noto Sans"/>
                <a:cs typeface="Noto Sans"/>
              </a:rPr>
              <a:t>PLĀNOTS</a:t>
            </a:r>
          </a:p>
        </p:txBody>
      </p:sp>
      <p:sp>
        <p:nvSpPr>
          <p:cNvPr id="21" name="Rectangle 20">
            <a:extLst>
              <a:ext uri="{FF2B5EF4-FFF2-40B4-BE49-F238E27FC236}">
                <a16:creationId xmlns:a16="http://schemas.microsoft.com/office/drawing/2014/main" id="{36962BD0-77FD-45DA-A8C3-9A03BB8AAD54}"/>
              </a:ext>
            </a:extLst>
          </p:cNvPr>
          <p:cNvSpPr>
            <a:spLocks noGrp="1"/>
          </p:cNvSpPr>
          <p:nvPr/>
        </p:nvSpPr>
        <p:spPr>
          <a:xfrm>
            <a:off x="2085975" y="4800600"/>
            <a:ext cx="8858250" cy="400050"/>
          </a:xfrm>
          <a:prstGeom prst="rect">
            <a:avLst/>
          </a:prstGeom>
          <a:noFill/>
          <a:ln w="0">
            <a:noFill/>
            <a:prstDash val="solid"/>
          </a:ln>
        </p:spPr>
        <p:txBody>
          <a:bodyPr lIns="76200" tIns="38100" rIns="76200" bIns="38100" anchor="ctr">
            <a:normAutofit/>
          </a:bodyPr>
          <a:lstStyle/>
          <a:p>
            <a:pPr algn="l">
              <a:lnSpc>
                <a:spcPct val="104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Finance darba telpa  •  AI Analyst  •  FIN//TWIN simulators  •  Automations  •  pilna administrēšana</a:t>
            </a:r>
          </a:p>
        </p:txBody>
      </p:sp>
      <p:sp>
        <p:nvSpPr>
          <p:cNvPr id="22" name="Rectangle 21">
            <a:extLst>
              <a:ext uri="{FF2B5EF4-FFF2-40B4-BE49-F238E27FC236}">
                <a16:creationId xmlns:a16="http://schemas.microsoft.com/office/drawing/2014/main" id="{D7A09F1B-EE59-4AC0-ADDC-14122932DECF}"/>
              </a:ext>
            </a:extLst>
          </p:cNvPr>
          <p:cNvSpPr>
            <a:spLocks noGrp="1"/>
          </p:cNvSpPr>
          <p:nvPr/>
        </p:nvSpPr>
        <p:spPr>
          <a:xfrm>
            <a:off x="600075" y="5829300"/>
            <a:ext cx="10953750" cy="419100"/>
          </a:xfrm>
          <a:prstGeom prst="rect">
            <a:avLst/>
          </a:prstGeom>
          <a:noFill/>
          <a:ln w="0">
            <a:noFill/>
            <a:prstDash val="solid"/>
          </a:ln>
        </p:spPr>
        <p:txBody>
          <a:bodyPr lIns="76200" tIns="38100" rIns="76200" bIns="38100" anchor="ctr">
            <a:normAutofit fontScale="86467"/>
          </a:bodyPr>
          <a:lstStyle/>
          <a:p>
            <a:pPr algn="ctr">
              <a:lnSpc>
                <a:spcPct val="104000"/>
              </a:lnSpc>
              <a:buNone/>
              <a:defRPr sz="1725" b="1">
                <a:solidFill>
                  <a:srgbClr val="123A63"/>
                </a:solidFill>
                <a:latin typeface="Noto Sans"/>
                <a:ea typeface="Noto Sans"/>
                <a:cs typeface="Noto Sans"/>
              </a:defRPr>
            </a:pPr>
            <a:r>
              <a:rPr sz="1725" b="1">
                <a:solidFill>
                  <a:srgbClr val="123A63"/>
                </a:solidFill>
                <a:latin typeface="Noto Sans"/>
                <a:ea typeface="Noto Sans"/>
                <a:cs typeface="Noto Sans"/>
              </a:rPr>
              <a:t>TWIN nav galvenokārt importer, parseris, chatbot vai vēl viens dashboard. Tas ir savienojošs datu un inteliģences slānis.</a:t>
            </a:r>
          </a:p>
        </p:txBody>
      </p:sp>
      <p:sp>
        <p:nvSpPr>
          <p:cNvPr id="23" name="Rectangle 22">
            <a:extLst>
              <a:ext uri="{FF2B5EF4-FFF2-40B4-BE49-F238E27FC236}">
                <a16:creationId xmlns:a16="http://schemas.microsoft.com/office/drawing/2014/main" id="{586393F3-6E04-46DA-AFB9-B4A6BCB6E8C4}"/>
              </a:ext>
            </a:extLst>
          </p:cNvPr>
          <p:cNvSpPr>
            <a:spLocks noGrp="1"/>
          </p:cNvSpPr>
          <p:nvPr/>
        </p:nvSpPr>
        <p:spPr>
          <a:xfrm>
            <a:off x="552450" y="6486525"/>
            <a:ext cx="4762500" cy="171450"/>
          </a:xfrm>
          <a:prstGeom prst="rect">
            <a:avLst/>
          </a:prstGeom>
          <a:noFill/>
          <a:ln w="0">
            <a:noFill/>
            <a:prstDash val="solid"/>
          </a:ln>
        </p:spPr>
        <p:txBody>
          <a:bodyPr lIns="76200" tIns="38100" rIns="76200" bIns="38100" anchor="ctr">
            <a:normAutofit fontScale="61637"/>
          </a:bodyPr>
          <a:lstStyle/>
          <a:p>
            <a:pPr algn="l">
              <a:lnSpc>
                <a:spcPct val="104000"/>
              </a:lnSpc>
              <a:buNone/>
              <a:defRPr sz="975" b="0">
                <a:solidFill>
                  <a:srgbClr val="94A3B8"/>
                </a:solidFill>
                <a:latin typeface="Noto Sans"/>
                <a:ea typeface="Noto Sans"/>
                <a:cs typeface="Noto Sans"/>
              </a:defRPr>
            </a:pPr>
            <a:r>
              <a:rPr sz="975" b="0">
                <a:solidFill>
                  <a:srgbClr val="94A3B8"/>
                </a:solidFill>
                <a:latin typeface="Noto Sans"/>
                <a:ea typeface="Noto Sans"/>
                <a:cs typeface="Noto Sans"/>
              </a:rPr>
              <a:t>Moduļu statuss balstīts pašreizējā repozitorijā</a:t>
            </a:r>
          </a:p>
        </p:txBody>
      </p:sp>
    </p:spTree>
    <p:extLst>
      <p:ext uri="{BB962C8B-B14F-4D97-AF65-F5344CB8AC3E}">
        <p14:creationId xmlns:p14="http://schemas.microsoft.com/office/powerpoint/2010/main" val="1386152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4C131DEC-B745-47C6-9C74-496DA85F0651}"/>
              </a:ext>
            </a:extLst>
          </p:cNvPr>
          <p:cNvSpPr>
            <a:spLocks noGrp="1"/>
          </p:cNvSpPr>
          <p:nvPr/>
        </p:nvSpPr>
        <p:spPr>
          <a:xfrm>
            <a:off x="552450" y="266700"/>
            <a:ext cx="4000500" cy="228600"/>
          </a:xfrm>
          <a:prstGeom prst="rect">
            <a:avLst/>
          </a:prstGeom>
          <a:noFill/>
          <a:ln w="0">
            <a:noFill/>
            <a:prstDash val="solid"/>
          </a:ln>
        </p:spPr>
        <p:txBody>
          <a:bodyPr lIns="76200" tIns="38100" rIns="76200" bIns="38100" anchor="ctr">
            <a:normAutofit fontScale="85470"/>
          </a:bodyPr>
          <a:lstStyle/>
          <a:p>
            <a:pPr algn="l">
              <a:lnSpc>
                <a:spcPct val="104000"/>
              </a:lnSpc>
              <a:buNone/>
              <a:defRPr sz="1125" b="1">
                <a:solidFill>
                  <a:srgbClr val="123A63"/>
                </a:solidFill>
                <a:latin typeface="Noto Sans"/>
                <a:ea typeface="Noto Sans"/>
                <a:cs typeface="Noto Sans"/>
              </a:defRPr>
            </a:pPr>
            <a:r>
              <a:rPr sz="1125" b="1">
                <a:solidFill>
                  <a:srgbClr val="123A63"/>
                </a:solidFill>
                <a:latin typeface="Noto Sans"/>
                <a:ea typeface="Noto Sans"/>
                <a:cs typeface="Noto Sans"/>
              </a:rPr>
              <a:t>TWIN  /  KOMANDAS DISKUSIJA</a:t>
            </a:r>
          </a:p>
        </p:txBody>
      </p:sp>
      <p:sp>
        <p:nvSpPr>
          <p:cNvPr id="2" name="Rectangle 1">
            <a:extLst>
              <a:ext uri="{FF2B5EF4-FFF2-40B4-BE49-F238E27FC236}">
                <a16:creationId xmlns:a16="http://schemas.microsoft.com/office/drawing/2014/main" id="{D71AB75D-F63B-460A-85B8-0045D952E117}"/>
              </a:ext>
            </a:extLst>
          </p:cNvPr>
          <p:cNvSpPr>
            <a:spLocks noGrp="1"/>
          </p:cNvSpPr>
          <p:nvPr/>
        </p:nvSpPr>
        <p:spPr>
          <a:xfrm>
            <a:off x="11191875" y="257175"/>
            <a:ext cx="438150" cy="238125"/>
          </a:xfrm>
          <a:prstGeom prst="rect">
            <a:avLst/>
          </a:prstGeom>
          <a:noFill/>
          <a:ln w="0">
            <a:noFill/>
            <a:prstDash val="solid"/>
          </a:ln>
        </p:spPr>
        <p:txBody>
          <a:bodyPr lIns="76200" tIns="38100" rIns="76200" bIns="38100" anchor="ctr">
            <a:normAutofit fontScale="90812"/>
          </a:bodyPr>
          <a:lstStyle/>
          <a:p>
            <a:pPr algn="r">
              <a:lnSpc>
                <a:spcPct val="104000"/>
              </a:lnSpc>
              <a:buNone/>
              <a:defRPr sz="1125" b="1">
                <a:solidFill>
                  <a:srgbClr val="94A3B8"/>
                </a:solidFill>
                <a:latin typeface="Noto Sans"/>
                <a:ea typeface="Noto Sans"/>
                <a:cs typeface="Noto Sans"/>
              </a:defRPr>
            </a:pPr>
            <a:r>
              <a:rPr sz="1125" b="1">
                <a:solidFill>
                  <a:srgbClr val="94A3B8"/>
                </a:solidFill>
                <a:latin typeface="Noto Sans"/>
                <a:ea typeface="Noto Sans"/>
                <a:cs typeface="Noto Sans"/>
              </a:rPr>
              <a:t>05</a:t>
            </a:r>
          </a:p>
        </p:txBody>
      </p:sp>
      <p:sp>
        <p:nvSpPr>
          <p:cNvPr id="3" name="Rectangle 2">
            <a:extLst>
              <a:ext uri="{FF2B5EF4-FFF2-40B4-BE49-F238E27FC236}">
                <a16:creationId xmlns:a16="http://schemas.microsoft.com/office/drawing/2014/main" id="{AE731743-2E93-4321-AB8C-B9EABC28B281}"/>
              </a:ext>
            </a:extLst>
          </p:cNvPr>
          <p:cNvSpPr>
            <a:spLocks noGrp="1"/>
          </p:cNvSpPr>
          <p:nvPr/>
        </p:nvSpPr>
        <p:spPr>
          <a:xfrm>
            <a:off x="552450" y="628650"/>
            <a:ext cx="10382250" cy="590550"/>
          </a:xfrm>
          <a:prstGeom prst="rect">
            <a:avLst/>
          </a:prstGeom>
          <a:noFill/>
          <a:ln w="0">
            <a:noFill/>
            <a:prstDash val="solid"/>
          </a:ln>
        </p:spPr>
        <p:txBody>
          <a:bodyPr lIns="76200" tIns="38100" rIns="76200" bIns="38100" anchor="t">
            <a:normAutofit fontScale="98339"/>
          </a:bodyPr>
          <a:lstStyle/>
          <a:p>
            <a:pPr algn="l">
              <a:lnSpc>
                <a:spcPct val="104000"/>
              </a:lnSpc>
              <a:buNone/>
              <a:defRPr sz="3300" b="1">
                <a:solidFill>
                  <a:srgbClr val="0F172A"/>
                </a:solidFill>
                <a:latin typeface="Noto Sans"/>
                <a:ea typeface="Noto Sans"/>
                <a:cs typeface="Noto Sans"/>
              </a:defRPr>
            </a:pPr>
            <a:r>
              <a:rPr sz="3300" b="1">
                <a:solidFill>
                  <a:srgbClr val="0F172A"/>
                </a:solidFill>
                <a:latin typeface="Noto Sans"/>
                <a:ea typeface="Noto Sans"/>
                <a:cs typeface="Noto Sans"/>
              </a:rPr>
              <a:t>Data Hub: vairāk nekā failu imports</a:t>
            </a:r>
          </a:p>
        </p:txBody>
      </p:sp>
      <p:sp>
        <p:nvSpPr>
          <p:cNvPr id="4" name="Rectangle 3">
            <a:extLst>
              <a:ext uri="{FF2B5EF4-FFF2-40B4-BE49-F238E27FC236}">
                <a16:creationId xmlns:a16="http://schemas.microsoft.com/office/drawing/2014/main" id="{D3A43033-E0FF-413A-B0EC-AF0E72F6943F}"/>
              </a:ext>
            </a:extLst>
          </p:cNvPr>
          <p:cNvSpPr>
            <a:spLocks noGrp="1"/>
          </p:cNvSpPr>
          <p:nvPr/>
        </p:nvSpPr>
        <p:spPr>
          <a:xfrm>
            <a:off x="581025" y="1219200"/>
            <a:ext cx="10287000" cy="323850"/>
          </a:xfrm>
          <a:prstGeom prst="rect">
            <a:avLst/>
          </a:prstGeom>
          <a:noFill/>
          <a:ln w="0">
            <a:noFill/>
            <a:prstDash val="solid"/>
          </a:ln>
        </p:spPr>
        <p:txBody>
          <a:bodyPr lIns="76200" tIns="38100" rIns="76200" bIns="38100" anchor="t">
            <a:normAutofit/>
          </a:bodyPr>
          <a:lstStyle/>
          <a:p>
            <a:pPr algn="l">
              <a:lnSpc>
                <a:spcPct val="104000"/>
              </a:lnSpc>
              <a:buNone/>
              <a:defRPr sz="1500" b="0">
                <a:solidFill>
                  <a:srgbClr val="64748B"/>
                </a:solidFill>
                <a:latin typeface="Noto Sans"/>
                <a:ea typeface="Noto Sans"/>
                <a:cs typeface="Noto Sans"/>
              </a:defRPr>
            </a:pPr>
            <a:r>
              <a:rPr sz="1500" b="0">
                <a:solidFill>
                  <a:srgbClr val="64748B"/>
                </a:solidFill>
                <a:latin typeface="Noto Sans"/>
                <a:ea typeface="Noto Sans"/>
                <a:cs typeface="Noto Sans"/>
              </a:rPr>
              <a:t>Četri datu ienākšanas veidi, viens pārvaldīts ceļš līdz uzņēmuma datu modelim</a:t>
            </a:r>
          </a:p>
        </p:txBody>
      </p:sp>
      <p:sp>
        <p:nvSpPr>
          <p:cNvPr id="5" name="Rectangle 4">
            <a:extLst>
              <a:ext uri="{FF2B5EF4-FFF2-40B4-BE49-F238E27FC236}">
                <a16:creationId xmlns:a16="http://schemas.microsoft.com/office/drawing/2014/main" id="{FF7FF742-20A1-4CA3-9274-946143791AD8}"/>
              </a:ext>
            </a:extLst>
          </p:cNvPr>
          <p:cNvSpPr>
            <a:spLocks noGrp="1"/>
          </p:cNvSpPr>
          <p:nvPr/>
        </p:nvSpPr>
        <p:spPr>
          <a:xfrm>
            <a:off x="552450" y="1600200"/>
            <a:ext cx="11087100" cy="19050"/>
          </a:xfrm>
          <a:prstGeom prst="rect">
            <a:avLst/>
          </a:prstGeom>
          <a:solidFill>
            <a:srgbClr val="C7D7E2"/>
          </a:solidFill>
          <a:ln w="0">
            <a:noFill/>
            <a:prstDash val="solid"/>
          </a:ln>
        </p:spPr>
        <p:txBody>
          <a:bodyPr/>
          <a:lstStyle/>
          <a:p>
            <a:endParaRPr lang="en-US"/>
          </a:p>
        </p:txBody>
      </p:sp>
      <p:sp>
        <p:nvSpPr>
          <p:cNvPr id="6" name="Rounded Rectangle 5">
            <a:extLst>
              <a:ext uri="{FF2B5EF4-FFF2-40B4-BE49-F238E27FC236}">
                <a16:creationId xmlns:a16="http://schemas.microsoft.com/office/drawing/2014/main" id="{95F6A0D5-7CF4-44C1-A57F-7161F697EAF3}"/>
              </a:ext>
            </a:extLst>
          </p:cNvPr>
          <p:cNvSpPr>
            <a:spLocks noGrp="1"/>
          </p:cNvSpPr>
          <p:nvPr/>
        </p:nvSpPr>
        <p:spPr>
          <a:xfrm>
            <a:off x="590550" y="1952625"/>
            <a:ext cx="2114550" cy="2238375"/>
          </a:xfrm>
          <a:prstGeom prst="roundRect">
            <a:avLst>
              <a:gd name="adj" fmla="val 6306"/>
            </a:avLst>
          </a:prstGeom>
          <a:solidFill>
            <a:srgbClr val="EAF4FA"/>
          </a:solidFill>
          <a:ln w="9525">
            <a:solidFill>
              <a:srgbClr val="38BDF8"/>
            </a:solidFill>
            <a:prstDash val="solid"/>
          </a:ln>
        </p:spPr>
        <p:txBody>
          <a:bodyPr/>
          <a:lstStyle/>
          <a:p>
            <a:endParaRPr lang="en-US"/>
          </a:p>
        </p:txBody>
      </p:sp>
      <p:sp>
        <p:nvSpPr>
          <p:cNvPr id="7" name="Rounded Rectangle 6">
            <a:extLst>
              <a:ext uri="{FF2B5EF4-FFF2-40B4-BE49-F238E27FC236}">
                <a16:creationId xmlns:a16="http://schemas.microsoft.com/office/drawing/2014/main" id="{FA8BB915-E272-43F0-8ED8-D154437F9FD2}"/>
              </a:ext>
            </a:extLst>
          </p:cNvPr>
          <p:cNvSpPr>
            <a:spLocks noGrp="1"/>
          </p:cNvSpPr>
          <p:nvPr/>
        </p:nvSpPr>
        <p:spPr>
          <a:xfrm>
            <a:off x="590550" y="1952625"/>
            <a:ext cx="66675" cy="2238375"/>
          </a:xfrm>
          <a:prstGeom prst="roundRect">
            <a:avLst>
              <a:gd name="adj" fmla="val 50000"/>
            </a:avLst>
          </a:prstGeom>
          <a:solidFill>
            <a:srgbClr val="38BDF8"/>
          </a:solidFill>
          <a:ln w="0">
            <a:noFill/>
            <a:prstDash val="solid"/>
          </a:ln>
        </p:spPr>
        <p:txBody>
          <a:bodyPr/>
          <a:lstStyle/>
          <a:p>
            <a:endParaRPr lang="en-US"/>
          </a:p>
        </p:txBody>
      </p:sp>
      <p:sp>
        <p:nvSpPr>
          <p:cNvPr id="8" name="Rectangle 7">
            <a:extLst>
              <a:ext uri="{FF2B5EF4-FFF2-40B4-BE49-F238E27FC236}">
                <a16:creationId xmlns:a16="http://schemas.microsoft.com/office/drawing/2014/main" id="{FE990738-6F8F-4281-BB0A-EB70A2862598}"/>
              </a:ext>
            </a:extLst>
          </p:cNvPr>
          <p:cNvSpPr>
            <a:spLocks noGrp="1"/>
          </p:cNvSpPr>
          <p:nvPr/>
        </p:nvSpPr>
        <p:spPr>
          <a:xfrm>
            <a:off x="781050" y="2095500"/>
            <a:ext cx="1733550" cy="323850"/>
          </a:xfrm>
          <a:prstGeom prst="rect">
            <a:avLst/>
          </a:prstGeom>
          <a:noFill/>
          <a:ln w="0">
            <a:noFill/>
            <a:prstDash val="solid"/>
          </a:ln>
        </p:spPr>
        <p:txBody>
          <a:bodyPr lIns="76200" tIns="38100" rIns="76200" bIns="38100" anchor="t">
            <a:normAutofit/>
          </a:bodyPr>
          <a:lstStyle/>
          <a:p>
            <a:pPr algn="l">
              <a:lnSpc>
                <a:spcPct val="104000"/>
              </a:lnSpc>
              <a:buNone/>
              <a:defRPr sz="1425" b="1">
                <a:solidFill>
                  <a:srgbClr val="0F172A"/>
                </a:solidFill>
                <a:latin typeface="Noto Sans"/>
                <a:ea typeface="Noto Sans"/>
                <a:cs typeface="Noto Sans"/>
              </a:defRPr>
            </a:pPr>
            <a:r>
              <a:rPr sz="1425" b="1">
                <a:solidFill>
                  <a:srgbClr val="0F172A"/>
                </a:solidFill>
                <a:latin typeface="Noto Sans"/>
                <a:ea typeface="Noto Sans"/>
                <a:cs typeface="Noto Sans"/>
              </a:rPr>
              <a:t>FAILI</a:t>
            </a:r>
          </a:p>
        </p:txBody>
      </p:sp>
      <p:sp>
        <p:nvSpPr>
          <p:cNvPr id="9" name="Rectangle 8">
            <a:extLst>
              <a:ext uri="{FF2B5EF4-FFF2-40B4-BE49-F238E27FC236}">
                <a16:creationId xmlns:a16="http://schemas.microsoft.com/office/drawing/2014/main" id="{3AD3BCA5-BC98-485B-BD5D-6542BC8B2A77}"/>
              </a:ext>
            </a:extLst>
          </p:cNvPr>
          <p:cNvSpPr>
            <a:spLocks noGrp="1"/>
          </p:cNvSpPr>
          <p:nvPr/>
        </p:nvSpPr>
        <p:spPr>
          <a:xfrm>
            <a:off x="781050" y="2466975"/>
            <a:ext cx="1733550" cy="1600200"/>
          </a:xfrm>
          <a:prstGeom prst="rect">
            <a:avLst/>
          </a:prstGeom>
          <a:noFill/>
          <a:ln w="0">
            <a:noFill/>
            <a:prstDash val="solid"/>
          </a:ln>
        </p:spPr>
        <p:txBody>
          <a:bodyPr lIns="76200" tIns="38100" rIns="76200" bIns="38100" anchor="t">
            <a:normAutofit/>
          </a:bodyPr>
          <a:lstStyle/>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Excel / CSV</a:t>
            </a:r>
          </a:p>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Rēķini</a:t>
            </a:r>
          </a:p>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Bills of Lading</a:t>
            </a:r>
          </a:p>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Citi dokumenti</a:t>
            </a:r>
          </a:p>
        </p:txBody>
      </p:sp>
      <p:sp>
        <p:nvSpPr>
          <p:cNvPr id="10" name="Rounded Rectangle 9">
            <a:extLst>
              <a:ext uri="{FF2B5EF4-FFF2-40B4-BE49-F238E27FC236}">
                <a16:creationId xmlns:a16="http://schemas.microsoft.com/office/drawing/2014/main" id="{960828B1-E5FA-4E77-B67F-11EC9B8C9DC8}"/>
              </a:ext>
            </a:extLst>
          </p:cNvPr>
          <p:cNvSpPr>
            <a:spLocks noGrp="1"/>
          </p:cNvSpPr>
          <p:nvPr/>
        </p:nvSpPr>
        <p:spPr>
          <a:xfrm>
            <a:off x="2962275" y="1952625"/>
            <a:ext cx="2114550" cy="2238375"/>
          </a:xfrm>
          <a:prstGeom prst="roundRect">
            <a:avLst>
              <a:gd name="adj" fmla="val 6306"/>
            </a:avLst>
          </a:prstGeom>
          <a:solidFill>
            <a:srgbClr val="F1F5F9"/>
          </a:solidFill>
          <a:ln w="9525">
            <a:solidFill>
              <a:srgbClr val="C7D7E2"/>
            </a:solidFill>
            <a:prstDash val="solid"/>
          </a:ln>
        </p:spPr>
        <p:txBody>
          <a:bodyPr/>
          <a:lstStyle/>
          <a:p>
            <a:endParaRPr lang="en-US"/>
          </a:p>
        </p:txBody>
      </p:sp>
      <p:sp>
        <p:nvSpPr>
          <p:cNvPr id="11" name="Rectangle 10">
            <a:extLst>
              <a:ext uri="{FF2B5EF4-FFF2-40B4-BE49-F238E27FC236}">
                <a16:creationId xmlns:a16="http://schemas.microsoft.com/office/drawing/2014/main" id="{A2EACAC0-3D3E-4305-BA3F-B44E83D8F829}"/>
              </a:ext>
            </a:extLst>
          </p:cNvPr>
          <p:cNvSpPr>
            <a:spLocks noGrp="1"/>
          </p:cNvSpPr>
          <p:nvPr/>
        </p:nvSpPr>
        <p:spPr>
          <a:xfrm>
            <a:off x="3152775" y="2095500"/>
            <a:ext cx="1733550" cy="323850"/>
          </a:xfrm>
          <a:prstGeom prst="rect">
            <a:avLst/>
          </a:prstGeom>
          <a:noFill/>
          <a:ln w="0">
            <a:noFill/>
            <a:prstDash val="solid"/>
          </a:ln>
        </p:spPr>
        <p:txBody>
          <a:bodyPr lIns="76200" tIns="38100" rIns="76200" bIns="38100" anchor="t">
            <a:normAutofit/>
          </a:bodyPr>
          <a:lstStyle/>
          <a:p>
            <a:pPr algn="l">
              <a:lnSpc>
                <a:spcPct val="104000"/>
              </a:lnSpc>
              <a:buNone/>
              <a:defRPr sz="1425" b="1">
                <a:solidFill>
                  <a:srgbClr val="0F172A"/>
                </a:solidFill>
                <a:latin typeface="Noto Sans"/>
                <a:ea typeface="Noto Sans"/>
                <a:cs typeface="Noto Sans"/>
              </a:defRPr>
            </a:pPr>
            <a:r>
              <a:rPr sz="1425" b="1">
                <a:solidFill>
                  <a:srgbClr val="0F172A"/>
                </a:solidFill>
                <a:latin typeface="Noto Sans"/>
                <a:ea typeface="Noto Sans"/>
                <a:cs typeface="Noto Sans"/>
              </a:rPr>
              <a:t>SISTĒMAS</a:t>
            </a:r>
          </a:p>
        </p:txBody>
      </p:sp>
      <p:sp>
        <p:nvSpPr>
          <p:cNvPr id="12" name="Rectangle 11">
            <a:extLst>
              <a:ext uri="{FF2B5EF4-FFF2-40B4-BE49-F238E27FC236}">
                <a16:creationId xmlns:a16="http://schemas.microsoft.com/office/drawing/2014/main" id="{613122E7-1F92-4C04-BB50-AA289EAE4202}"/>
              </a:ext>
            </a:extLst>
          </p:cNvPr>
          <p:cNvSpPr>
            <a:spLocks noGrp="1"/>
          </p:cNvSpPr>
          <p:nvPr/>
        </p:nvSpPr>
        <p:spPr>
          <a:xfrm>
            <a:off x="3152775" y="2466975"/>
            <a:ext cx="1733550" cy="1600200"/>
          </a:xfrm>
          <a:prstGeom prst="rect">
            <a:avLst/>
          </a:prstGeom>
          <a:noFill/>
          <a:ln w="0">
            <a:noFill/>
            <a:prstDash val="solid"/>
          </a:ln>
        </p:spPr>
        <p:txBody>
          <a:bodyPr lIns="76200" tIns="38100" rIns="76200" bIns="38100" anchor="t">
            <a:normAutofit/>
          </a:bodyPr>
          <a:lstStyle/>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TMS</a:t>
            </a:r>
          </a:p>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ERP</a:t>
            </a:r>
          </a:p>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Grāmatvedība</a:t>
            </a:r>
          </a:p>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CRM / banka / e-pasts</a:t>
            </a:r>
          </a:p>
        </p:txBody>
      </p:sp>
      <p:sp>
        <p:nvSpPr>
          <p:cNvPr id="13" name="Rounded Rectangle 12">
            <a:extLst>
              <a:ext uri="{FF2B5EF4-FFF2-40B4-BE49-F238E27FC236}">
                <a16:creationId xmlns:a16="http://schemas.microsoft.com/office/drawing/2014/main" id="{731ED9E3-D985-4D1A-8BAD-C77A704EF75C}"/>
              </a:ext>
            </a:extLst>
          </p:cNvPr>
          <p:cNvSpPr>
            <a:spLocks noGrp="1"/>
          </p:cNvSpPr>
          <p:nvPr/>
        </p:nvSpPr>
        <p:spPr>
          <a:xfrm>
            <a:off x="5334000" y="1952625"/>
            <a:ext cx="2114550" cy="2238375"/>
          </a:xfrm>
          <a:prstGeom prst="roundRect">
            <a:avLst>
              <a:gd name="adj" fmla="val 6306"/>
            </a:avLst>
          </a:prstGeom>
          <a:solidFill>
            <a:srgbClr val="F1F5F9"/>
          </a:solidFill>
          <a:ln w="9525">
            <a:solidFill>
              <a:srgbClr val="C7D7E2"/>
            </a:solidFill>
            <a:prstDash val="solid"/>
          </a:ln>
        </p:spPr>
        <p:txBody>
          <a:bodyPr/>
          <a:lstStyle/>
          <a:p>
            <a:endParaRPr lang="en-US"/>
          </a:p>
        </p:txBody>
      </p:sp>
      <p:sp>
        <p:nvSpPr>
          <p:cNvPr id="14" name="Rectangle 13">
            <a:extLst>
              <a:ext uri="{FF2B5EF4-FFF2-40B4-BE49-F238E27FC236}">
                <a16:creationId xmlns:a16="http://schemas.microsoft.com/office/drawing/2014/main" id="{75AC8486-F5BF-4F23-96F0-2025439397D2}"/>
              </a:ext>
            </a:extLst>
          </p:cNvPr>
          <p:cNvSpPr>
            <a:spLocks noGrp="1"/>
          </p:cNvSpPr>
          <p:nvPr/>
        </p:nvSpPr>
        <p:spPr>
          <a:xfrm>
            <a:off x="5524500" y="2095500"/>
            <a:ext cx="1733550" cy="323850"/>
          </a:xfrm>
          <a:prstGeom prst="rect">
            <a:avLst/>
          </a:prstGeom>
          <a:noFill/>
          <a:ln w="0">
            <a:noFill/>
            <a:prstDash val="solid"/>
          </a:ln>
        </p:spPr>
        <p:txBody>
          <a:bodyPr lIns="76200" tIns="38100" rIns="76200" bIns="38100" anchor="t">
            <a:normAutofit/>
          </a:bodyPr>
          <a:lstStyle/>
          <a:p>
            <a:pPr algn="l">
              <a:lnSpc>
                <a:spcPct val="104000"/>
              </a:lnSpc>
              <a:buNone/>
              <a:defRPr sz="1425" b="1">
                <a:solidFill>
                  <a:srgbClr val="0F172A"/>
                </a:solidFill>
                <a:latin typeface="Noto Sans"/>
                <a:ea typeface="Noto Sans"/>
                <a:cs typeface="Noto Sans"/>
              </a:defRPr>
            </a:pPr>
            <a:r>
              <a:rPr sz="1425" b="1">
                <a:solidFill>
                  <a:srgbClr val="0F172A"/>
                </a:solidFill>
                <a:latin typeface="Noto Sans"/>
                <a:ea typeface="Noto Sans"/>
                <a:cs typeface="Noto Sans"/>
              </a:rPr>
              <a:t>DZĪVIE AVOTI</a:t>
            </a:r>
          </a:p>
        </p:txBody>
      </p:sp>
      <p:sp>
        <p:nvSpPr>
          <p:cNvPr id="15" name="Rectangle 14">
            <a:extLst>
              <a:ext uri="{FF2B5EF4-FFF2-40B4-BE49-F238E27FC236}">
                <a16:creationId xmlns:a16="http://schemas.microsoft.com/office/drawing/2014/main" id="{5463D51C-FB49-46E3-B8CE-9B79CF0367B9}"/>
              </a:ext>
            </a:extLst>
          </p:cNvPr>
          <p:cNvSpPr>
            <a:spLocks noGrp="1"/>
          </p:cNvSpPr>
          <p:nvPr/>
        </p:nvSpPr>
        <p:spPr>
          <a:xfrm>
            <a:off x="5524500" y="2466975"/>
            <a:ext cx="1733550" cy="1600200"/>
          </a:xfrm>
          <a:prstGeom prst="rect">
            <a:avLst/>
          </a:prstGeom>
          <a:noFill/>
          <a:ln w="0">
            <a:noFill/>
            <a:prstDash val="solid"/>
          </a:ln>
        </p:spPr>
        <p:txBody>
          <a:bodyPr lIns="76200" tIns="38100" rIns="76200" bIns="38100" anchor="t">
            <a:normAutofit/>
          </a:bodyPr>
          <a:lstStyle/>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Carrier API</a:t>
            </a:r>
          </a:p>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Tracking API</a:t>
            </a:r>
          </a:p>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Vessel dati</a:t>
            </a:r>
          </a:p>
          <a:p>
            <a:pPr algn="l">
              <a:lnSpc>
                <a:spcPct val="110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Valūtu kursi</a:t>
            </a:r>
          </a:p>
        </p:txBody>
      </p:sp>
      <p:sp>
        <p:nvSpPr>
          <p:cNvPr id="16" name="Rectangle 15">
            <a:extLst>
              <a:ext uri="{FF2B5EF4-FFF2-40B4-BE49-F238E27FC236}">
                <a16:creationId xmlns:a16="http://schemas.microsoft.com/office/drawing/2014/main" id="{012E3BDF-B5D7-4EBA-A045-7CB13B69F932}"/>
              </a:ext>
            </a:extLst>
          </p:cNvPr>
          <p:cNvSpPr>
            <a:spLocks noGrp="1"/>
          </p:cNvSpPr>
          <p:nvPr/>
        </p:nvSpPr>
        <p:spPr>
          <a:xfrm>
            <a:off x="7753350" y="2676525"/>
            <a:ext cx="476250" cy="666750"/>
          </a:xfrm>
          <a:prstGeom prst="rect">
            <a:avLst/>
          </a:prstGeom>
          <a:noFill/>
          <a:ln w="0">
            <a:noFill/>
            <a:prstDash val="solid"/>
          </a:ln>
        </p:spPr>
        <p:txBody>
          <a:bodyPr lIns="76200" tIns="38100" rIns="76200" bIns="38100" anchor="ctr">
            <a:normAutofit fontScale="77465"/>
          </a:bodyPr>
          <a:lstStyle/>
          <a:p>
            <a:pPr algn="ctr">
              <a:lnSpc>
                <a:spcPct val="104000"/>
              </a:lnSpc>
              <a:buNone/>
              <a:defRPr sz="3300" b="0">
                <a:solidFill>
                  <a:srgbClr val="38BDF8"/>
                </a:solidFill>
                <a:latin typeface="Noto Sans"/>
                <a:ea typeface="Noto Sans"/>
                <a:cs typeface="Noto Sans"/>
              </a:defRPr>
            </a:pPr>
            <a:r>
              <a:rPr sz="3300" b="0">
                <a:solidFill>
                  <a:srgbClr val="38BDF8"/>
                </a:solidFill>
                <a:latin typeface="Noto Sans"/>
                <a:ea typeface="Noto Sans"/>
                <a:cs typeface="Noto Sans"/>
              </a:rPr>
              <a:t>→</a:t>
            </a:r>
          </a:p>
        </p:txBody>
      </p:sp>
      <p:sp>
        <p:nvSpPr>
          <p:cNvPr id="17" name="Rounded Rectangle 16">
            <a:extLst>
              <a:ext uri="{FF2B5EF4-FFF2-40B4-BE49-F238E27FC236}">
                <a16:creationId xmlns:a16="http://schemas.microsoft.com/office/drawing/2014/main" id="{E19028C3-8B0A-4E0D-AC05-6686957ABCC5}"/>
              </a:ext>
            </a:extLst>
          </p:cNvPr>
          <p:cNvSpPr>
            <a:spLocks noGrp="1"/>
          </p:cNvSpPr>
          <p:nvPr/>
        </p:nvSpPr>
        <p:spPr>
          <a:xfrm>
            <a:off x="8334375" y="1924050"/>
            <a:ext cx="3200400" cy="3486150"/>
          </a:xfrm>
          <a:prstGeom prst="roundRect">
            <a:avLst>
              <a:gd name="adj" fmla="val 5357"/>
            </a:avLst>
          </a:prstGeom>
          <a:solidFill>
            <a:srgbClr val="071525"/>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999320AA-4333-4CEB-A259-169C95E9A017}"/>
              </a:ext>
            </a:extLst>
          </p:cNvPr>
          <p:cNvSpPr>
            <a:spLocks noGrp="1"/>
          </p:cNvSpPr>
          <p:nvPr/>
        </p:nvSpPr>
        <p:spPr>
          <a:xfrm>
            <a:off x="8610600" y="2124075"/>
            <a:ext cx="2667000" cy="419100"/>
          </a:xfrm>
          <a:prstGeom prst="rect">
            <a:avLst/>
          </a:prstGeom>
          <a:noFill/>
          <a:ln w="0">
            <a:noFill/>
            <a:prstDash val="solid"/>
          </a:ln>
        </p:spPr>
        <p:txBody>
          <a:bodyPr lIns="76200" tIns="38100" rIns="76200" bIns="38100" anchor="ctr">
            <a:normAutofit/>
          </a:bodyPr>
          <a:lstStyle/>
          <a:p>
            <a:pPr algn="ctr">
              <a:lnSpc>
                <a:spcPct val="104000"/>
              </a:lnSpc>
              <a:buNone/>
              <a:defRPr sz="2025" b="1">
                <a:solidFill>
                  <a:srgbClr val="F8FAFC"/>
                </a:solidFill>
                <a:latin typeface="Noto Sans"/>
                <a:ea typeface="Noto Sans"/>
                <a:cs typeface="Noto Sans"/>
              </a:defRPr>
            </a:pPr>
            <a:r>
              <a:rPr sz="2025" b="1">
                <a:solidFill>
                  <a:srgbClr val="F8FAFC"/>
                </a:solidFill>
                <a:latin typeface="Noto Sans"/>
                <a:ea typeface="Noto Sans"/>
                <a:cs typeface="Noto Sans"/>
              </a:rPr>
              <a:t>TWIN DATA HUB</a:t>
            </a:r>
          </a:p>
        </p:txBody>
      </p:sp>
      <p:sp>
        <p:nvSpPr>
          <p:cNvPr id="19" name="Rounded Rectangle 18">
            <a:extLst>
              <a:ext uri="{FF2B5EF4-FFF2-40B4-BE49-F238E27FC236}">
                <a16:creationId xmlns:a16="http://schemas.microsoft.com/office/drawing/2014/main" id="{5133AC27-26C1-4E33-8732-CF0A18409075}"/>
              </a:ext>
            </a:extLst>
          </p:cNvPr>
          <p:cNvSpPr>
            <a:spLocks noGrp="1"/>
          </p:cNvSpPr>
          <p:nvPr/>
        </p:nvSpPr>
        <p:spPr>
          <a:xfrm>
            <a:off x="8705850" y="2762250"/>
            <a:ext cx="2486025" cy="428625"/>
          </a:xfrm>
          <a:prstGeom prst="roundRect">
            <a:avLst>
              <a:gd name="adj" fmla="val 20000"/>
            </a:avLst>
          </a:prstGeom>
          <a:solidFill>
            <a:srgbClr val="123A63"/>
          </a:solidFill>
          <a:ln w="0">
            <a:noFill/>
            <a:prstDash val="solid"/>
          </a:ln>
        </p:spPr>
        <p:txBody>
          <a:bodyPr lIns="76200" tIns="38100" rIns="76200" bIns="38100" anchor="ctr">
            <a:normAutofit/>
          </a:bodyPr>
          <a:lstStyle/>
          <a:p>
            <a:pPr algn="ctr">
              <a:lnSpc>
                <a:spcPct val="104000"/>
              </a:lnSpc>
              <a:buNone/>
              <a:defRPr sz="1350" b="0">
                <a:solidFill>
                  <a:srgbClr val="F8FAFC"/>
                </a:solidFill>
                <a:latin typeface="Noto Sans"/>
                <a:ea typeface="Noto Sans"/>
                <a:cs typeface="Noto Sans"/>
              </a:defRPr>
            </a:pPr>
            <a:r>
              <a:rPr sz="1350" b="0">
                <a:solidFill>
                  <a:srgbClr val="F8FAFC"/>
                </a:solidFill>
                <a:latin typeface="Noto Sans"/>
                <a:ea typeface="Noto Sans"/>
                <a:cs typeface="Noto Sans"/>
              </a:rPr>
              <a:t>1  Kartēšana un normalizācija</a:t>
            </a:r>
          </a:p>
        </p:txBody>
      </p:sp>
      <p:sp>
        <p:nvSpPr>
          <p:cNvPr id="20" name="Rounded Rectangle 19">
            <a:extLst>
              <a:ext uri="{FF2B5EF4-FFF2-40B4-BE49-F238E27FC236}">
                <a16:creationId xmlns:a16="http://schemas.microsoft.com/office/drawing/2014/main" id="{0F3E870F-92FB-4600-9DBA-EB2D18A4FACA}"/>
              </a:ext>
            </a:extLst>
          </p:cNvPr>
          <p:cNvSpPr>
            <a:spLocks noGrp="1"/>
          </p:cNvSpPr>
          <p:nvPr/>
        </p:nvSpPr>
        <p:spPr>
          <a:xfrm>
            <a:off x="8705850" y="3343275"/>
            <a:ext cx="2486025" cy="428625"/>
          </a:xfrm>
          <a:prstGeom prst="roundRect">
            <a:avLst>
              <a:gd name="adj" fmla="val 20000"/>
            </a:avLst>
          </a:prstGeom>
          <a:solidFill>
            <a:srgbClr val="123A63"/>
          </a:solidFill>
          <a:ln w="0">
            <a:noFill/>
            <a:prstDash val="solid"/>
          </a:ln>
        </p:spPr>
        <p:txBody>
          <a:bodyPr lIns="76200" tIns="38100" rIns="76200" bIns="38100" anchor="ctr">
            <a:normAutofit/>
          </a:bodyPr>
          <a:lstStyle/>
          <a:p>
            <a:pPr algn="ctr">
              <a:lnSpc>
                <a:spcPct val="104000"/>
              </a:lnSpc>
              <a:buNone/>
              <a:defRPr sz="1350" b="0">
                <a:solidFill>
                  <a:srgbClr val="F8FAFC"/>
                </a:solidFill>
                <a:latin typeface="Noto Sans"/>
                <a:ea typeface="Noto Sans"/>
                <a:cs typeface="Noto Sans"/>
              </a:defRPr>
            </a:pPr>
            <a:r>
              <a:rPr sz="1350" b="0">
                <a:solidFill>
                  <a:srgbClr val="F8FAFC"/>
                </a:solidFill>
                <a:latin typeface="Noto Sans"/>
                <a:ea typeface="Noto Sans"/>
                <a:cs typeface="Noto Sans"/>
              </a:rPr>
              <a:t>2  Validācija</a:t>
            </a:r>
          </a:p>
        </p:txBody>
      </p:sp>
      <p:sp>
        <p:nvSpPr>
          <p:cNvPr id="21" name="Rounded Rectangle 20">
            <a:extLst>
              <a:ext uri="{FF2B5EF4-FFF2-40B4-BE49-F238E27FC236}">
                <a16:creationId xmlns:a16="http://schemas.microsoft.com/office/drawing/2014/main" id="{2B683FD9-6564-4FD0-8700-D09B164EF9FB}"/>
              </a:ext>
            </a:extLst>
          </p:cNvPr>
          <p:cNvSpPr>
            <a:spLocks noGrp="1"/>
          </p:cNvSpPr>
          <p:nvPr/>
        </p:nvSpPr>
        <p:spPr>
          <a:xfrm>
            <a:off x="8705850" y="3924300"/>
            <a:ext cx="2486025" cy="428625"/>
          </a:xfrm>
          <a:prstGeom prst="roundRect">
            <a:avLst>
              <a:gd name="adj" fmla="val 20000"/>
            </a:avLst>
          </a:prstGeom>
          <a:solidFill>
            <a:srgbClr val="123A63"/>
          </a:solidFill>
          <a:ln w="0">
            <a:noFill/>
            <a:prstDash val="solid"/>
          </a:ln>
        </p:spPr>
        <p:txBody>
          <a:bodyPr lIns="76200" tIns="38100" rIns="76200" bIns="38100" anchor="ctr">
            <a:normAutofit/>
          </a:bodyPr>
          <a:lstStyle/>
          <a:p>
            <a:pPr algn="ctr">
              <a:lnSpc>
                <a:spcPct val="104000"/>
              </a:lnSpc>
              <a:buNone/>
              <a:defRPr sz="1350" b="0">
                <a:solidFill>
                  <a:srgbClr val="F8FAFC"/>
                </a:solidFill>
                <a:latin typeface="Noto Sans"/>
                <a:ea typeface="Noto Sans"/>
                <a:cs typeface="Noto Sans"/>
              </a:defRPr>
            </a:pPr>
            <a:r>
              <a:rPr sz="1350" b="0">
                <a:solidFill>
                  <a:srgbClr val="F8FAFC"/>
                </a:solidFill>
                <a:latin typeface="Noto Sans"/>
                <a:ea typeface="Noto Sans"/>
                <a:cs typeface="Noto Sans"/>
              </a:rPr>
              <a:t>3  Objektu sasaistīšana</a:t>
            </a:r>
          </a:p>
        </p:txBody>
      </p:sp>
      <p:sp>
        <p:nvSpPr>
          <p:cNvPr id="22" name="Rounded Rectangle 21">
            <a:extLst>
              <a:ext uri="{FF2B5EF4-FFF2-40B4-BE49-F238E27FC236}">
                <a16:creationId xmlns:a16="http://schemas.microsoft.com/office/drawing/2014/main" id="{04FB17DE-CA53-4859-BF3B-D3978B1D31E9}"/>
              </a:ext>
            </a:extLst>
          </p:cNvPr>
          <p:cNvSpPr>
            <a:spLocks noGrp="1"/>
          </p:cNvSpPr>
          <p:nvPr/>
        </p:nvSpPr>
        <p:spPr>
          <a:xfrm>
            <a:off x="8705850" y="4505325"/>
            <a:ext cx="2486025" cy="428625"/>
          </a:xfrm>
          <a:prstGeom prst="roundRect">
            <a:avLst>
              <a:gd name="adj" fmla="val 20000"/>
            </a:avLst>
          </a:prstGeom>
          <a:solidFill>
            <a:srgbClr val="38BDF8"/>
          </a:solidFill>
          <a:ln w="0">
            <a:noFill/>
            <a:prstDash val="solid"/>
          </a:ln>
        </p:spPr>
        <p:txBody>
          <a:bodyPr lIns="76200" tIns="38100" rIns="76200" bIns="38100" anchor="ctr">
            <a:normAutofit/>
          </a:bodyPr>
          <a:lstStyle/>
          <a:p>
            <a:pPr algn="ctr">
              <a:lnSpc>
                <a:spcPct val="104000"/>
              </a:lnSpc>
              <a:buNone/>
              <a:defRPr sz="1350" b="1">
                <a:solidFill>
                  <a:srgbClr val="071525"/>
                </a:solidFill>
                <a:latin typeface="Noto Sans"/>
                <a:ea typeface="Noto Sans"/>
                <a:cs typeface="Noto Sans"/>
              </a:defRPr>
            </a:pPr>
            <a:r>
              <a:rPr sz="1350" b="1">
                <a:solidFill>
                  <a:srgbClr val="071525"/>
                </a:solidFill>
                <a:latin typeface="Noto Sans"/>
                <a:ea typeface="Noto Sans"/>
                <a:cs typeface="Noto Sans"/>
              </a:rPr>
              <a:t>4  Vienotais datu modelis</a:t>
            </a:r>
          </a:p>
        </p:txBody>
      </p:sp>
      <p:sp>
        <p:nvSpPr>
          <p:cNvPr id="23" name="Rounded Rectangle 22">
            <a:extLst>
              <a:ext uri="{FF2B5EF4-FFF2-40B4-BE49-F238E27FC236}">
                <a16:creationId xmlns:a16="http://schemas.microsoft.com/office/drawing/2014/main" id="{F2A83724-7AD3-4729-90B4-4BEB88649BAA}"/>
              </a:ext>
            </a:extLst>
          </p:cNvPr>
          <p:cNvSpPr>
            <a:spLocks noGrp="1"/>
          </p:cNvSpPr>
          <p:nvPr/>
        </p:nvSpPr>
        <p:spPr>
          <a:xfrm>
            <a:off x="600075" y="4514850"/>
            <a:ext cx="1571625" cy="266700"/>
          </a:xfrm>
          <a:prstGeom prst="roundRect">
            <a:avLst>
              <a:gd name="adj" fmla="val 50000"/>
            </a:avLst>
          </a:prstGeom>
          <a:solidFill>
            <a:srgbClr val="071525"/>
          </a:solidFill>
          <a:ln w="0">
            <a:noFill/>
            <a:prstDash val="solid"/>
          </a:ln>
        </p:spPr>
        <p:txBody>
          <a:bodyPr lIns="76200" tIns="19050" rIns="76200" bIns="19050" anchor="ctr">
            <a:normAutofit fontScale="90425"/>
          </a:bodyPr>
          <a:lstStyle/>
          <a:p>
            <a:pPr algn="ctr">
              <a:lnSpc>
                <a:spcPct val="104000"/>
              </a:lnSpc>
              <a:buNone/>
              <a:defRPr sz="1050" b="1">
                <a:solidFill>
                  <a:srgbClr val="F8FAFC"/>
                </a:solidFill>
                <a:latin typeface="Noto Sans"/>
                <a:ea typeface="Noto Sans"/>
                <a:cs typeface="Noto Sans"/>
              </a:defRPr>
            </a:pPr>
            <a:r>
              <a:rPr sz="1050" b="1">
                <a:solidFill>
                  <a:srgbClr val="F8FAFC"/>
                </a:solidFill>
                <a:latin typeface="Noto Sans"/>
                <a:ea typeface="Noto Sans"/>
                <a:cs typeface="Noto Sans"/>
              </a:rPr>
              <a:t>PROTOTIPĀ ŠODIEN</a:t>
            </a:r>
          </a:p>
        </p:txBody>
      </p:sp>
      <p:sp>
        <p:nvSpPr>
          <p:cNvPr id="24" name="Rectangle 23">
            <a:extLst>
              <a:ext uri="{FF2B5EF4-FFF2-40B4-BE49-F238E27FC236}">
                <a16:creationId xmlns:a16="http://schemas.microsoft.com/office/drawing/2014/main" id="{D93DEDDC-5B1E-4B2E-9376-E2A6E32B3A47}"/>
              </a:ext>
            </a:extLst>
          </p:cNvPr>
          <p:cNvSpPr>
            <a:spLocks noGrp="1"/>
          </p:cNvSpPr>
          <p:nvPr/>
        </p:nvSpPr>
        <p:spPr>
          <a:xfrm>
            <a:off x="2333625" y="4467225"/>
            <a:ext cx="5381625" cy="361950"/>
          </a:xfrm>
          <a:prstGeom prst="rect">
            <a:avLst/>
          </a:prstGeom>
          <a:noFill/>
          <a:ln w="0">
            <a:noFill/>
            <a:prstDash val="solid"/>
          </a:ln>
        </p:spPr>
        <p:txBody>
          <a:bodyPr lIns="76200" tIns="38100" rIns="76200" bIns="38100" anchor="ctr">
            <a:normAutofit/>
          </a:bodyPr>
          <a:lstStyle/>
          <a:p>
            <a:pPr algn="l">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Failu imports + manuāla labošanas/review plūsma</a:t>
            </a:r>
          </a:p>
        </p:txBody>
      </p:sp>
      <p:sp>
        <p:nvSpPr>
          <p:cNvPr id="25" name="Rounded Rectangle 24">
            <a:extLst>
              <a:ext uri="{FF2B5EF4-FFF2-40B4-BE49-F238E27FC236}">
                <a16:creationId xmlns:a16="http://schemas.microsoft.com/office/drawing/2014/main" id="{2A4E90E3-131F-4555-8011-BCC69E8179CB}"/>
              </a:ext>
            </a:extLst>
          </p:cNvPr>
          <p:cNvSpPr>
            <a:spLocks noGrp="1"/>
          </p:cNvSpPr>
          <p:nvPr/>
        </p:nvSpPr>
        <p:spPr>
          <a:xfrm>
            <a:off x="600075" y="5010150"/>
            <a:ext cx="1000125" cy="266700"/>
          </a:xfrm>
          <a:prstGeom prst="roundRect">
            <a:avLst>
              <a:gd name="adj" fmla="val 50000"/>
            </a:avLst>
          </a:prstGeom>
          <a:solidFill>
            <a:srgbClr val="F1F5F9"/>
          </a:solidFill>
          <a:ln w="0">
            <a:noFill/>
            <a:prstDash val="solid"/>
          </a:ln>
        </p:spPr>
        <p:txBody>
          <a:bodyPr lIns="76200" tIns="19050" rIns="76200" bIns="19050" anchor="ctr">
            <a:normAutofit fontScale="90425"/>
          </a:bodyPr>
          <a:lstStyle/>
          <a:p>
            <a:pPr algn="ctr">
              <a:lnSpc>
                <a:spcPct val="104000"/>
              </a:lnSpc>
              <a:buNone/>
              <a:defRPr sz="1050" b="1">
                <a:solidFill>
                  <a:srgbClr val="64748B"/>
                </a:solidFill>
                <a:latin typeface="Noto Sans"/>
                <a:ea typeface="Noto Sans"/>
                <a:cs typeface="Noto Sans"/>
              </a:defRPr>
            </a:pPr>
            <a:r>
              <a:rPr sz="1050" b="1">
                <a:solidFill>
                  <a:srgbClr val="64748B"/>
                </a:solidFill>
                <a:latin typeface="Noto Sans"/>
                <a:ea typeface="Noto Sans"/>
                <a:cs typeface="Noto Sans"/>
              </a:rPr>
              <a:t>PLĀNOTS</a:t>
            </a:r>
          </a:p>
        </p:txBody>
      </p:sp>
      <p:sp>
        <p:nvSpPr>
          <p:cNvPr id="26" name="Rectangle 25">
            <a:extLst>
              <a:ext uri="{FF2B5EF4-FFF2-40B4-BE49-F238E27FC236}">
                <a16:creationId xmlns:a16="http://schemas.microsoft.com/office/drawing/2014/main" id="{558F252A-2F50-4F37-A6F3-D0FD4674C5AF}"/>
              </a:ext>
            </a:extLst>
          </p:cNvPr>
          <p:cNvSpPr>
            <a:spLocks noGrp="1"/>
          </p:cNvSpPr>
          <p:nvPr/>
        </p:nvSpPr>
        <p:spPr>
          <a:xfrm>
            <a:off x="1752600" y="4962525"/>
            <a:ext cx="5962650" cy="361950"/>
          </a:xfrm>
          <a:prstGeom prst="rect">
            <a:avLst/>
          </a:prstGeom>
          <a:noFill/>
          <a:ln w="0">
            <a:noFill/>
            <a:prstDash val="solid"/>
          </a:ln>
        </p:spPr>
        <p:txBody>
          <a:bodyPr lIns="76200" tIns="38100" rIns="76200" bIns="38100" anchor="ctr">
            <a:normAutofit fontScale="89272"/>
          </a:bodyPr>
          <a:lstStyle/>
          <a:p>
            <a:pPr algn="l">
              <a:lnSpc>
                <a:spcPct val="104000"/>
              </a:lnSpc>
              <a:buNone/>
              <a:defRPr sz="1500" b="0">
                <a:solidFill>
                  <a:srgbClr val="64748B"/>
                </a:solidFill>
                <a:latin typeface="Noto Sans"/>
                <a:ea typeface="Noto Sans"/>
                <a:cs typeface="Noto Sans"/>
              </a:defRPr>
            </a:pPr>
            <a:r>
              <a:rPr sz="1500" b="0">
                <a:solidFill>
                  <a:srgbClr val="64748B"/>
                </a:solidFill>
                <a:latin typeface="Noto Sans"/>
                <a:ea typeface="Noto Sans"/>
                <a:cs typeface="Noto Sans"/>
              </a:rPr>
              <a:t>Tiešie sistēmu savienojumi, API/event plūsmas un sinhronizācijas pārvaldība</a:t>
            </a:r>
          </a:p>
        </p:txBody>
      </p:sp>
      <p:sp>
        <p:nvSpPr>
          <p:cNvPr id="27" name="Rectangle 26">
            <a:extLst>
              <a:ext uri="{FF2B5EF4-FFF2-40B4-BE49-F238E27FC236}">
                <a16:creationId xmlns:a16="http://schemas.microsoft.com/office/drawing/2014/main" id="{378F0C22-A513-4B66-A64D-E5A308B01A3E}"/>
              </a:ext>
            </a:extLst>
          </p:cNvPr>
          <p:cNvSpPr>
            <a:spLocks noGrp="1"/>
          </p:cNvSpPr>
          <p:nvPr/>
        </p:nvSpPr>
        <p:spPr>
          <a:xfrm>
            <a:off x="552450" y="6486525"/>
            <a:ext cx="4762500" cy="171450"/>
          </a:xfrm>
          <a:prstGeom prst="rect">
            <a:avLst/>
          </a:prstGeom>
          <a:noFill/>
          <a:ln w="0">
            <a:noFill/>
            <a:prstDash val="solid"/>
          </a:ln>
        </p:spPr>
        <p:txBody>
          <a:bodyPr lIns="76200" tIns="38100" rIns="76200" bIns="38100" anchor="ctr">
            <a:normAutofit fontScale="61637"/>
          </a:bodyPr>
          <a:lstStyle/>
          <a:p>
            <a:pPr algn="l">
              <a:lnSpc>
                <a:spcPct val="104000"/>
              </a:lnSpc>
              <a:buNone/>
              <a:defRPr sz="975" b="0">
                <a:solidFill>
                  <a:srgbClr val="94A3B8"/>
                </a:solidFill>
                <a:latin typeface="Noto Sans"/>
                <a:ea typeface="Noto Sans"/>
                <a:cs typeface="Noto Sans"/>
              </a:defRPr>
            </a:pPr>
            <a:r>
              <a:rPr sz="975" b="0">
                <a:solidFill>
                  <a:srgbClr val="94A3B8"/>
                </a:solidFill>
                <a:latin typeface="Noto Sans"/>
                <a:ea typeface="Noto Sans"/>
                <a:cs typeface="Noto Sans"/>
              </a:rPr>
              <a:t>TWIN</a:t>
            </a:r>
          </a:p>
        </p:txBody>
      </p:sp>
    </p:spTree>
    <p:extLst>
      <p:ext uri="{BB962C8B-B14F-4D97-AF65-F5344CB8AC3E}">
        <p14:creationId xmlns:p14="http://schemas.microsoft.com/office/powerpoint/2010/main" val="259163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55279E39-6367-4311-A0CD-4CD98B5A84B6}"/>
              </a:ext>
            </a:extLst>
          </p:cNvPr>
          <p:cNvSpPr>
            <a:spLocks noGrp="1"/>
          </p:cNvSpPr>
          <p:nvPr/>
        </p:nvSpPr>
        <p:spPr>
          <a:xfrm>
            <a:off x="552450" y="495300"/>
            <a:ext cx="10096500" cy="552450"/>
          </a:xfrm>
          <a:prstGeom prst="rect">
            <a:avLst/>
          </a:prstGeom>
          <a:noFill/>
          <a:ln w="0">
            <a:noFill/>
            <a:prstDash val="solid"/>
          </a:ln>
        </p:spPr>
        <p:txBody>
          <a:bodyPr lIns="76200" tIns="38100" rIns="76200" bIns="38100" anchor="ctr">
            <a:normAutofit fontScale="93172"/>
          </a:bodyPr>
          <a:lstStyle/>
          <a:p>
            <a:pPr algn="l">
              <a:lnSpc>
                <a:spcPct val="104000"/>
              </a:lnSpc>
              <a:buNone/>
              <a:defRPr sz="3225" b="1">
                <a:solidFill>
                  <a:srgbClr val="F8FAFC"/>
                </a:solidFill>
                <a:latin typeface="Noto Sans"/>
                <a:ea typeface="Noto Sans"/>
                <a:cs typeface="Noto Sans"/>
              </a:defRPr>
            </a:pPr>
            <a:r>
              <a:rPr sz="3225" b="1">
                <a:solidFill>
                  <a:srgbClr val="F8FAFC"/>
                </a:solidFill>
                <a:latin typeface="Noto Sans"/>
                <a:ea typeface="Noto Sans"/>
                <a:cs typeface="Noto Sans"/>
              </a:rPr>
              <a:t>Viens shipment, nevis trīs nesaistīti ieraksti</a:t>
            </a:r>
          </a:p>
        </p:txBody>
      </p:sp>
      <p:sp>
        <p:nvSpPr>
          <p:cNvPr id="2" name="Rectangle 1">
            <a:extLst>
              <a:ext uri="{FF2B5EF4-FFF2-40B4-BE49-F238E27FC236}">
                <a16:creationId xmlns:a16="http://schemas.microsoft.com/office/drawing/2014/main" id="{AE2FC84F-A8A5-4943-BDF3-7A523A2B9004}"/>
              </a:ext>
            </a:extLst>
          </p:cNvPr>
          <p:cNvSpPr>
            <a:spLocks noGrp="1"/>
          </p:cNvSpPr>
          <p:nvPr/>
        </p:nvSpPr>
        <p:spPr>
          <a:xfrm>
            <a:off x="571500" y="1123950"/>
            <a:ext cx="9810750" cy="304800"/>
          </a:xfrm>
          <a:prstGeom prst="rect">
            <a:avLst/>
          </a:prstGeom>
          <a:noFill/>
          <a:ln w="0">
            <a:noFill/>
            <a:prstDash val="solid"/>
          </a:ln>
        </p:spPr>
        <p:txBody>
          <a:bodyPr lIns="76200" tIns="38100" rIns="76200" bIns="38100" anchor="ctr">
            <a:normAutofit fontScale="91575"/>
          </a:bodyPr>
          <a:lstStyle/>
          <a:p>
            <a:pPr algn="l">
              <a:lnSpc>
                <a:spcPct val="104000"/>
              </a:lnSpc>
              <a:buNone/>
              <a:defRPr sz="1575" b="0">
                <a:solidFill>
                  <a:srgbClr val="7DD3FC"/>
                </a:solidFill>
                <a:latin typeface="Noto Sans"/>
                <a:ea typeface="Noto Sans"/>
                <a:cs typeface="Noto Sans"/>
              </a:defRPr>
            </a:pPr>
            <a:r>
              <a:rPr sz="1575" b="0">
                <a:solidFill>
                  <a:srgbClr val="7DD3FC"/>
                </a:solidFill>
                <a:latin typeface="Noto Sans"/>
                <a:ea typeface="Noto Sans"/>
                <a:cs typeface="Noto Sans"/>
              </a:rPr>
              <a:t>Vienotais uzņēmuma datu modelis sasaista operacionālo un finanšu kontekstu</a:t>
            </a:r>
          </a:p>
        </p:txBody>
      </p:sp>
      <p:sp>
        <p:nvSpPr>
          <p:cNvPr id="3" name="Rounded Rectangle 2">
            <a:extLst>
              <a:ext uri="{FF2B5EF4-FFF2-40B4-BE49-F238E27FC236}">
                <a16:creationId xmlns:a16="http://schemas.microsoft.com/office/drawing/2014/main" id="{395EF952-42DC-461C-8AF5-305F0BB83A54}"/>
              </a:ext>
            </a:extLst>
          </p:cNvPr>
          <p:cNvSpPr>
            <a:spLocks noGrp="1"/>
          </p:cNvSpPr>
          <p:nvPr/>
        </p:nvSpPr>
        <p:spPr>
          <a:xfrm>
            <a:off x="4095750" y="2238375"/>
            <a:ext cx="3429000" cy="1981200"/>
          </a:xfrm>
          <a:prstGeom prst="roundRect">
            <a:avLst>
              <a:gd name="adj" fmla="val 8654"/>
            </a:avLst>
          </a:prstGeom>
          <a:solidFill>
            <a:srgbClr val="38BDF8"/>
          </a:solidFill>
          <a:ln w="0">
            <a:noFill/>
            <a:prstDash val="solid"/>
          </a:ln>
        </p:spPr>
        <p:txBody>
          <a:bodyPr/>
          <a:lstStyle/>
          <a:p>
            <a:endParaRPr lang="en-US"/>
          </a:p>
        </p:txBody>
      </p:sp>
      <p:sp>
        <p:nvSpPr>
          <p:cNvPr id="4" name="Rectangle 3">
            <a:extLst>
              <a:ext uri="{FF2B5EF4-FFF2-40B4-BE49-F238E27FC236}">
                <a16:creationId xmlns:a16="http://schemas.microsoft.com/office/drawing/2014/main" id="{37FAF851-F89C-402A-B51A-6A4D0C32EB0D}"/>
              </a:ext>
            </a:extLst>
          </p:cNvPr>
          <p:cNvSpPr>
            <a:spLocks noGrp="1"/>
          </p:cNvSpPr>
          <p:nvPr/>
        </p:nvSpPr>
        <p:spPr>
          <a:xfrm>
            <a:off x="4572000" y="2628900"/>
            <a:ext cx="2476500" cy="1047750"/>
          </a:xfrm>
          <a:prstGeom prst="rect">
            <a:avLst/>
          </a:prstGeom>
          <a:noFill/>
          <a:ln w="0">
            <a:noFill/>
            <a:prstDash val="solid"/>
          </a:ln>
        </p:spPr>
        <p:txBody>
          <a:bodyPr lIns="76200" tIns="38100" rIns="76200" bIns="38100" anchor="ctr">
            <a:normAutofit/>
          </a:bodyPr>
          <a:lstStyle/>
          <a:p>
            <a:pPr algn="ctr">
              <a:lnSpc>
                <a:spcPct val="104000"/>
              </a:lnSpc>
              <a:buNone/>
              <a:defRPr sz="2550" b="1">
                <a:solidFill>
                  <a:srgbClr val="071525"/>
                </a:solidFill>
                <a:latin typeface="Noto Sans"/>
                <a:ea typeface="Noto Sans"/>
                <a:cs typeface="Noto Sans"/>
              </a:defRPr>
            </a:pPr>
            <a:r>
              <a:rPr sz="2550" b="1">
                <a:solidFill>
                  <a:srgbClr val="071525"/>
                </a:solidFill>
                <a:latin typeface="Noto Sans"/>
                <a:ea typeface="Noto Sans"/>
                <a:cs typeface="Noto Sans"/>
              </a:rPr>
              <a:t>SHIPMENT</a:t>
            </a:r>
          </a:p>
          <a:p>
            <a:pPr algn="ctr">
              <a:lnSpc>
                <a:spcPct val="104000"/>
              </a:lnSpc>
              <a:buNone/>
              <a:defRPr sz="2550" b="1">
                <a:solidFill>
                  <a:srgbClr val="071525"/>
                </a:solidFill>
                <a:latin typeface="Noto Sans"/>
                <a:ea typeface="Noto Sans"/>
                <a:cs typeface="Noto Sans"/>
              </a:defRPr>
            </a:pPr>
            <a:r>
              <a:rPr sz="2550" b="1">
                <a:solidFill>
                  <a:srgbClr val="071525"/>
                </a:solidFill>
                <a:latin typeface="Noto Sans"/>
                <a:ea typeface="Noto Sans"/>
                <a:cs typeface="Noto Sans"/>
              </a:rPr>
              <a:t>SHP-12831</a:t>
            </a:r>
          </a:p>
        </p:txBody>
      </p:sp>
      <p:sp>
        <p:nvSpPr>
          <p:cNvPr id="5" name="Rounded Rectangle 4">
            <a:extLst>
              <a:ext uri="{FF2B5EF4-FFF2-40B4-BE49-F238E27FC236}">
                <a16:creationId xmlns:a16="http://schemas.microsoft.com/office/drawing/2014/main" id="{B19F314C-160F-45C3-81F1-8CDB8CB8BE8C}"/>
              </a:ext>
            </a:extLst>
          </p:cNvPr>
          <p:cNvSpPr>
            <a:spLocks noGrp="1"/>
          </p:cNvSpPr>
          <p:nvPr/>
        </p:nvSpPr>
        <p:spPr>
          <a:xfrm>
            <a:off x="666750" y="2047875"/>
            <a:ext cx="2952750" cy="990600"/>
          </a:xfrm>
          <a:prstGeom prst="roundRect">
            <a:avLst>
              <a:gd name="adj" fmla="val 13462"/>
            </a:avLst>
          </a:prstGeom>
          <a:solidFill>
            <a:srgbClr val="102A44"/>
          </a:solidFill>
          <a:ln w="9525">
            <a:solidFill>
              <a:srgbClr val="2B5679"/>
            </a:solidFill>
            <a:prstDash val="solid"/>
          </a:ln>
        </p:spPr>
        <p:txBody>
          <a:bodyPr/>
          <a:lstStyle/>
          <a:p>
            <a:endParaRPr lang="en-US"/>
          </a:p>
        </p:txBody>
      </p:sp>
      <p:sp>
        <p:nvSpPr>
          <p:cNvPr id="6" name="Rectangle 5">
            <a:extLst>
              <a:ext uri="{FF2B5EF4-FFF2-40B4-BE49-F238E27FC236}">
                <a16:creationId xmlns:a16="http://schemas.microsoft.com/office/drawing/2014/main" id="{F4207A44-A781-4EE1-B335-A11B23F59674}"/>
              </a:ext>
            </a:extLst>
          </p:cNvPr>
          <p:cNvSpPr>
            <a:spLocks noGrp="1"/>
          </p:cNvSpPr>
          <p:nvPr/>
        </p:nvSpPr>
        <p:spPr>
          <a:xfrm>
            <a:off x="857250" y="2190750"/>
            <a:ext cx="2571750" cy="323850"/>
          </a:xfrm>
          <a:prstGeom prst="rect">
            <a:avLst/>
          </a:prstGeom>
          <a:noFill/>
          <a:ln w="0">
            <a:noFill/>
            <a:prstDash val="solid"/>
          </a:ln>
        </p:spPr>
        <p:txBody>
          <a:bodyPr lIns="76200" tIns="38100" rIns="76200" bIns="38100" anchor="t">
            <a:normAutofit/>
          </a:bodyPr>
          <a:lstStyle/>
          <a:p>
            <a:pPr algn="l">
              <a:lnSpc>
                <a:spcPct val="104000"/>
              </a:lnSpc>
              <a:buNone/>
              <a:defRPr sz="1425" b="1">
                <a:solidFill>
                  <a:srgbClr val="F8FAFC"/>
                </a:solidFill>
                <a:latin typeface="Noto Sans"/>
                <a:ea typeface="Noto Sans"/>
                <a:cs typeface="Noto Sans"/>
              </a:defRPr>
            </a:pPr>
            <a:r>
              <a:rPr sz="1425" b="1">
                <a:solidFill>
                  <a:srgbClr val="F8FAFC"/>
                </a:solidFill>
                <a:latin typeface="Noto Sans"/>
                <a:ea typeface="Noto Sans"/>
                <a:cs typeface="Noto Sans"/>
              </a:rPr>
              <a:t>CUSTOMER</a:t>
            </a:r>
          </a:p>
        </p:txBody>
      </p:sp>
      <p:sp>
        <p:nvSpPr>
          <p:cNvPr id="7" name="Rectangle 6">
            <a:extLst>
              <a:ext uri="{FF2B5EF4-FFF2-40B4-BE49-F238E27FC236}">
                <a16:creationId xmlns:a16="http://schemas.microsoft.com/office/drawing/2014/main" id="{606D0706-9174-46CD-9EC6-09CE0CD22ED1}"/>
              </a:ext>
            </a:extLst>
          </p:cNvPr>
          <p:cNvSpPr>
            <a:spLocks noGrp="1"/>
          </p:cNvSpPr>
          <p:nvPr/>
        </p:nvSpPr>
        <p:spPr>
          <a:xfrm>
            <a:off x="857250" y="2562225"/>
            <a:ext cx="2571750" cy="352425"/>
          </a:xfrm>
          <a:prstGeom prst="rect">
            <a:avLst/>
          </a:prstGeom>
          <a:noFill/>
          <a:ln w="0">
            <a:noFill/>
            <a:prstDash val="solid"/>
          </a:ln>
        </p:spPr>
        <p:txBody>
          <a:bodyPr lIns="76200" tIns="38100" rIns="76200" bIns="38100" anchor="t">
            <a:normAutofit/>
          </a:bodyPr>
          <a:lstStyle/>
          <a:p>
            <a:pPr algn="l">
              <a:lnSpc>
                <a:spcPct val="110000"/>
              </a:lnSpc>
              <a:buNone/>
              <a:defRPr sz="1275" b="0">
                <a:solidFill>
                  <a:srgbClr val="CBD5E1"/>
                </a:solidFill>
                <a:latin typeface="Noto Sans"/>
                <a:ea typeface="Noto Sans"/>
                <a:cs typeface="Noto Sans"/>
              </a:defRPr>
            </a:pPr>
            <a:r>
              <a:rPr sz="1275" b="0">
                <a:solidFill>
                  <a:srgbClr val="CBD5E1"/>
                </a:solidFill>
                <a:latin typeface="Noto Sans"/>
                <a:ea typeface="Noto Sans"/>
                <a:cs typeface="Noto Sans"/>
              </a:rPr>
              <a:t>Klienta identitāte</a:t>
            </a:r>
          </a:p>
        </p:txBody>
      </p:sp>
      <p:sp>
        <p:nvSpPr>
          <p:cNvPr id="8" name="Rounded Rectangle 7">
            <a:extLst>
              <a:ext uri="{FF2B5EF4-FFF2-40B4-BE49-F238E27FC236}">
                <a16:creationId xmlns:a16="http://schemas.microsoft.com/office/drawing/2014/main" id="{3ED7D3A3-A927-4E20-B269-AEDF4B3062BD}"/>
              </a:ext>
            </a:extLst>
          </p:cNvPr>
          <p:cNvSpPr>
            <a:spLocks noGrp="1"/>
          </p:cNvSpPr>
          <p:nvPr/>
        </p:nvSpPr>
        <p:spPr>
          <a:xfrm>
            <a:off x="666750" y="3619500"/>
            <a:ext cx="2952750" cy="990600"/>
          </a:xfrm>
          <a:prstGeom prst="roundRect">
            <a:avLst>
              <a:gd name="adj" fmla="val 13462"/>
            </a:avLst>
          </a:prstGeom>
          <a:solidFill>
            <a:srgbClr val="102A44"/>
          </a:solidFill>
          <a:ln w="9525">
            <a:solidFill>
              <a:srgbClr val="2B5679"/>
            </a:solidFill>
            <a:prstDash val="solid"/>
          </a:ln>
        </p:spPr>
        <p:txBody>
          <a:bodyPr/>
          <a:lstStyle/>
          <a:p>
            <a:endParaRPr lang="en-US"/>
          </a:p>
        </p:txBody>
      </p:sp>
      <p:sp>
        <p:nvSpPr>
          <p:cNvPr id="9" name="Rectangle 8">
            <a:extLst>
              <a:ext uri="{FF2B5EF4-FFF2-40B4-BE49-F238E27FC236}">
                <a16:creationId xmlns:a16="http://schemas.microsoft.com/office/drawing/2014/main" id="{649BC5EC-6E17-4F24-B537-C83B1C97E9C0}"/>
              </a:ext>
            </a:extLst>
          </p:cNvPr>
          <p:cNvSpPr>
            <a:spLocks noGrp="1"/>
          </p:cNvSpPr>
          <p:nvPr/>
        </p:nvSpPr>
        <p:spPr>
          <a:xfrm>
            <a:off x="857250" y="3762375"/>
            <a:ext cx="2571750" cy="323850"/>
          </a:xfrm>
          <a:prstGeom prst="rect">
            <a:avLst/>
          </a:prstGeom>
          <a:noFill/>
          <a:ln w="0">
            <a:noFill/>
            <a:prstDash val="solid"/>
          </a:ln>
        </p:spPr>
        <p:txBody>
          <a:bodyPr lIns="76200" tIns="38100" rIns="76200" bIns="38100" anchor="t">
            <a:normAutofit/>
          </a:bodyPr>
          <a:lstStyle/>
          <a:p>
            <a:pPr algn="l">
              <a:lnSpc>
                <a:spcPct val="104000"/>
              </a:lnSpc>
              <a:buNone/>
              <a:defRPr sz="1425" b="1">
                <a:solidFill>
                  <a:srgbClr val="F8FAFC"/>
                </a:solidFill>
                <a:latin typeface="Noto Sans"/>
                <a:ea typeface="Noto Sans"/>
                <a:cs typeface="Noto Sans"/>
              </a:defRPr>
            </a:pPr>
            <a:r>
              <a:rPr sz="1425" b="1">
                <a:solidFill>
                  <a:srgbClr val="F8FAFC"/>
                </a:solidFill>
                <a:latin typeface="Noto Sans"/>
                <a:ea typeface="Noto Sans"/>
                <a:cs typeface="Noto Sans"/>
              </a:rPr>
              <a:t>BILL OF LADING</a:t>
            </a:r>
          </a:p>
        </p:txBody>
      </p:sp>
      <p:sp>
        <p:nvSpPr>
          <p:cNvPr id="10" name="Rectangle 9">
            <a:extLst>
              <a:ext uri="{FF2B5EF4-FFF2-40B4-BE49-F238E27FC236}">
                <a16:creationId xmlns:a16="http://schemas.microsoft.com/office/drawing/2014/main" id="{05A0B8AF-C21F-4E7B-9F77-D6C2D1D26FA4}"/>
              </a:ext>
            </a:extLst>
          </p:cNvPr>
          <p:cNvSpPr>
            <a:spLocks noGrp="1"/>
          </p:cNvSpPr>
          <p:nvPr/>
        </p:nvSpPr>
        <p:spPr>
          <a:xfrm>
            <a:off x="857250" y="4133850"/>
            <a:ext cx="2571750" cy="352425"/>
          </a:xfrm>
          <a:prstGeom prst="rect">
            <a:avLst/>
          </a:prstGeom>
          <a:noFill/>
          <a:ln w="0">
            <a:noFill/>
            <a:prstDash val="solid"/>
          </a:ln>
        </p:spPr>
        <p:txBody>
          <a:bodyPr lIns="76200" tIns="38100" rIns="76200" bIns="38100" anchor="t">
            <a:normAutofit/>
          </a:bodyPr>
          <a:lstStyle/>
          <a:p>
            <a:pPr algn="l">
              <a:lnSpc>
                <a:spcPct val="110000"/>
              </a:lnSpc>
              <a:buNone/>
              <a:defRPr sz="1275" b="0">
                <a:solidFill>
                  <a:srgbClr val="CBD5E1"/>
                </a:solidFill>
                <a:latin typeface="Noto Sans"/>
                <a:ea typeface="Noto Sans"/>
                <a:cs typeface="Noto Sans"/>
              </a:defRPr>
            </a:pPr>
            <a:r>
              <a:rPr sz="1275" b="0">
                <a:solidFill>
                  <a:srgbClr val="CBD5E1"/>
                </a:solidFill>
                <a:latin typeface="Noto Sans"/>
                <a:ea typeface="Noto Sans"/>
                <a:cs typeface="Noto Sans"/>
              </a:rPr>
              <a:t>Vessel • voyage • POL/POD</a:t>
            </a:r>
          </a:p>
        </p:txBody>
      </p:sp>
      <p:sp>
        <p:nvSpPr>
          <p:cNvPr id="11" name="Rounded Rectangle 10">
            <a:extLst>
              <a:ext uri="{FF2B5EF4-FFF2-40B4-BE49-F238E27FC236}">
                <a16:creationId xmlns:a16="http://schemas.microsoft.com/office/drawing/2014/main" id="{172CB24D-CF30-471F-96A1-4D6898B8776B}"/>
              </a:ext>
            </a:extLst>
          </p:cNvPr>
          <p:cNvSpPr>
            <a:spLocks noGrp="1"/>
          </p:cNvSpPr>
          <p:nvPr/>
        </p:nvSpPr>
        <p:spPr>
          <a:xfrm>
            <a:off x="7962900" y="1828800"/>
            <a:ext cx="2952750" cy="990600"/>
          </a:xfrm>
          <a:prstGeom prst="roundRect">
            <a:avLst>
              <a:gd name="adj" fmla="val 13462"/>
            </a:avLst>
          </a:prstGeom>
          <a:solidFill>
            <a:srgbClr val="102A44"/>
          </a:solidFill>
          <a:ln w="9525">
            <a:solidFill>
              <a:srgbClr val="2B5679"/>
            </a:solidFill>
            <a:prstDash val="solid"/>
          </a:ln>
        </p:spPr>
        <p:txBody>
          <a:bodyPr/>
          <a:lstStyle/>
          <a:p>
            <a:endParaRPr lang="en-US"/>
          </a:p>
        </p:txBody>
      </p:sp>
      <p:sp>
        <p:nvSpPr>
          <p:cNvPr id="12" name="Rectangle 11">
            <a:extLst>
              <a:ext uri="{FF2B5EF4-FFF2-40B4-BE49-F238E27FC236}">
                <a16:creationId xmlns:a16="http://schemas.microsoft.com/office/drawing/2014/main" id="{7FD79AAB-869A-4162-B865-178ACD8FE561}"/>
              </a:ext>
            </a:extLst>
          </p:cNvPr>
          <p:cNvSpPr>
            <a:spLocks noGrp="1"/>
          </p:cNvSpPr>
          <p:nvPr/>
        </p:nvSpPr>
        <p:spPr>
          <a:xfrm>
            <a:off x="8153400" y="1971675"/>
            <a:ext cx="2571750" cy="323850"/>
          </a:xfrm>
          <a:prstGeom prst="rect">
            <a:avLst/>
          </a:prstGeom>
          <a:noFill/>
          <a:ln w="0">
            <a:noFill/>
            <a:prstDash val="solid"/>
          </a:ln>
        </p:spPr>
        <p:txBody>
          <a:bodyPr lIns="76200" tIns="38100" rIns="76200" bIns="38100" anchor="t">
            <a:normAutofit/>
          </a:bodyPr>
          <a:lstStyle/>
          <a:p>
            <a:pPr algn="l">
              <a:lnSpc>
                <a:spcPct val="104000"/>
              </a:lnSpc>
              <a:buNone/>
              <a:defRPr sz="1425" b="1">
                <a:solidFill>
                  <a:srgbClr val="F8FAFC"/>
                </a:solidFill>
                <a:latin typeface="Noto Sans"/>
                <a:ea typeface="Noto Sans"/>
                <a:cs typeface="Noto Sans"/>
              </a:defRPr>
            </a:pPr>
            <a:r>
              <a:rPr sz="1425" b="1">
                <a:solidFill>
                  <a:srgbClr val="F8FAFC"/>
                </a:solidFill>
                <a:latin typeface="Noto Sans"/>
                <a:ea typeface="Noto Sans"/>
                <a:cs typeface="Noto Sans"/>
              </a:rPr>
              <a:t>CONTAINERS</a:t>
            </a:r>
          </a:p>
        </p:txBody>
      </p:sp>
      <p:sp>
        <p:nvSpPr>
          <p:cNvPr id="13" name="Rectangle 12">
            <a:extLst>
              <a:ext uri="{FF2B5EF4-FFF2-40B4-BE49-F238E27FC236}">
                <a16:creationId xmlns:a16="http://schemas.microsoft.com/office/drawing/2014/main" id="{F8B1CE4A-02BA-4497-AE3C-50D6847963B9}"/>
              </a:ext>
            </a:extLst>
          </p:cNvPr>
          <p:cNvSpPr>
            <a:spLocks noGrp="1"/>
          </p:cNvSpPr>
          <p:nvPr/>
        </p:nvSpPr>
        <p:spPr>
          <a:xfrm>
            <a:off x="8153400" y="2343150"/>
            <a:ext cx="2571750" cy="352425"/>
          </a:xfrm>
          <a:prstGeom prst="rect">
            <a:avLst/>
          </a:prstGeom>
          <a:noFill/>
          <a:ln w="0">
            <a:noFill/>
            <a:prstDash val="solid"/>
          </a:ln>
        </p:spPr>
        <p:txBody>
          <a:bodyPr lIns="76200" tIns="38100" rIns="76200" bIns="38100" anchor="t">
            <a:normAutofit/>
          </a:bodyPr>
          <a:lstStyle/>
          <a:p>
            <a:pPr algn="l">
              <a:lnSpc>
                <a:spcPct val="110000"/>
              </a:lnSpc>
              <a:buNone/>
              <a:defRPr sz="1275" b="0">
                <a:solidFill>
                  <a:srgbClr val="CBD5E1"/>
                </a:solidFill>
                <a:latin typeface="Noto Sans"/>
                <a:ea typeface="Noto Sans"/>
                <a:cs typeface="Noto Sans"/>
              </a:defRPr>
            </a:pPr>
            <a:r>
              <a:rPr sz="1275" b="0">
                <a:solidFill>
                  <a:srgbClr val="CBD5E1"/>
                </a:solidFill>
                <a:latin typeface="Noto Sans"/>
                <a:ea typeface="Noto Sans"/>
                <a:cs typeface="Noto Sans"/>
              </a:rPr>
              <a:t>ISO 6346 • TEU • svars</a:t>
            </a:r>
          </a:p>
        </p:txBody>
      </p:sp>
      <p:sp>
        <p:nvSpPr>
          <p:cNvPr id="14" name="Rounded Rectangle 13">
            <a:extLst>
              <a:ext uri="{FF2B5EF4-FFF2-40B4-BE49-F238E27FC236}">
                <a16:creationId xmlns:a16="http://schemas.microsoft.com/office/drawing/2014/main" id="{9F46B98B-6552-48A9-8F89-A4B5EF4893A6}"/>
              </a:ext>
            </a:extLst>
          </p:cNvPr>
          <p:cNvSpPr>
            <a:spLocks noGrp="1"/>
          </p:cNvSpPr>
          <p:nvPr/>
        </p:nvSpPr>
        <p:spPr>
          <a:xfrm>
            <a:off x="7962900" y="3086100"/>
            <a:ext cx="2952750" cy="990600"/>
          </a:xfrm>
          <a:prstGeom prst="roundRect">
            <a:avLst>
              <a:gd name="adj" fmla="val 13462"/>
            </a:avLst>
          </a:prstGeom>
          <a:solidFill>
            <a:srgbClr val="102A44"/>
          </a:solidFill>
          <a:ln w="9525">
            <a:solidFill>
              <a:srgbClr val="2B5679"/>
            </a:solidFill>
            <a:prstDash val="solid"/>
          </a:ln>
        </p:spPr>
        <p:txBody>
          <a:bodyPr/>
          <a:lstStyle/>
          <a:p>
            <a:endParaRPr lang="en-US"/>
          </a:p>
        </p:txBody>
      </p:sp>
      <p:sp>
        <p:nvSpPr>
          <p:cNvPr id="15" name="Rectangle 14">
            <a:extLst>
              <a:ext uri="{FF2B5EF4-FFF2-40B4-BE49-F238E27FC236}">
                <a16:creationId xmlns:a16="http://schemas.microsoft.com/office/drawing/2014/main" id="{335625BE-14C5-4D7B-B802-E0EDBACCF660}"/>
              </a:ext>
            </a:extLst>
          </p:cNvPr>
          <p:cNvSpPr>
            <a:spLocks noGrp="1"/>
          </p:cNvSpPr>
          <p:nvPr/>
        </p:nvSpPr>
        <p:spPr>
          <a:xfrm>
            <a:off x="8153400" y="3228975"/>
            <a:ext cx="2571750" cy="323850"/>
          </a:xfrm>
          <a:prstGeom prst="rect">
            <a:avLst/>
          </a:prstGeom>
          <a:noFill/>
          <a:ln w="0">
            <a:noFill/>
            <a:prstDash val="solid"/>
          </a:ln>
        </p:spPr>
        <p:txBody>
          <a:bodyPr lIns="76200" tIns="38100" rIns="76200" bIns="38100" anchor="t">
            <a:normAutofit/>
          </a:bodyPr>
          <a:lstStyle/>
          <a:p>
            <a:pPr algn="l">
              <a:lnSpc>
                <a:spcPct val="104000"/>
              </a:lnSpc>
              <a:buNone/>
              <a:defRPr sz="1425" b="1">
                <a:solidFill>
                  <a:srgbClr val="F8FAFC"/>
                </a:solidFill>
                <a:latin typeface="Noto Sans"/>
                <a:ea typeface="Noto Sans"/>
                <a:cs typeface="Noto Sans"/>
              </a:defRPr>
            </a:pPr>
            <a:r>
              <a:rPr sz="1425" b="1">
                <a:solidFill>
                  <a:srgbClr val="F8FAFC"/>
                </a:solidFill>
                <a:latin typeface="Noto Sans"/>
                <a:ea typeface="Noto Sans"/>
                <a:cs typeface="Noto Sans"/>
              </a:rPr>
              <a:t>INVOICES</a:t>
            </a:r>
          </a:p>
        </p:txBody>
      </p:sp>
      <p:sp>
        <p:nvSpPr>
          <p:cNvPr id="16" name="Rectangle 15">
            <a:extLst>
              <a:ext uri="{FF2B5EF4-FFF2-40B4-BE49-F238E27FC236}">
                <a16:creationId xmlns:a16="http://schemas.microsoft.com/office/drawing/2014/main" id="{9E29DAEE-6E9D-442D-9C66-910692067C0E}"/>
              </a:ext>
            </a:extLst>
          </p:cNvPr>
          <p:cNvSpPr>
            <a:spLocks noGrp="1"/>
          </p:cNvSpPr>
          <p:nvPr/>
        </p:nvSpPr>
        <p:spPr>
          <a:xfrm>
            <a:off x="8153400" y="3600450"/>
            <a:ext cx="2571750" cy="352425"/>
          </a:xfrm>
          <a:prstGeom prst="rect">
            <a:avLst/>
          </a:prstGeom>
          <a:noFill/>
          <a:ln w="0">
            <a:noFill/>
            <a:prstDash val="solid"/>
          </a:ln>
        </p:spPr>
        <p:txBody>
          <a:bodyPr lIns="76200" tIns="38100" rIns="76200" bIns="38100" anchor="t">
            <a:normAutofit/>
          </a:bodyPr>
          <a:lstStyle/>
          <a:p>
            <a:pPr algn="l">
              <a:lnSpc>
                <a:spcPct val="110000"/>
              </a:lnSpc>
              <a:buNone/>
              <a:defRPr sz="1275" b="0">
                <a:solidFill>
                  <a:srgbClr val="CBD5E1"/>
                </a:solidFill>
                <a:latin typeface="Noto Sans"/>
                <a:ea typeface="Noto Sans"/>
                <a:cs typeface="Noto Sans"/>
              </a:defRPr>
            </a:pPr>
            <a:r>
              <a:rPr sz="1275" b="0">
                <a:solidFill>
                  <a:srgbClr val="CBD5E1"/>
                </a:solidFill>
                <a:latin typeface="Noto Sans"/>
                <a:ea typeface="Noto Sans"/>
                <a:cs typeface="Noto Sans"/>
              </a:rPr>
              <a:t>Ieņēmumi • PVN • statuss</a:t>
            </a:r>
          </a:p>
        </p:txBody>
      </p:sp>
      <p:sp>
        <p:nvSpPr>
          <p:cNvPr id="17" name="Rounded Rectangle 16">
            <a:extLst>
              <a:ext uri="{FF2B5EF4-FFF2-40B4-BE49-F238E27FC236}">
                <a16:creationId xmlns:a16="http://schemas.microsoft.com/office/drawing/2014/main" id="{3F50B867-343A-4D33-9A3D-25373125161D}"/>
              </a:ext>
            </a:extLst>
          </p:cNvPr>
          <p:cNvSpPr>
            <a:spLocks noGrp="1"/>
          </p:cNvSpPr>
          <p:nvPr/>
        </p:nvSpPr>
        <p:spPr>
          <a:xfrm>
            <a:off x="7962900" y="4343400"/>
            <a:ext cx="2952750" cy="990600"/>
          </a:xfrm>
          <a:prstGeom prst="roundRect">
            <a:avLst>
              <a:gd name="adj" fmla="val 13462"/>
            </a:avLst>
          </a:prstGeom>
          <a:solidFill>
            <a:srgbClr val="102A44"/>
          </a:solidFill>
          <a:ln w="9525">
            <a:solidFill>
              <a:srgbClr val="2B5679"/>
            </a:solidFill>
            <a:prstDash val="solid"/>
          </a:ln>
        </p:spPr>
        <p:txBody>
          <a:bodyPr/>
          <a:lstStyle/>
          <a:p>
            <a:endParaRPr lang="en-US"/>
          </a:p>
        </p:txBody>
      </p:sp>
      <p:sp>
        <p:nvSpPr>
          <p:cNvPr id="18" name="Rectangle 17">
            <a:extLst>
              <a:ext uri="{FF2B5EF4-FFF2-40B4-BE49-F238E27FC236}">
                <a16:creationId xmlns:a16="http://schemas.microsoft.com/office/drawing/2014/main" id="{016B7551-65A1-492C-AF07-653CB47D5FC8}"/>
              </a:ext>
            </a:extLst>
          </p:cNvPr>
          <p:cNvSpPr>
            <a:spLocks noGrp="1"/>
          </p:cNvSpPr>
          <p:nvPr/>
        </p:nvSpPr>
        <p:spPr>
          <a:xfrm>
            <a:off x="8153400" y="4486275"/>
            <a:ext cx="2571750" cy="323850"/>
          </a:xfrm>
          <a:prstGeom prst="rect">
            <a:avLst/>
          </a:prstGeom>
          <a:noFill/>
          <a:ln w="0">
            <a:noFill/>
            <a:prstDash val="solid"/>
          </a:ln>
        </p:spPr>
        <p:txBody>
          <a:bodyPr lIns="76200" tIns="38100" rIns="76200" bIns="38100" anchor="t">
            <a:normAutofit/>
          </a:bodyPr>
          <a:lstStyle/>
          <a:p>
            <a:pPr algn="l">
              <a:lnSpc>
                <a:spcPct val="104000"/>
              </a:lnSpc>
              <a:buNone/>
              <a:defRPr sz="1425" b="1">
                <a:solidFill>
                  <a:srgbClr val="F8FAFC"/>
                </a:solidFill>
                <a:latin typeface="Noto Sans"/>
                <a:ea typeface="Noto Sans"/>
                <a:cs typeface="Noto Sans"/>
              </a:defRPr>
            </a:pPr>
            <a:r>
              <a:rPr sz="1425" b="1">
                <a:solidFill>
                  <a:srgbClr val="F8FAFC"/>
                </a:solidFill>
                <a:latin typeface="Noto Sans"/>
                <a:ea typeface="Noto Sans"/>
                <a:cs typeface="Noto Sans"/>
              </a:rPr>
              <a:t>COSTS &amp; PAYMENTS</a:t>
            </a:r>
          </a:p>
        </p:txBody>
      </p:sp>
      <p:sp>
        <p:nvSpPr>
          <p:cNvPr id="19" name="Rectangle 18">
            <a:extLst>
              <a:ext uri="{FF2B5EF4-FFF2-40B4-BE49-F238E27FC236}">
                <a16:creationId xmlns:a16="http://schemas.microsoft.com/office/drawing/2014/main" id="{FABEFA1B-DC4A-4DC6-9A1B-7A44F808E515}"/>
              </a:ext>
            </a:extLst>
          </p:cNvPr>
          <p:cNvSpPr>
            <a:spLocks noGrp="1"/>
          </p:cNvSpPr>
          <p:nvPr/>
        </p:nvSpPr>
        <p:spPr>
          <a:xfrm>
            <a:off x="8153400" y="4857750"/>
            <a:ext cx="2571750" cy="352425"/>
          </a:xfrm>
          <a:prstGeom prst="rect">
            <a:avLst/>
          </a:prstGeom>
          <a:noFill/>
          <a:ln w="0">
            <a:noFill/>
            <a:prstDash val="solid"/>
          </a:ln>
        </p:spPr>
        <p:txBody>
          <a:bodyPr lIns="76200" tIns="38100" rIns="76200" bIns="38100" anchor="t">
            <a:normAutofit/>
          </a:bodyPr>
          <a:lstStyle/>
          <a:p>
            <a:pPr algn="l">
              <a:lnSpc>
                <a:spcPct val="110000"/>
              </a:lnSpc>
              <a:buNone/>
              <a:defRPr sz="1275" b="0">
                <a:solidFill>
                  <a:srgbClr val="CBD5E1"/>
                </a:solidFill>
                <a:latin typeface="Noto Sans"/>
                <a:ea typeface="Noto Sans"/>
                <a:cs typeface="Noto Sans"/>
              </a:defRPr>
            </a:pPr>
            <a:r>
              <a:rPr sz="1275" b="0">
                <a:solidFill>
                  <a:srgbClr val="CBD5E1"/>
                </a:solidFill>
                <a:latin typeface="Noto Sans"/>
                <a:ea typeface="Noto Sans"/>
                <a:cs typeface="Noto Sans"/>
              </a:rPr>
              <a:t>Izmaksas • apmaksa</a:t>
            </a:r>
          </a:p>
        </p:txBody>
      </p:sp>
      <p:sp>
        <p:nvSpPr>
          <p:cNvPr id="20" name="Rectangle 19">
            <a:extLst>
              <a:ext uri="{FF2B5EF4-FFF2-40B4-BE49-F238E27FC236}">
                <a16:creationId xmlns:a16="http://schemas.microsoft.com/office/drawing/2014/main" id="{78C4BF5F-574E-4346-B25D-2ED976C24E33}"/>
              </a:ext>
            </a:extLst>
          </p:cNvPr>
          <p:cNvSpPr>
            <a:spLocks noGrp="1"/>
          </p:cNvSpPr>
          <p:nvPr/>
        </p:nvSpPr>
        <p:spPr>
          <a:xfrm>
            <a:off x="3619500" y="2514600"/>
            <a:ext cx="476250" cy="28575"/>
          </a:xfrm>
          <a:prstGeom prst="rect">
            <a:avLst/>
          </a:prstGeom>
          <a:solidFill>
            <a:srgbClr val="7DD3FC"/>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F668A373-91A6-4192-8A8A-847708CB6B37}"/>
              </a:ext>
            </a:extLst>
          </p:cNvPr>
          <p:cNvSpPr>
            <a:spLocks noGrp="1"/>
          </p:cNvSpPr>
          <p:nvPr/>
        </p:nvSpPr>
        <p:spPr>
          <a:xfrm>
            <a:off x="3619500" y="4086225"/>
            <a:ext cx="476250" cy="28575"/>
          </a:xfrm>
          <a:prstGeom prst="rect">
            <a:avLst/>
          </a:prstGeom>
          <a:solidFill>
            <a:srgbClr val="7DD3FC"/>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13C6953A-85EA-4AE4-A1C8-4D781795ED86}"/>
              </a:ext>
            </a:extLst>
          </p:cNvPr>
          <p:cNvSpPr>
            <a:spLocks noGrp="1"/>
          </p:cNvSpPr>
          <p:nvPr/>
        </p:nvSpPr>
        <p:spPr>
          <a:xfrm>
            <a:off x="7524750" y="2324100"/>
            <a:ext cx="438150" cy="28575"/>
          </a:xfrm>
          <a:prstGeom prst="rect">
            <a:avLst/>
          </a:prstGeom>
          <a:solidFill>
            <a:srgbClr val="7DD3FC"/>
          </a:solidFill>
          <a:ln w="0">
            <a:noFill/>
            <a:prstDash val="solid"/>
          </a:ln>
        </p:spPr>
        <p:txBody>
          <a:bodyPr/>
          <a:lstStyle/>
          <a:p>
            <a:endParaRPr lang="en-US"/>
          </a:p>
        </p:txBody>
      </p:sp>
      <p:sp>
        <p:nvSpPr>
          <p:cNvPr id="23" name="Rectangle 22">
            <a:extLst>
              <a:ext uri="{FF2B5EF4-FFF2-40B4-BE49-F238E27FC236}">
                <a16:creationId xmlns:a16="http://schemas.microsoft.com/office/drawing/2014/main" id="{83CAD9EB-9EE9-421C-B41A-E6FE0DFF3E51}"/>
              </a:ext>
            </a:extLst>
          </p:cNvPr>
          <p:cNvSpPr>
            <a:spLocks noGrp="1"/>
          </p:cNvSpPr>
          <p:nvPr/>
        </p:nvSpPr>
        <p:spPr>
          <a:xfrm>
            <a:off x="7524750" y="3581400"/>
            <a:ext cx="438150" cy="28575"/>
          </a:xfrm>
          <a:prstGeom prst="rect">
            <a:avLst/>
          </a:prstGeom>
          <a:solidFill>
            <a:srgbClr val="7DD3FC"/>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94BD632E-9397-421A-A702-283F29BF3FE2}"/>
              </a:ext>
            </a:extLst>
          </p:cNvPr>
          <p:cNvSpPr>
            <a:spLocks noGrp="1"/>
          </p:cNvSpPr>
          <p:nvPr/>
        </p:nvSpPr>
        <p:spPr>
          <a:xfrm>
            <a:off x="7524750" y="4838700"/>
            <a:ext cx="438150" cy="28575"/>
          </a:xfrm>
          <a:prstGeom prst="rect">
            <a:avLst/>
          </a:prstGeom>
          <a:solidFill>
            <a:srgbClr val="7DD3FC"/>
          </a:solidFill>
          <a:ln w="0">
            <a:noFill/>
            <a:prstDash val="solid"/>
          </a:ln>
        </p:spPr>
        <p:txBody>
          <a:bodyPr/>
          <a:lstStyle/>
          <a:p>
            <a:endParaRPr lang="en-US"/>
          </a:p>
        </p:txBody>
      </p:sp>
      <p:sp>
        <p:nvSpPr>
          <p:cNvPr id="25" name="Rounded Rectangle 24">
            <a:extLst>
              <a:ext uri="{FF2B5EF4-FFF2-40B4-BE49-F238E27FC236}">
                <a16:creationId xmlns:a16="http://schemas.microsoft.com/office/drawing/2014/main" id="{A5F07F75-C582-4058-913B-017AFF64E56F}"/>
              </a:ext>
            </a:extLst>
          </p:cNvPr>
          <p:cNvSpPr>
            <a:spLocks noGrp="1"/>
          </p:cNvSpPr>
          <p:nvPr/>
        </p:nvSpPr>
        <p:spPr>
          <a:xfrm>
            <a:off x="657225" y="5667375"/>
            <a:ext cx="10287000" cy="438150"/>
          </a:xfrm>
          <a:prstGeom prst="roundRect">
            <a:avLst>
              <a:gd name="adj" fmla="val 21739"/>
            </a:avLst>
          </a:prstGeom>
          <a:solidFill>
            <a:srgbClr val="102A44"/>
          </a:solidFill>
          <a:ln w="0">
            <a:noFill/>
            <a:prstDash val="solid"/>
          </a:ln>
        </p:spPr>
        <p:txBody>
          <a:bodyPr lIns="76200" tIns="38100" rIns="76200" bIns="38100" anchor="ctr">
            <a:normAutofit/>
          </a:bodyPr>
          <a:lstStyle/>
          <a:p>
            <a:pPr algn="ctr">
              <a:lnSpc>
                <a:spcPct val="104000"/>
              </a:lnSpc>
              <a:buNone/>
              <a:defRPr sz="1425" b="0">
                <a:solidFill>
                  <a:srgbClr val="F8FAFC"/>
                </a:solidFill>
                <a:latin typeface="Noto Sans"/>
                <a:ea typeface="Noto Sans"/>
                <a:cs typeface="Noto Sans"/>
              </a:defRPr>
            </a:pPr>
            <a:r>
              <a:rPr sz="1425" b="0">
                <a:solidFill>
                  <a:srgbClr val="F8FAFC"/>
                </a:solidFill>
                <a:latin typeface="Noto Sans"/>
                <a:ea typeface="Noto Sans"/>
                <a:cs typeface="Noto Sans"/>
              </a:rPr>
              <a:t>Excel → booking informācija     •     B/L → transporta fakti     •     Invoice → finanšu fakti     •     API → nākotnē ETA/tracking</a:t>
            </a:r>
          </a:p>
        </p:txBody>
      </p:sp>
    </p:spTree>
    <p:extLst>
      <p:ext uri="{BB962C8B-B14F-4D97-AF65-F5344CB8AC3E}">
        <p14:creationId xmlns:p14="http://schemas.microsoft.com/office/powerpoint/2010/main" val="1669702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BF753EA0-241B-4DE0-ADF1-296F1746D14B}"/>
              </a:ext>
            </a:extLst>
          </p:cNvPr>
          <p:cNvSpPr>
            <a:spLocks noGrp="1"/>
          </p:cNvSpPr>
          <p:nvPr/>
        </p:nvSpPr>
        <p:spPr>
          <a:xfrm>
            <a:off x="552450" y="266700"/>
            <a:ext cx="4000500" cy="228600"/>
          </a:xfrm>
          <a:prstGeom prst="rect">
            <a:avLst/>
          </a:prstGeom>
          <a:noFill/>
          <a:ln w="0">
            <a:noFill/>
            <a:prstDash val="solid"/>
          </a:ln>
        </p:spPr>
        <p:txBody>
          <a:bodyPr lIns="76200" tIns="38100" rIns="76200" bIns="38100" anchor="ctr">
            <a:normAutofit fontScale="85470"/>
          </a:bodyPr>
          <a:lstStyle/>
          <a:p>
            <a:pPr algn="l">
              <a:lnSpc>
                <a:spcPct val="104000"/>
              </a:lnSpc>
              <a:buNone/>
              <a:defRPr sz="1125" b="1">
                <a:solidFill>
                  <a:srgbClr val="123A63"/>
                </a:solidFill>
                <a:latin typeface="Noto Sans"/>
                <a:ea typeface="Noto Sans"/>
                <a:cs typeface="Noto Sans"/>
              </a:defRPr>
            </a:pPr>
            <a:r>
              <a:rPr sz="1125" b="1">
                <a:solidFill>
                  <a:srgbClr val="123A63"/>
                </a:solidFill>
                <a:latin typeface="Noto Sans"/>
                <a:ea typeface="Noto Sans"/>
                <a:cs typeface="Noto Sans"/>
              </a:rPr>
              <a:t>TWIN  /  KOMANDAS DISKUSIJA</a:t>
            </a:r>
          </a:p>
        </p:txBody>
      </p:sp>
      <p:sp>
        <p:nvSpPr>
          <p:cNvPr id="2" name="Rectangle 1">
            <a:extLst>
              <a:ext uri="{FF2B5EF4-FFF2-40B4-BE49-F238E27FC236}">
                <a16:creationId xmlns:a16="http://schemas.microsoft.com/office/drawing/2014/main" id="{A0765EEB-3443-465B-8A51-3A2EB1E22A40}"/>
              </a:ext>
            </a:extLst>
          </p:cNvPr>
          <p:cNvSpPr>
            <a:spLocks noGrp="1"/>
          </p:cNvSpPr>
          <p:nvPr/>
        </p:nvSpPr>
        <p:spPr>
          <a:xfrm>
            <a:off x="11191875" y="257175"/>
            <a:ext cx="438150" cy="238125"/>
          </a:xfrm>
          <a:prstGeom prst="rect">
            <a:avLst/>
          </a:prstGeom>
          <a:noFill/>
          <a:ln w="0">
            <a:noFill/>
            <a:prstDash val="solid"/>
          </a:ln>
        </p:spPr>
        <p:txBody>
          <a:bodyPr lIns="76200" tIns="38100" rIns="76200" bIns="38100" anchor="ctr">
            <a:normAutofit fontScale="90812"/>
          </a:bodyPr>
          <a:lstStyle/>
          <a:p>
            <a:pPr algn="r">
              <a:lnSpc>
                <a:spcPct val="104000"/>
              </a:lnSpc>
              <a:buNone/>
              <a:defRPr sz="1125" b="1">
                <a:solidFill>
                  <a:srgbClr val="94A3B8"/>
                </a:solidFill>
                <a:latin typeface="Noto Sans"/>
                <a:ea typeface="Noto Sans"/>
                <a:cs typeface="Noto Sans"/>
              </a:defRPr>
            </a:pPr>
            <a:r>
              <a:rPr sz="1125" b="1">
                <a:solidFill>
                  <a:srgbClr val="94A3B8"/>
                </a:solidFill>
                <a:latin typeface="Noto Sans"/>
                <a:ea typeface="Noto Sans"/>
                <a:cs typeface="Noto Sans"/>
              </a:rPr>
              <a:t>07</a:t>
            </a:r>
          </a:p>
        </p:txBody>
      </p:sp>
      <p:sp>
        <p:nvSpPr>
          <p:cNvPr id="3" name="Rectangle 2">
            <a:extLst>
              <a:ext uri="{FF2B5EF4-FFF2-40B4-BE49-F238E27FC236}">
                <a16:creationId xmlns:a16="http://schemas.microsoft.com/office/drawing/2014/main" id="{D5BB4407-8BF0-4BF2-AEE6-8CCACA825950}"/>
              </a:ext>
            </a:extLst>
          </p:cNvPr>
          <p:cNvSpPr>
            <a:spLocks noGrp="1"/>
          </p:cNvSpPr>
          <p:nvPr/>
        </p:nvSpPr>
        <p:spPr>
          <a:xfrm>
            <a:off x="552450" y="628650"/>
            <a:ext cx="10382250" cy="590550"/>
          </a:xfrm>
          <a:prstGeom prst="rect">
            <a:avLst/>
          </a:prstGeom>
          <a:noFill/>
          <a:ln w="0">
            <a:noFill/>
            <a:prstDash val="solid"/>
          </a:ln>
        </p:spPr>
        <p:txBody>
          <a:bodyPr lIns="76200" tIns="38100" rIns="76200" bIns="38100" anchor="t">
            <a:normAutofit fontScale="98339"/>
          </a:bodyPr>
          <a:lstStyle/>
          <a:p>
            <a:pPr algn="l">
              <a:lnSpc>
                <a:spcPct val="104000"/>
              </a:lnSpc>
              <a:buNone/>
              <a:defRPr sz="3300" b="1">
                <a:solidFill>
                  <a:srgbClr val="0F172A"/>
                </a:solidFill>
                <a:latin typeface="Noto Sans"/>
                <a:ea typeface="Noto Sans"/>
                <a:cs typeface="Noto Sans"/>
              </a:defRPr>
            </a:pPr>
            <a:r>
              <a:rPr sz="3300" b="1">
                <a:solidFill>
                  <a:srgbClr val="0F172A"/>
                </a:solidFill>
                <a:latin typeface="Noto Sans"/>
                <a:ea typeface="Noto Sans"/>
                <a:cs typeface="Noto Sans"/>
              </a:rPr>
              <a:t>Ko esam jau uzbūvējuši</a:t>
            </a:r>
          </a:p>
        </p:txBody>
      </p:sp>
      <p:sp>
        <p:nvSpPr>
          <p:cNvPr id="4" name="Rectangle 3">
            <a:extLst>
              <a:ext uri="{FF2B5EF4-FFF2-40B4-BE49-F238E27FC236}">
                <a16:creationId xmlns:a16="http://schemas.microsoft.com/office/drawing/2014/main" id="{DA2F2C24-27FF-4322-AA36-DD20473FA740}"/>
              </a:ext>
            </a:extLst>
          </p:cNvPr>
          <p:cNvSpPr>
            <a:spLocks noGrp="1"/>
          </p:cNvSpPr>
          <p:nvPr/>
        </p:nvSpPr>
        <p:spPr>
          <a:xfrm>
            <a:off x="581025" y="1219200"/>
            <a:ext cx="10287000" cy="323850"/>
          </a:xfrm>
          <a:prstGeom prst="rect">
            <a:avLst/>
          </a:prstGeom>
          <a:noFill/>
          <a:ln w="0">
            <a:noFill/>
            <a:prstDash val="solid"/>
          </a:ln>
        </p:spPr>
        <p:txBody>
          <a:bodyPr lIns="76200" tIns="38100" rIns="76200" bIns="38100" anchor="t">
            <a:normAutofit/>
          </a:bodyPr>
          <a:lstStyle/>
          <a:p>
            <a:pPr algn="l">
              <a:lnSpc>
                <a:spcPct val="104000"/>
              </a:lnSpc>
              <a:buNone/>
              <a:defRPr sz="1500" b="0">
                <a:solidFill>
                  <a:srgbClr val="64748B"/>
                </a:solidFill>
                <a:latin typeface="Noto Sans"/>
                <a:ea typeface="Noto Sans"/>
                <a:cs typeface="Noto Sans"/>
              </a:defRPr>
            </a:pPr>
            <a:r>
              <a:rPr sz="1500" b="0">
                <a:solidFill>
                  <a:srgbClr val="64748B"/>
                </a:solidFill>
                <a:latin typeface="Noto Sans"/>
                <a:ea typeface="Noto Sans"/>
                <a:cs typeface="Noto Sans"/>
              </a:rPr>
              <a:t>Tehniskais pamats ir strādājošs prototips, ne tikai ideja</a:t>
            </a:r>
          </a:p>
        </p:txBody>
      </p:sp>
      <p:sp>
        <p:nvSpPr>
          <p:cNvPr id="5" name="Rectangle 4">
            <a:extLst>
              <a:ext uri="{FF2B5EF4-FFF2-40B4-BE49-F238E27FC236}">
                <a16:creationId xmlns:a16="http://schemas.microsoft.com/office/drawing/2014/main" id="{1EBFE5E1-48F3-4B8E-A0E3-4D912C8F4F39}"/>
              </a:ext>
            </a:extLst>
          </p:cNvPr>
          <p:cNvSpPr>
            <a:spLocks noGrp="1"/>
          </p:cNvSpPr>
          <p:nvPr/>
        </p:nvSpPr>
        <p:spPr>
          <a:xfrm>
            <a:off x="552450" y="1600200"/>
            <a:ext cx="11087100" cy="19050"/>
          </a:xfrm>
          <a:prstGeom prst="rect">
            <a:avLst/>
          </a:prstGeom>
          <a:solidFill>
            <a:srgbClr val="C7D7E2"/>
          </a:solidFill>
          <a:ln w="0">
            <a:noFill/>
            <a:prstDash val="solid"/>
          </a:ln>
        </p:spPr>
        <p:txBody>
          <a:bodyPr/>
          <a:lstStyle/>
          <a:p>
            <a:endParaRPr lang="en-US"/>
          </a:p>
        </p:txBody>
      </p:sp>
      <p:sp>
        <p:nvSpPr>
          <p:cNvPr id="6" name="Rounded Rectangle 5">
            <a:extLst>
              <a:ext uri="{FF2B5EF4-FFF2-40B4-BE49-F238E27FC236}">
                <a16:creationId xmlns:a16="http://schemas.microsoft.com/office/drawing/2014/main" id="{C6731E23-5BFB-4458-8386-4CC04B9D9237}"/>
              </a:ext>
            </a:extLst>
          </p:cNvPr>
          <p:cNvSpPr>
            <a:spLocks noGrp="1"/>
          </p:cNvSpPr>
          <p:nvPr/>
        </p:nvSpPr>
        <p:spPr>
          <a:xfrm>
            <a:off x="590550" y="2057400"/>
            <a:ext cx="2457450" cy="3076575"/>
          </a:xfrm>
          <a:prstGeom prst="roundRect">
            <a:avLst>
              <a:gd name="adj" fmla="val 5814"/>
            </a:avLst>
          </a:prstGeom>
          <a:solidFill>
            <a:srgbClr val="F1F5F9"/>
          </a:solidFill>
          <a:ln w="9525">
            <a:solidFill>
              <a:srgbClr val="C7D7E2"/>
            </a:solidFill>
            <a:prstDash val="solid"/>
          </a:ln>
        </p:spPr>
        <p:txBody>
          <a:bodyPr/>
          <a:lstStyle/>
          <a:p>
            <a:endParaRPr lang="en-US"/>
          </a:p>
        </p:txBody>
      </p:sp>
      <p:sp>
        <p:nvSpPr>
          <p:cNvPr id="7" name="Rounded Rectangle 6">
            <a:extLst>
              <a:ext uri="{FF2B5EF4-FFF2-40B4-BE49-F238E27FC236}">
                <a16:creationId xmlns:a16="http://schemas.microsoft.com/office/drawing/2014/main" id="{78C37700-BF3A-4A0C-85DC-889462DB1DAF}"/>
              </a:ext>
            </a:extLst>
          </p:cNvPr>
          <p:cNvSpPr>
            <a:spLocks noGrp="1"/>
          </p:cNvSpPr>
          <p:nvPr/>
        </p:nvSpPr>
        <p:spPr>
          <a:xfrm>
            <a:off x="762000" y="2209800"/>
            <a:ext cx="704850" cy="361950"/>
          </a:xfrm>
          <a:prstGeom prst="roundRect">
            <a:avLst>
              <a:gd name="adj" fmla="val 26316"/>
            </a:avLst>
          </a:prstGeom>
          <a:solidFill>
            <a:srgbClr val="123A63"/>
          </a:solidFill>
          <a:ln w="0">
            <a:noFill/>
            <a:prstDash val="solid"/>
          </a:ln>
        </p:spPr>
        <p:txBody>
          <a:bodyPr lIns="76200" tIns="38100" rIns="76200" bIns="38100" anchor="ctr">
            <a:normAutofit/>
          </a:bodyPr>
          <a:lstStyle/>
          <a:p>
            <a:pPr algn="ctr">
              <a:lnSpc>
                <a:spcPct val="104000"/>
              </a:lnSpc>
              <a:buNone/>
              <a:defRPr sz="1350" b="1">
                <a:solidFill>
                  <a:srgbClr val="F8FAFC"/>
                </a:solidFill>
                <a:latin typeface="Noto Sans"/>
                <a:ea typeface="Noto Sans"/>
                <a:cs typeface="Noto Sans"/>
              </a:defRPr>
            </a:pPr>
            <a:r>
              <a:rPr sz="1350" b="1">
                <a:solidFill>
                  <a:srgbClr val="F8FAFC"/>
                </a:solidFill>
                <a:latin typeface="Noto Sans"/>
                <a:ea typeface="Noto Sans"/>
                <a:cs typeface="Noto Sans"/>
              </a:rPr>
              <a:t>M1</a:t>
            </a:r>
          </a:p>
        </p:txBody>
      </p:sp>
      <p:sp>
        <p:nvSpPr>
          <p:cNvPr id="8" name="Rectangle 7">
            <a:extLst>
              <a:ext uri="{FF2B5EF4-FFF2-40B4-BE49-F238E27FC236}">
                <a16:creationId xmlns:a16="http://schemas.microsoft.com/office/drawing/2014/main" id="{374CD4CA-D131-47D8-8837-7B6AB62FC3D5}"/>
              </a:ext>
            </a:extLst>
          </p:cNvPr>
          <p:cNvSpPr>
            <a:spLocks noGrp="1"/>
          </p:cNvSpPr>
          <p:nvPr/>
        </p:nvSpPr>
        <p:spPr>
          <a:xfrm>
            <a:off x="762000" y="2800350"/>
            <a:ext cx="2114550" cy="590550"/>
          </a:xfrm>
          <a:prstGeom prst="rect">
            <a:avLst/>
          </a:prstGeom>
          <a:noFill/>
          <a:ln w="0">
            <a:noFill/>
            <a:prstDash val="solid"/>
          </a:ln>
        </p:spPr>
        <p:txBody>
          <a:bodyPr lIns="76200" tIns="38100" rIns="76200" bIns="38100" anchor="t">
            <a:normAutofit/>
          </a:bodyPr>
          <a:lstStyle/>
          <a:p>
            <a:pPr algn="l">
              <a:lnSpc>
                <a:spcPct val="104000"/>
              </a:lnSpc>
              <a:buNone/>
              <a:defRPr sz="1800" b="1">
                <a:solidFill>
                  <a:srgbClr val="0F172A"/>
                </a:solidFill>
                <a:latin typeface="Noto Sans"/>
                <a:ea typeface="Noto Sans"/>
                <a:cs typeface="Noto Sans"/>
              </a:defRPr>
            </a:pPr>
            <a:r>
              <a:rPr sz="1800" b="1">
                <a:solidFill>
                  <a:srgbClr val="0F172A"/>
                </a:solidFill>
                <a:latin typeface="Noto Sans"/>
                <a:ea typeface="Noto Sans"/>
                <a:cs typeface="Noto Sans"/>
              </a:rPr>
              <a:t>Datu imports</a:t>
            </a:r>
          </a:p>
        </p:txBody>
      </p:sp>
      <p:sp>
        <p:nvSpPr>
          <p:cNvPr id="9" name="Rectangle 8">
            <a:extLst>
              <a:ext uri="{FF2B5EF4-FFF2-40B4-BE49-F238E27FC236}">
                <a16:creationId xmlns:a16="http://schemas.microsoft.com/office/drawing/2014/main" id="{EFB24B42-6C4F-4752-ACC1-C9C581F66319}"/>
              </a:ext>
            </a:extLst>
          </p:cNvPr>
          <p:cNvSpPr>
            <a:spLocks noGrp="1"/>
          </p:cNvSpPr>
          <p:nvPr/>
        </p:nvSpPr>
        <p:spPr>
          <a:xfrm>
            <a:off x="762000" y="3562350"/>
            <a:ext cx="2114550" cy="1009650"/>
          </a:xfrm>
          <a:prstGeom prst="rect">
            <a:avLst/>
          </a:prstGeom>
          <a:noFill/>
          <a:ln w="0">
            <a:noFill/>
            <a:prstDash val="solid"/>
          </a:ln>
        </p:spPr>
        <p:txBody>
          <a:bodyPr lIns="76200" tIns="38100" rIns="76200" bIns="38100" anchor="t">
            <a:normAutofit/>
          </a:bodyPr>
          <a:lstStyle/>
          <a:p>
            <a:pPr algn="l">
              <a:lnSpc>
                <a:spcPct val="115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CSV/XLSX • kartēšana</a:t>
            </a:r>
          </a:p>
          <a:p>
            <a:pPr algn="l">
              <a:lnSpc>
                <a:spcPct val="115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normalizācija • validācija</a:t>
            </a:r>
          </a:p>
        </p:txBody>
      </p:sp>
      <p:sp>
        <p:nvSpPr>
          <p:cNvPr id="10" name="Rectangle 9">
            <a:extLst>
              <a:ext uri="{FF2B5EF4-FFF2-40B4-BE49-F238E27FC236}">
                <a16:creationId xmlns:a16="http://schemas.microsoft.com/office/drawing/2014/main" id="{1273904A-A47A-4240-BCE9-0BE8BE7D8148}"/>
              </a:ext>
            </a:extLst>
          </p:cNvPr>
          <p:cNvSpPr>
            <a:spLocks noGrp="1"/>
          </p:cNvSpPr>
          <p:nvPr/>
        </p:nvSpPr>
        <p:spPr>
          <a:xfrm>
            <a:off x="762000" y="4743450"/>
            <a:ext cx="1143000" cy="219075"/>
          </a:xfrm>
          <a:prstGeom prst="rect">
            <a:avLst/>
          </a:prstGeom>
          <a:noFill/>
          <a:ln w="0">
            <a:noFill/>
            <a:prstDash val="solid"/>
          </a:ln>
        </p:spPr>
        <p:txBody>
          <a:bodyPr lIns="76200" tIns="38100" rIns="76200" bIns="38100" anchor="ctr">
            <a:normAutofit fontScale="92456"/>
          </a:bodyPr>
          <a:lstStyle/>
          <a:p>
            <a:pPr algn="l">
              <a:lnSpc>
                <a:spcPct val="104000"/>
              </a:lnSpc>
              <a:buNone/>
              <a:defRPr sz="975" b="1">
                <a:solidFill>
                  <a:srgbClr val="0EA5A4"/>
                </a:solidFill>
                <a:latin typeface="Noto Sans"/>
                <a:ea typeface="Noto Sans"/>
                <a:cs typeface="Noto Sans"/>
              </a:defRPr>
            </a:pPr>
            <a:r>
              <a:rPr sz="975" b="1">
                <a:solidFill>
                  <a:srgbClr val="0EA5A4"/>
                </a:solidFill>
                <a:latin typeface="Noto Sans"/>
                <a:ea typeface="Noto Sans"/>
                <a:cs typeface="Noto Sans"/>
              </a:rPr>
              <a:t>REALIZĒTS</a:t>
            </a:r>
          </a:p>
        </p:txBody>
      </p:sp>
      <p:sp>
        <p:nvSpPr>
          <p:cNvPr id="11" name="Rounded Rectangle 10">
            <a:extLst>
              <a:ext uri="{FF2B5EF4-FFF2-40B4-BE49-F238E27FC236}">
                <a16:creationId xmlns:a16="http://schemas.microsoft.com/office/drawing/2014/main" id="{7CF5B768-0D25-4396-AF07-90836EB336DE}"/>
              </a:ext>
            </a:extLst>
          </p:cNvPr>
          <p:cNvSpPr>
            <a:spLocks noGrp="1"/>
          </p:cNvSpPr>
          <p:nvPr/>
        </p:nvSpPr>
        <p:spPr>
          <a:xfrm>
            <a:off x="3362325" y="2057400"/>
            <a:ext cx="2457450" cy="3076575"/>
          </a:xfrm>
          <a:prstGeom prst="roundRect">
            <a:avLst>
              <a:gd name="adj" fmla="val 5814"/>
            </a:avLst>
          </a:prstGeom>
          <a:solidFill>
            <a:srgbClr val="F1F5F9"/>
          </a:solidFill>
          <a:ln w="9525">
            <a:solidFill>
              <a:srgbClr val="C7D7E2"/>
            </a:solidFill>
            <a:prstDash val="solid"/>
          </a:ln>
        </p:spPr>
        <p:txBody>
          <a:bodyPr/>
          <a:lstStyle/>
          <a:p>
            <a:endParaRPr lang="en-US"/>
          </a:p>
        </p:txBody>
      </p:sp>
      <p:sp>
        <p:nvSpPr>
          <p:cNvPr id="12" name="Rounded Rectangle 11">
            <a:extLst>
              <a:ext uri="{FF2B5EF4-FFF2-40B4-BE49-F238E27FC236}">
                <a16:creationId xmlns:a16="http://schemas.microsoft.com/office/drawing/2014/main" id="{4C2AAE5A-B492-4C07-A2FF-7DECB342AE83}"/>
              </a:ext>
            </a:extLst>
          </p:cNvPr>
          <p:cNvSpPr>
            <a:spLocks noGrp="1"/>
          </p:cNvSpPr>
          <p:nvPr/>
        </p:nvSpPr>
        <p:spPr>
          <a:xfrm>
            <a:off x="3533775" y="2209800"/>
            <a:ext cx="704850" cy="361950"/>
          </a:xfrm>
          <a:prstGeom prst="roundRect">
            <a:avLst>
              <a:gd name="adj" fmla="val 26316"/>
            </a:avLst>
          </a:prstGeom>
          <a:solidFill>
            <a:srgbClr val="123A63"/>
          </a:solidFill>
          <a:ln w="0">
            <a:noFill/>
            <a:prstDash val="solid"/>
          </a:ln>
        </p:spPr>
        <p:txBody>
          <a:bodyPr lIns="76200" tIns="38100" rIns="76200" bIns="38100" anchor="ctr">
            <a:normAutofit/>
          </a:bodyPr>
          <a:lstStyle/>
          <a:p>
            <a:pPr algn="ctr">
              <a:lnSpc>
                <a:spcPct val="104000"/>
              </a:lnSpc>
              <a:buNone/>
              <a:defRPr sz="1350" b="1">
                <a:solidFill>
                  <a:srgbClr val="F8FAFC"/>
                </a:solidFill>
                <a:latin typeface="Noto Sans"/>
                <a:ea typeface="Noto Sans"/>
                <a:cs typeface="Noto Sans"/>
              </a:defRPr>
            </a:pPr>
            <a:r>
              <a:rPr sz="1350" b="1">
                <a:solidFill>
                  <a:srgbClr val="F8FAFC"/>
                </a:solidFill>
                <a:latin typeface="Noto Sans"/>
                <a:ea typeface="Noto Sans"/>
                <a:cs typeface="Noto Sans"/>
              </a:rPr>
              <a:t>M2</a:t>
            </a:r>
          </a:p>
        </p:txBody>
      </p:sp>
      <p:sp>
        <p:nvSpPr>
          <p:cNvPr id="13" name="Rectangle 12">
            <a:extLst>
              <a:ext uri="{FF2B5EF4-FFF2-40B4-BE49-F238E27FC236}">
                <a16:creationId xmlns:a16="http://schemas.microsoft.com/office/drawing/2014/main" id="{582A7319-6A48-45F2-9774-C860109AFE09}"/>
              </a:ext>
            </a:extLst>
          </p:cNvPr>
          <p:cNvSpPr>
            <a:spLocks noGrp="1"/>
          </p:cNvSpPr>
          <p:nvPr/>
        </p:nvSpPr>
        <p:spPr>
          <a:xfrm>
            <a:off x="3533775" y="2800350"/>
            <a:ext cx="2114550" cy="590550"/>
          </a:xfrm>
          <a:prstGeom prst="rect">
            <a:avLst/>
          </a:prstGeom>
          <a:noFill/>
          <a:ln w="0">
            <a:noFill/>
            <a:prstDash val="solid"/>
          </a:ln>
        </p:spPr>
        <p:txBody>
          <a:bodyPr lIns="76200" tIns="38100" rIns="76200" bIns="38100" anchor="t">
            <a:normAutofit fontScale="92827"/>
          </a:bodyPr>
          <a:lstStyle/>
          <a:p>
            <a:pPr algn="l">
              <a:lnSpc>
                <a:spcPct val="104000"/>
              </a:lnSpc>
              <a:buNone/>
              <a:defRPr sz="1800" b="1">
                <a:solidFill>
                  <a:srgbClr val="0F172A"/>
                </a:solidFill>
                <a:latin typeface="Noto Sans"/>
                <a:ea typeface="Noto Sans"/>
                <a:cs typeface="Noto Sans"/>
              </a:defRPr>
            </a:pPr>
            <a:r>
              <a:rPr sz="1800" b="1">
                <a:solidFill>
                  <a:srgbClr val="0F172A"/>
                </a:solidFill>
                <a:latin typeface="Noto Sans"/>
                <a:ea typeface="Noto Sans"/>
                <a:cs typeface="Noto Sans"/>
              </a:rPr>
              <a:t>Review un kvalitāte</a:t>
            </a:r>
          </a:p>
        </p:txBody>
      </p:sp>
      <p:sp>
        <p:nvSpPr>
          <p:cNvPr id="14" name="Rectangle 13">
            <a:extLst>
              <a:ext uri="{FF2B5EF4-FFF2-40B4-BE49-F238E27FC236}">
                <a16:creationId xmlns:a16="http://schemas.microsoft.com/office/drawing/2014/main" id="{A2916B47-8488-4086-9C61-C3FC4D68E085}"/>
              </a:ext>
            </a:extLst>
          </p:cNvPr>
          <p:cNvSpPr>
            <a:spLocks noGrp="1"/>
          </p:cNvSpPr>
          <p:nvPr/>
        </p:nvSpPr>
        <p:spPr>
          <a:xfrm>
            <a:off x="3533775" y="3562350"/>
            <a:ext cx="2114550" cy="1009650"/>
          </a:xfrm>
          <a:prstGeom prst="rect">
            <a:avLst/>
          </a:prstGeom>
          <a:noFill/>
          <a:ln w="0">
            <a:noFill/>
            <a:prstDash val="solid"/>
          </a:ln>
        </p:spPr>
        <p:txBody>
          <a:bodyPr lIns="76200" tIns="38100" rIns="76200" bIns="38100" anchor="t">
            <a:normAutofit/>
          </a:bodyPr>
          <a:lstStyle/>
          <a:p>
            <a:pPr algn="l">
              <a:lnSpc>
                <a:spcPct val="115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korekcijas • revalidācija</a:t>
            </a:r>
          </a:p>
          <a:p>
            <a:pPr algn="l">
              <a:lnSpc>
                <a:spcPct val="115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learned mappings • audit trail</a:t>
            </a:r>
          </a:p>
        </p:txBody>
      </p:sp>
      <p:sp>
        <p:nvSpPr>
          <p:cNvPr id="15" name="Rectangle 14">
            <a:extLst>
              <a:ext uri="{FF2B5EF4-FFF2-40B4-BE49-F238E27FC236}">
                <a16:creationId xmlns:a16="http://schemas.microsoft.com/office/drawing/2014/main" id="{56615ADA-93F4-416E-8D36-F488BC69129C}"/>
              </a:ext>
            </a:extLst>
          </p:cNvPr>
          <p:cNvSpPr>
            <a:spLocks noGrp="1"/>
          </p:cNvSpPr>
          <p:nvPr/>
        </p:nvSpPr>
        <p:spPr>
          <a:xfrm>
            <a:off x="3533775" y="4743450"/>
            <a:ext cx="1143000" cy="219075"/>
          </a:xfrm>
          <a:prstGeom prst="rect">
            <a:avLst/>
          </a:prstGeom>
          <a:noFill/>
          <a:ln w="0">
            <a:noFill/>
            <a:prstDash val="solid"/>
          </a:ln>
        </p:spPr>
        <p:txBody>
          <a:bodyPr lIns="76200" tIns="38100" rIns="76200" bIns="38100" anchor="ctr">
            <a:normAutofit fontScale="92456"/>
          </a:bodyPr>
          <a:lstStyle/>
          <a:p>
            <a:pPr algn="l">
              <a:lnSpc>
                <a:spcPct val="104000"/>
              </a:lnSpc>
              <a:buNone/>
              <a:defRPr sz="975" b="1">
                <a:solidFill>
                  <a:srgbClr val="0EA5A4"/>
                </a:solidFill>
                <a:latin typeface="Noto Sans"/>
                <a:ea typeface="Noto Sans"/>
                <a:cs typeface="Noto Sans"/>
              </a:defRPr>
            </a:pPr>
            <a:r>
              <a:rPr sz="975" b="1">
                <a:solidFill>
                  <a:srgbClr val="0EA5A4"/>
                </a:solidFill>
                <a:latin typeface="Noto Sans"/>
                <a:ea typeface="Noto Sans"/>
                <a:cs typeface="Noto Sans"/>
              </a:rPr>
              <a:t>REALIZĒTS</a:t>
            </a:r>
          </a:p>
        </p:txBody>
      </p:sp>
      <p:sp>
        <p:nvSpPr>
          <p:cNvPr id="16" name="Rounded Rectangle 15">
            <a:extLst>
              <a:ext uri="{FF2B5EF4-FFF2-40B4-BE49-F238E27FC236}">
                <a16:creationId xmlns:a16="http://schemas.microsoft.com/office/drawing/2014/main" id="{F02A006B-B8A6-4BA8-BCA7-129BCB49F7F5}"/>
              </a:ext>
            </a:extLst>
          </p:cNvPr>
          <p:cNvSpPr>
            <a:spLocks noGrp="1"/>
          </p:cNvSpPr>
          <p:nvPr/>
        </p:nvSpPr>
        <p:spPr>
          <a:xfrm>
            <a:off x="6134100" y="2057400"/>
            <a:ext cx="2457450" cy="3076575"/>
          </a:xfrm>
          <a:prstGeom prst="roundRect">
            <a:avLst>
              <a:gd name="adj" fmla="val 5814"/>
            </a:avLst>
          </a:prstGeom>
          <a:solidFill>
            <a:srgbClr val="F1F5F9"/>
          </a:solidFill>
          <a:ln w="9525">
            <a:solidFill>
              <a:srgbClr val="C7D7E2"/>
            </a:solidFill>
            <a:prstDash val="solid"/>
          </a:ln>
        </p:spPr>
        <p:txBody>
          <a:bodyPr/>
          <a:lstStyle/>
          <a:p>
            <a:endParaRPr lang="en-US"/>
          </a:p>
        </p:txBody>
      </p:sp>
      <p:sp>
        <p:nvSpPr>
          <p:cNvPr id="17" name="Rounded Rectangle 16">
            <a:extLst>
              <a:ext uri="{FF2B5EF4-FFF2-40B4-BE49-F238E27FC236}">
                <a16:creationId xmlns:a16="http://schemas.microsoft.com/office/drawing/2014/main" id="{D5537735-45BE-436D-B9E8-2598F746243A}"/>
              </a:ext>
            </a:extLst>
          </p:cNvPr>
          <p:cNvSpPr>
            <a:spLocks noGrp="1"/>
          </p:cNvSpPr>
          <p:nvPr/>
        </p:nvSpPr>
        <p:spPr>
          <a:xfrm>
            <a:off x="6305550" y="2209800"/>
            <a:ext cx="704850" cy="361950"/>
          </a:xfrm>
          <a:prstGeom prst="roundRect">
            <a:avLst>
              <a:gd name="adj" fmla="val 26316"/>
            </a:avLst>
          </a:prstGeom>
          <a:solidFill>
            <a:srgbClr val="123A63"/>
          </a:solidFill>
          <a:ln w="0">
            <a:noFill/>
            <a:prstDash val="solid"/>
          </a:ln>
        </p:spPr>
        <p:txBody>
          <a:bodyPr lIns="76200" tIns="38100" rIns="76200" bIns="38100" anchor="ctr">
            <a:normAutofit/>
          </a:bodyPr>
          <a:lstStyle/>
          <a:p>
            <a:pPr algn="ctr">
              <a:lnSpc>
                <a:spcPct val="104000"/>
              </a:lnSpc>
              <a:buNone/>
              <a:defRPr sz="1350" b="1">
                <a:solidFill>
                  <a:srgbClr val="F8FAFC"/>
                </a:solidFill>
                <a:latin typeface="Noto Sans"/>
                <a:ea typeface="Noto Sans"/>
                <a:cs typeface="Noto Sans"/>
              </a:defRPr>
            </a:pPr>
            <a:r>
              <a:rPr sz="1350" b="1">
                <a:solidFill>
                  <a:srgbClr val="F8FAFC"/>
                </a:solidFill>
                <a:latin typeface="Noto Sans"/>
                <a:ea typeface="Noto Sans"/>
                <a:cs typeface="Noto Sans"/>
              </a:rPr>
              <a:t>M3</a:t>
            </a:r>
          </a:p>
        </p:txBody>
      </p:sp>
      <p:sp>
        <p:nvSpPr>
          <p:cNvPr id="18" name="Rectangle 17">
            <a:extLst>
              <a:ext uri="{FF2B5EF4-FFF2-40B4-BE49-F238E27FC236}">
                <a16:creationId xmlns:a16="http://schemas.microsoft.com/office/drawing/2014/main" id="{FEE6F41F-C2E4-411D-A787-C5F5831A33F9}"/>
              </a:ext>
            </a:extLst>
          </p:cNvPr>
          <p:cNvSpPr>
            <a:spLocks noGrp="1"/>
          </p:cNvSpPr>
          <p:nvPr/>
        </p:nvSpPr>
        <p:spPr>
          <a:xfrm>
            <a:off x="6305550" y="2800350"/>
            <a:ext cx="2114550" cy="590550"/>
          </a:xfrm>
          <a:prstGeom prst="rect">
            <a:avLst/>
          </a:prstGeom>
          <a:noFill/>
          <a:ln w="0">
            <a:noFill/>
            <a:prstDash val="solid"/>
          </a:ln>
        </p:spPr>
        <p:txBody>
          <a:bodyPr lIns="76200" tIns="38100" rIns="76200" bIns="38100" anchor="t">
            <a:normAutofit fontScale="90144"/>
          </a:bodyPr>
          <a:lstStyle/>
          <a:p>
            <a:pPr algn="l">
              <a:lnSpc>
                <a:spcPct val="104000"/>
              </a:lnSpc>
              <a:buNone/>
              <a:defRPr sz="1800" b="1">
                <a:solidFill>
                  <a:srgbClr val="0F172A"/>
                </a:solidFill>
                <a:latin typeface="Noto Sans"/>
                <a:ea typeface="Noto Sans"/>
                <a:cs typeface="Noto Sans"/>
              </a:defRPr>
            </a:pPr>
            <a:r>
              <a:rPr sz="1800" b="1">
                <a:solidFill>
                  <a:srgbClr val="0F172A"/>
                </a:solidFill>
                <a:latin typeface="Noto Sans"/>
                <a:ea typeface="Noto Sans"/>
                <a:cs typeface="Noto Sans"/>
              </a:rPr>
              <a:t>Dokumentu inteliģence</a:t>
            </a:r>
          </a:p>
        </p:txBody>
      </p:sp>
      <p:sp>
        <p:nvSpPr>
          <p:cNvPr id="19" name="Rectangle 18">
            <a:extLst>
              <a:ext uri="{FF2B5EF4-FFF2-40B4-BE49-F238E27FC236}">
                <a16:creationId xmlns:a16="http://schemas.microsoft.com/office/drawing/2014/main" id="{728CFFAB-635F-4272-924F-19814E52FAD9}"/>
              </a:ext>
            </a:extLst>
          </p:cNvPr>
          <p:cNvSpPr>
            <a:spLocks noGrp="1"/>
          </p:cNvSpPr>
          <p:nvPr/>
        </p:nvSpPr>
        <p:spPr>
          <a:xfrm>
            <a:off x="6305550" y="3562350"/>
            <a:ext cx="2114550" cy="1009650"/>
          </a:xfrm>
          <a:prstGeom prst="rect">
            <a:avLst/>
          </a:prstGeom>
          <a:noFill/>
          <a:ln w="0">
            <a:noFill/>
            <a:prstDash val="solid"/>
          </a:ln>
        </p:spPr>
        <p:txBody>
          <a:bodyPr lIns="76200" tIns="38100" rIns="76200" bIns="38100" anchor="t">
            <a:normAutofit/>
          </a:bodyPr>
          <a:lstStyle/>
          <a:p>
            <a:pPr algn="l">
              <a:lnSpc>
                <a:spcPct val="115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Invoice + B/L • evidence</a:t>
            </a:r>
          </a:p>
          <a:p>
            <a:pPr algn="l">
              <a:lnSpc>
                <a:spcPct val="115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confidence • approval • provenance</a:t>
            </a:r>
          </a:p>
        </p:txBody>
      </p:sp>
      <p:sp>
        <p:nvSpPr>
          <p:cNvPr id="20" name="Rectangle 19">
            <a:extLst>
              <a:ext uri="{FF2B5EF4-FFF2-40B4-BE49-F238E27FC236}">
                <a16:creationId xmlns:a16="http://schemas.microsoft.com/office/drawing/2014/main" id="{A83C1CD5-07BC-4164-95C5-E544BC7F35AF}"/>
              </a:ext>
            </a:extLst>
          </p:cNvPr>
          <p:cNvSpPr>
            <a:spLocks noGrp="1"/>
          </p:cNvSpPr>
          <p:nvPr/>
        </p:nvSpPr>
        <p:spPr>
          <a:xfrm>
            <a:off x="6305550" y="4743450"/>
            <a:ext cx="1143000" cy="219075"/>
          </a:xfrm>
          <a:prstGeom prst="rect">
            <a:avLst/>
          </a:prstGeom>
          <a:noFill/>
          <a:ln w="0">
            <a:noFill/>
            <a:prstDash val="solid"/>
          </a:ln>
        </p:spPr>
        <p:txBody>
          <a:bodyPr lIns="76200" tIns="38100" rIns="76200" bIns="38100" anchor="ctr">
            <a:normAutofit fontScale="92456"/>
          </a:bodyPr>
          <a:lstStyle/>
          <a:p>
            <a:pPr algn="l">
              <a:lnSpc>
                <a:spcPct val="104000"/>
              </a:lnSpc>
              <a:buNone/>
              <a:defRPr sz="975" b="1">
                <a:solidFill>
                  <a:srgbClr val="0EA5A4"/>
                </a:solidFill>
                <a:latin typeface="Noto Sans"/>
                <a:ea typeface="Noto Sans"/>
                <a:cs typeface="Noto Sans"/>
              </a:defRPr>
            </a:pPr>
            <a:r>
              <a:rPr sz="975" b="1">
                <a:solidFill>
                  <a:srgbClr val="0EA5A4"/>
                </a:solidFill>
                <a:latin typeface="Noto Sans"/>
                <a:ea typeface="Noto Sans"/>
                <a:cs typeface="Noto Sans"/>
              </a:rPr>
              <a:t>REALIZĒTS</a:t>
            </a:r>
          </a:p>
        </p:txBody>
      </p:sp>
      <p:sp>
        <p:nvSpPr>
          <p:cNvPr id="21" name="Rounded Rectangle 20">
            <a:extLst>
              <a:ext uri="{FF2B5EF4-FFF2-40B4-BE49-F238E27FC236}">
                <a16:creationId xmlns:a16="http://schemas.microsoft.com/office/drawing/2014/main" id="{EF0152DB-90DA-4F6B-B566-A1AAD7034A92}"/>
              </a:ext>
            </a:extLst>
          </p:cNvPr>
          <p:cNvSpPr>
            <a:spLocks noGrp="1"/>
          </p:cNvSpPr>
          <p:nvPr/>
        </p:nvSpPr>
        <p:spPr>
          <a:xfrm>
            <a:off x="8905875" y="2057400"/>
            <a:ext cx="2457450" cy="3076575"/>
          </a:xfrm>
          <a:prstGeom prst="roundRect">
            <a:avLst>
              <a:gd name="adj" fmla="val 5814"/>
            </a:avLst>
          </a:prstGeom>
          <a:solidFill>
            <a:srgbClr val="071525"/>
          </a:solidFill>
          <a:ln w="9525">
            <a:solidFill>
              <a:srgbClr val="071525"/>
            </a:solidFill>
            <a:prstDash val="solid"/>
          </a:ln>
        </p:spPr>
        <p:txBody>
          <a:bodyPr/>
          <a:lstStyle/>
          <a:p>
            <a:endParaRPr lang="en-US"/>
          </a:p>
        </p:txBody>
      </p:sp>
      <p:sp>
        <p:nvSpPr>
          <p:cNvPr id="22" name="Rounded Rectangle 21">
            <a:extLst>
              <a:ext uri="{FF2B5EF4-FFF2-40B4-BE49-F238E27FC236}">
                <a16:creationId xmlns:a16="http://schemas.microsoft.com/office/drawing/2014/main" id="{6F5C32C7-91E1-4168-BC6B-F35DF4764D8C}"/>
              </a:ext>
            </a:extLst>
          </p:cNvPr>
          <p:cNvSpPr>
            <a:spLocks noGrp="1"/>
          </p:cNvSpPr>
          <p:nvPr/>
        </p:nvSpPr>
        <p:spPr>
          <a:xfrm>
            <a:off x="9077325" y="2209800"/>
            <a:ext cx="704850" cy="361950"/>
          </a:xfrm>
          <a:prstGeom prst="roundRect">
            <a:avLst>
              <a:gd name="adj" fmla="val 26316"/>
            </a:avLst>
          </a:prstGeom>
          <a:solidFill>
            <a:srgbClr val="38BDF8"/>
          </a:solidFill>
          <a:ln w="0">
            <a:noFill/>
            <a:prstDash val="solid"/>
          </a:ln>
        </p:spPr>
        <p:txBody>
          <a:bodyPr lIns="76200" tIns="38100" rIns="76200" bIns="38100" anchor="ctr">
            <a:normAutofit/>
          </a:bodyPr>
          <a:lstStyle/>
          <a:p>
            <a:pPr algn="ctr">
              <a:lnSpc>
                <a:spcPct val="104000"/>
              </a:lnSpc>
              <a:buNone/>
              <a:defRPr sz="1350" b="1">
                <a:solidFill>
                  <a:srgbClr val="071525"/>
                </a:solidFill>
                <a:latin typeface="Noto Sans"/>
                <a:ea typeface="Noto Sans"/>
                <a:cs typeface="Noto Sans"/>
              </a:defRPr>
            </a:pPr>
            <a:r>
              <a:rPr sz="1350" b="1">
                <a:solidFill>
                  <a:srgbClr val="071525"/>
                </a:solidFill>
                <a:latin typeface="Noto Sans"/>
                <a:ea typeface="Noto Sans"/>
                <a:cs typeface="Noto Sans"/>
              </a:rPr>
              <a:t>M4A</a:t>
            </a:r>
          </a:p>
        </p:txBody>
      </p:sp>
      <p:sp>
        <p:nvSpPr>
          <p:cNvPr id="23" name="Rectangle 22">
            <a:extLst>
              <a:ext uri="{FF2B5EF4-FFF2-40B4-BE49-F238E27FC236}">
                <a16:creationId xmlns:a16="http://schemas.microsoft.com/office/drawing/2014/main" id="{795C2E49-14FA-4112-8194-D5A99E3E4297}"/>
              </a:ext>
            </a:extLst>
          </p:cNvPr>
          <p:cNvSpPr>
            <a:spLocks noGrp="1"/>
          </p:cNvSpPr>
          <p:nvPr/>
        </p:nvSpPr>
        <p:spPr>
          <a:xfrm>
            <a:off x="9077325" y="2800350"/>
            <a:ext cx="2114550" cy="590550"/>
          </a:xfrm>
          <a:prstGeom prst="rect">
            <a:avLst/>
          </a:prstGeom>
          <a:noFill/>
          <a:ln w="0">
            <a:noFill/>
            <a:prstDash val="solid"/>
          </a:ln>
        </p:spPr>
        <p:txBody>
          <a:bodyPr lIns="76200" tIns="38100" rIns="76200" bIns="38100" anchor="t">
            <a:normAutofit fontScale="90144"/>
          </a:bodyPr>
          <a:lstStyle/>
          <a:p>
            <a:pPr algn="l">
              <a:lnSpc>
                <a:spcPct val="104000"/>
              </a:lnSpc>
              <a:buNone/>
              <a:defRPr sz="1800" b="1">
                <a:solidFill>
                  <a:srgbClr val="F8FAFC"/>
                </a:solidFill>
                <a:latin typeface="Noto Sans"/>
                <a:ea typeface="Noto Sans"/>
                <a:cs typeface="Noto Sans"/>
              </a:defRPr>
            </a:pPr>
            <a:r>
              <a:rPr sz="1800" b="1">
                <a:solidFill>
                  <a:srgbClr val="F8FAFC"/>
                </a:solidFill>
                <a:latin typeface="Noto Sans"/>
                <a:ea typeface="Noto Sans"/>
                <a:cs typeface="Noto Sans"/>
              </a:rPr>
              <a:t>Deterministiska analītika</a:t>
            </a:r>
          </a:p>
        </p:txBody>
      </p:sp>
      <p:sp>
        <p:nvSpPr>
          <p:cNvPr id="24" name="Rectangle 23">
            <a:extLst>
              <a:ext uri="{FF2B5EF4-FFF2-40B4-BE49-F238E27FC236}">
                <a16:creationId xmlns:a16="http://schemas.microsoft.com/office/drawing/2014/main" id="{5F940DD3-F245-46DC-B626-4D6037B34DA7}"/>
              </a:ext>
            </a:extLst>
          </p:cNvPr>
          <p:cNvSpPr>
            <a:spLocks noGrp="1"/>
          </p:cNvSpPr>
          <p:nvPr/>
        </p:nvSpPr>
        <p:spPr>
          <a:xfrm>
            <a:off x="9077325" y="3562350"/>
            <a:ext cx="2114550" cy="1009650"/>
          </a:xfrm>
          <a:prstGeom prst="rect">
            <a:avLst/>
          </a:prstGeom>
          <a:noFill/>
          <a:ln w="0">
            <a:noFill/>
            <a:prstDash val="solid"/>
          </a:ln>
        </p:spPr>
        <p:txBody>
          <a:bodyPr lIns="76200" tIns="38100" rIns="76200" bIns="38100" anchor="t">
            <a:normAutofit/>
          </a:bodyPr>
          <a:lstStyle/>
          <a:p>
            <a:pPr algn="l">
              <a:lnSpc>
                <a:spcPct val="115000"/>
              </a:lnSpc>
              <a:buNone/>
              <a:defRPr sz="1350" b="0">
                <a:solidFill>
                  <a:srgbClr val="CBD5E1"/>
                </a:solidFill>
                <a:latin typeface="Noto Sans"/>
                <a:ea typeface="Noto Sans"/>
                <a:cs typeface="Noto Sans"/>
              </a:defRPr>
            </a:pPr>
            <a:r>
              <a:rPr sz="1350" b="0">
                <a:solidFill>
                  <a:srgbClr val="CBD5E1"/>
                </a:solidFill>
                <a:latin typeface="Noto Sans"/>
                <a:ea typeface="Noto Sans"/>
                <a:cs typeface="Noto Sans"/>
              </a:rPr>
              <a:t>KPI • trendi • breakdowns</a:t>
            </a:r>
          </a:p>
          <a:p>
            <a:pPr algn="l">
              <a:lnSpc>
                <a:spcPct val="115000"/>
              </a:lnSpc>
              <a:buNone/>
              <a:defRPr sz="1350" b="0">
                <a:solidFill>
                  <a:srgbClr val="CBD5E1"/>
                </a:solidFill>
                <a:latin typeface="Noto Sans"/>
                <a:ea typeface="Noto Sans"/>
                <a:cs typeface="Noto Sans"/>
              </a:defRPr>
            </a:pPr>
            <a:r>
              <a:rPr sz="1350" b="0">
                <a:solidFill>
                  <a:srgbClr val="CBD5E1"/>
                </a:solidFill>
                <a:latin typeface="Noto Sans"/>
                <a:ea typeface="Noto Sans"/>
                <a:cs typeface="Noto Sans"/>
              </a:rPr>
              <a:t>insights • drill-down</a:t>
            </a:r>
          </a:p>
        </p:txBody>
      </p:sp>
      <p:sp>
        <p:nvSpPr>
          <p:cNvPr id="25" name="Rectangle 24">
            <a:extLst>
              <a:ext uri="{FF2B5EF4-FFF2-40B4-BE49-F238E27FC236}">
                <a16:creationId xmlns:a16="http://schemas.microsoft.com/office/drawing/2014/main" id="{5CCA0DB5-3222-4838-BF98-1E986B759E73}"/>
              </a:ext>
            </a:extLst>
          </p:cNvPr>
          <p:cNvSpPr>
            <a:spLocks noGrp="1"/>
          </p:cNvSpPr>
          <p:nvPr/>
        </p:nvSpPr>
        <p:spPr>
          <a:xfrm>
            <a:off x="9077325" y="4743450"/>
            <a:ext cx="1143000" cy="219075"/>
          </a:xfrm>
          <a:prstGeom prst="rect">
            <a:avLst/>
          </a:prstGeom>
          <a:noFill/>
          <a:ln w="0">
            <a:noFill/>
            <a:prstDash val="solid"/>
          </a:ln>
        </p:spPr>
        <p:txBody>
          <a:bodyPr lIns="76200" tIns="38100" rIns="76200" bIns="38100" anchor="ctr">
            <a:normAutofit fontScale="92456"/>
          </a:bodyPr>
          <a:lstStyle/>
          <a:p>
            <a:pPr algn="l">
              <a:lnSpc>
                <a:spcPct val="104000"/>
              </a:lnSpc>
              <a:buNone/>
              <a:defRPr sz="975" b="1">
                <a:solidFill>
                  <a:srgbClr val="38BDF8"/>
                </a:solidFill>
                <a:latin typeface="Noto Sans"/>
                <a:ea typeface="Noto Sans"/>
                <a:cs typeface="Noto Sans"/>
              </a:defRPr>
            </a:pPr>
            <a:r>
              <a:rPr sz="975" b="1">
                <a:solidFill>
                  <a:srgbClr val="38BDF8"/>
                </a:solidFill>
                <a:latin typeface="Noto Sans"/>
                <a:ea typeface="Noto Sans"/>
                <a:cs typeface="Noto Sans"/>
              </a:rPr>
              <a:t>REALIZĒTS</a:t>
            </a:r>
          </a:p>
        </p:txBody>
      </p:sp>
      <p:sp>
        <p:nvSpPr>
          <p:cNvPr id="26" name="Rectangle 25">
            <a:extLst>
              <a:ext uri="{FF2B5EF4-FFF2-40B4-BE49-F238E27FC236}">
                <a16:creationId xmlns:a16="http://schemas.microsoft.com/office/drawing/2014/main" id="{AAA4043D-7BA4-4638-88A3-DDA489E5F2D2}"/>
              </a:ext>
            </a:extLst>
          </p:cNvPr>
          <p:cNvSpPr>
            <a:spLocks noGrp="1"/>
          </p:cNvSpPr>
          <p:nvPr/>
        </p:nvSpPr>
        <p:spPr>
          <a:xfrm>
            <a:off x="600075" y="5476875"/>
            <a:ext cx="1905000" cy="247650"/>
          </a:xfrm>
          <a:prstGeom prst="rect">
            <a:avLst/>
          </a:prstGeom>
          <a:noFill/>
          <a:ln w="0">
            <a:noFill/>
            <a:prstDash val="solid"/>
          </a:ln>
        </p:spPr>
        <p:txBody>
          <a:bodyPr lIns="76200" tIns="38100" rIns="76200" bIns="38100" anchor="ctr">
            <a:normAutofit fontScale="90144"/>
          </a:bodyPr>
          <a:lstStyle/>
          <a:p>
            <a:pPr algn="l">
              <a:lnSpc>
                <a:spcPct val="104000"/>
              </a:lnSpc>
              <a:buNone/>
              <a:defRPr sz="1200" b="1">
                <a:solidFill>
                  <a:srgbClr val="123A63"/>
                </a:solidFill>
                <a:latin typeface="Noto Sans"/>
                <a:ea typeface="Noto Sans"/>
                <a:cs typeface="Noto Sans"/>
              </a:defRPr>
            </a:pPr>
            <a:r>
              <a:rPr sz="1200" b="1">
                <a:solidFill>
                  <a:srgbClr val="123A63"/>
                </a:solidFill>
                <a:latin typeface="Noto Sans"/>
                <a:ea typeface="Noto Sans"/>
                <a:cs typeface="Noto Sans"/>
              </a:rPr>
              <a:t>Pašreizējā robeža</a:t>
            </a:r>
          </a:p>
        </p:txBody>
      </p:sp>
      <p:sp>
        <p:nvSpPr>
          <p:cNvPr id="27" name="Rectangle 26">
            <a:extLst>
              <a:ext uri="{FF2B5EF4-FFF2-40B4-BE49-F238E27FC236}">
                <a16:creationId xmlns:a16="http://schemas.microsoft.com/office/drawing/2014/main" id="{4203FDB2-4D43-4602-B94C-164FA1FDFCFB}"/>
              </a:ext>
            </a:extLst>
          </p:cNvPr>
          <p:cNvSpPr>
            <a:spLocks noGrp="1"/>
          </p:cNvSpPr>
          <p:nvPr/>
        </p:nvSpPr>
        <p:spPr>
          <a:xfrm>
            <a:off x="2486025" y="5381625"/>
            <a:ext cx="8696325" cy="476250"/>
          </a:xfrm>
          <a:prstGeom prst="rect">
            <a:avLst/>
          </a:prstGeom>
          <a:noFill/>
          <a:ln w="0">
            <a:noFill/>
            <a:prstDash val="solid"/>
          </a:ln>
        </p:spPr>
        <p:txBody>
          <a:bodyPr lIns="76200" tIns="38100" rIns="76200" bIns="38100" anchor="ctr">
            <a:normAutofit fontScale="88563"/>
          </a:bodyPr>
          <a:lstStyle/>
          <a:p>
            <a:pPr algn="l">
              <a:lnSpc>
                <a:spcPct val="104000"/>
              </a:lnSpc>
              <a:buNone/>
              <a:defRPr sz="1425" b="0">
                <a:solidFill>
                  <a:srgbClr val="64748B"/>
                </a:solidFill>
                <a:latin typeface="Noto Sans"/>
                <a:ea typeface="Noto Sans"/>
                <a:cs typeface="Noto Sans"/>
              </a:defRPr>
            </a:pPr>
            <a:r>
              <a:rPr sz="1425" b="0">
                <a:solidFill>
                  <a:srgbClr val="64748B"/>
                </a:solidFill>
                <a:latin typeface="Noto Sans"/>
                <a:ea typeface="Noto Sans"/>
                <a:cs typeface="Noto Sans"/>
              </a:rPr>
              <a:t>Strādā ar sintētiskiem demonstrācijas datiem; produkcijas autentifikācija, OCR adapters un plašās integrācijas nav pabeigtas.</a:t>
            </a:r>
          </a:p>
        </p:txBody>
      </p:sp>
      <p:sp>
        <p:nvSpPr>
          <p:cNvPr id="28" name="Rectangle 27">
            <a:extLst>
              <a:ext uri="{FF2B5EF4-FFF2-40B4-BE49-F238E27FC236}">
                <a16:creationId xmlns:a16="http://schemas.microsoft.com/office/drawing/2014/main" id="{44F6AAD4-1D4A-4369-B89A-FE1CC1459B43}"/>
              </a:ext>
            </a:extLst>
          </p:cNvPr>
          <p:cNvSpPr>
            <a:spLocks noGrp="1"/>
          </p:cNvSpPr>
          <p:nvPr/>
        </p:nvSpPr>
        <p:spPr>
          <a:xfrm>
            <a:off x="552450" y="6486525"/>
            <a:ext cx="4762500" cy="171450"/>
          </a:xfrm>
          <a:prstGeom prst="rect">
            <a:avLst/>
          </a:prstGeom>
          <a:noFill/>
          <a:ln w="0">
            <a:noFill/>
            <a:prstDash val="solid"/>
          </a:ln>
        </p:spPr>
        <p:txBody>
          <a:bodyPr lIns="76200" tIns="38100" rIns="76200" bIns="38100" anchor="ctr">
            <a:normAutofit fontScale="61637"/>
          </a:bodyPr>
          <a:lstStyle/>
          <a:p>
            <a:pPr algn="l">
              <a:lnSpc>
                <a:spcPct val="104000"/>
              </a:lnSpc>
              <a:buNone/>
              <a:defRPr sz="975" b="0">
                <a:solidFill>
                  <a:srgbClr val="94A3B8"/>
                </a:solidFill>
                <a:latin typeface="Noto Sans"/>
                <a:ea typeface="Noto Sans"/>
                <a:cs typeface="Noto Sans"/>
              </a:defRPr>
            </a:pPr>
            <a:r>
              <a:rPr sz="975" b="0">
                <a:solidFill>
                  <a:srgbClr val="94A3B8"/>
                </a:solidFill>
                <a:latin typeface="Noto Sans"/>
                <a:ea typeface="Noto Sans"/>
                <a:cs typeface="Noto Sans"/>
              </a:rPr>
              <a:t>Avots: repozitorija README un moduļu dokumentācija</a:t>
            </a:r>
          </a:p>
        </p:txBody>
      </p:sp>
    </p:spTree>
    <p:extLst>
      <p:ext uri="{BB962C8B-B14F-4D97-AF65-F5344CB8AC3E}">
        <p14:creationId xmlns:p14="http://schemas.microsoft.com/office/powerpoint/2010/main" val="1347495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66DE2382-9FB7-4843-97D1-8F87326E855C}"/>
              </a:ext>
            </a:extLst>
          </p:cNvPr>
          <p:cNvSpPr>
            <a:spLocks noGrp="1"/>
          </p:cNvSpPr>
          <p:nvPr/>
        </p:nvSpPr>
        <p:spPr>
          <a:xfrm>
            <a:off x="552450" y="266700"/>
            <a:ext cx="4000500" cy="228600"/>
          </a:xfrm>
          <a:prstGeom prst="rect">
            <a:avLst/>
          </a:prstGeom>
          <a:noFill/>
          <a:ln w="0">
            <a:noFill/>
            <a:prstDash val="solid"/>
          </a:ln>
        </p:spPr>
        <p:txBody>
          <a:bodyPr lIns="76200" tIns="38100" rIns="76200" bIns="38100" anchor="ctr">
            <a:normAutofit fontScale="85470"/>
          </a:bodyPr>
          <a:lstStyle/>
          <a:p>
            <a:pPr algn="l">
              <a:lnSpc>
                <a:spcPct val="104000"/>
              </a:lnSpc>
              <a:buNone/>
              <a:defRPr sz="1125" b="1">
                <a:solidFill>
                  <a:srgbClr val="123A63"/>
                </a:solidFill>
                <a:latin typeface="Noto Sans"/>
                <a:ea typeface="Noto Sans"/>
                <a:cs typeface="Noto Sans"/>
              </a:defRPr>
            </a:pPr>
            <a:r>
              <a:rPr sz="1125" b="1">
                <a:solidFill>
                  <a:srgbClr val="123A63"/>
                </a:solidFill>
                <a:latin typeface="Noto Sans"/>
                <a:ea typeface="Noto Sans"/>
                <a:cs typeface="Noto Sans"/>
              </a:rPr>
              <a:t>TWIN  /  KOMANDAS DISKUSIJA</a:t>
            </a:r>
          </a:p>
        </p:txBody>
      </p:sp>
      <p:sp>
        <p:nvSpPr>
          <p:cNvPr id="2" name="Rectangle 1">
            <a:extLst>
              <a:ext uri="{FF2B5EF4-FFF2-40B4-BE49-F238E27FC236}">
                <a16:creationId xmlns:a16="http://schemas.microsoft.com/office/drawing/2014/main" id="{A69E19BC-D372-4606-8A27-8C6DF586E16D}"/>
              </a:ext>
            </a:extLst>
          </p:cNvPr>
          <p:cNvSpPr>
            <a:spLocks noGrp="1"/>
          </p:cNvSpPr>
          <p:nvPr/>
        </p:nvSpPr>
        <p:spPr>
          <a:xfrm>
            <a:off x="11191875" y="257175"/>
            <a:ext cx="438150" cy="238125"/>
          </a:xfrm>
          <a:prstGeom prst="rect">
            <a:avLst/>
          </a:prstGeom>
          <a:noFill/>
          <a:ln w="0">
            <a:noFill/>
            <a:prstDash val="solid"/>
          </a:ln>
        </p:spPr>
        <p:txBody>
          <a:bodyPr lIns="76200" tIns="38100" rIns="76200" bIns="38100" anchor="ctr">
            <a:normAutofit fontScale="90812"/>
          </a:bodyPr>
          <a:lstStyle/>
          <a:p>
            <a:pPr algn="r">
              <a:lnSpc>
                <a:spcPct val="104000"/>
              </a:lnSpc>
              <a:buNone/>
              <a:defRPr sz="1125" b="1">
                <a:solidFill>
                  <a:srgbClr val="94A3B8"/>
                </a:solidFill>
                <a:latin typeface="Noto Sans"/>
                <a:ea typeface="Noto Sans"/>
                <a:cs typeface="Noto Sans"/>
              </a:defRPr>
            </a:pPr>
            <a:r>
              <a:rPr sz="1125" b="1">
                <a:solidFill>
                  <a:srgbClr val="94A3B8"/>
                </a:solidFill>
                <a:latin typeface="Noto Sans"/>
                <a:ea typeface="Noto Sans"/>
                <a:cs typeface="Noto Sans"/>
              </a:rPr>
              <a:t>08</a:t>
            </a:r>
          </a:p>
        </p:txBody>
      </p:sp>
      <p:sp>
        <p:nvSpPr>
          <p:cNvPr id="3" name="Rectangle 2">
            <a:extLst>
              <a:ext uri="{FF2B5EF4-FFF2-40B4-BE49-F238E27FC236}">
                <a16:creationId xmlns:a16="http://schemas.microsoft.com/office/drawing/2014/main" id="{2AB6A917-6D82-47CF-8280-ED9444B9EE01}"/>
              </a:ext>
            </a:extLst>
          </p:cNvPr>
          <p:cNvSpPr>
            <a:spLocks noGrp="1"/>
          </p:cNvSpPr>
          <p:nvPr/>
        </p:nvSpPr>
        <p:spPr>
          <a:xfrm>
            <a:off x="552450" y="628650"/>
            <a:ext cx="10382250" cy="590550"/>
          </a:xfrm>
          <a:prstGeom prst="rect">
            <a:avLst/>
          </a:prstGeom>
          <a:noFill/>
          <a:ln w="0">
            <a:noFill/>
            <a:prstDash val="solid"/>
          </a:ln>
        </p:spPr>
        <p:txBody>
          <a:bodyPr lIns="76200" tIns="38100" rIns="76200" bIns="38100" anchor="t">
            <a:normAutofit fontScale="98339"/>
          </a:bodyPr>
          <a:lstStyle/>
          <a:p>
            <a:pPr algn="l">
              <a:lnSpc>
                <a:spcPct val="104000"/>
              </a:lnSpc>
              <a:buNone/>
              <a:defRPr sz="3300" b="1">
                <a:solidFill>
                  <a:srgbClr val="0F172A"/>
                </a:solidFill>
                <a:latin typeface="Noto Sans"/>
                <a:ea typeface="Noto Sans"/>
                <a:cs typeface="Noto Sans"/>
              </a:defRPr>
            </a:pPr>
            <a:r>
              <a:rPr sz="3300" b="1">
                <a:solidFill>
                  <a:srgbClr val="0F172A"/>
                </a:solidFill>
                <a:latin typeface="Noto Sans"/>
                <a:ea typeface="Noto Sans"/>
                <a:cs typeface="Noto Sans"/>
              </a:rPr>
              <a:t>Uzticamība nozīmē apstāties, kad dati nav droši</a:t>
            </a:r>
          </a:p>
        </p:txBody>
      </p:sp>
      <p:sp>
        <p:nvSpPr>
          <p:cNvPr id="4" name="Rectangle 3">
            <a:extLst>
              <a:ext uri="{FF2B5EF4-FFF2-40B4-BE49-F238E27FC236}">
                <a16:creationId xmlns:a16="http://schemas.microsoft.com/office/drawing/2014/main" id="{EF61FCD1-EB4B-4786-98A5-6B1113FC6F8E}"/>
              </a:ext>
            </a:extLst>
          </p:cNvPr>
          <p:cNvSpPr>
            <a:spLocks noGrp="1"/>
          </p:cNvSpPr>
          <p:nvPr/>
        </p:nvSpPr>
        <p:spPr>
          <a:xfrm>
            <a:off x="581025" y="1219200"/>
            <a:ext cx="10287000" cy="323850"/>
          </a:xfrm>
          <a:prstGeom prst="rect">
            <a:avLst/>
          </a:prstGeom>
          <a:noFill/>
          <a:ln w="0">
            <a:noFill/>
            <a:prstDash val="solid"/>
          </a:ln>
        </p:spPr>
        <p:txBody>
          <a:bodyPr lIns="76200" tIns="38100" rIns="76200" bIns="38100" anchor="t">
            <a:normAutofit/>
          </a:bodyPr>
          <a:lstStyle/>
          <a:p>
            <a:pPr algn="l">
              <a:lnSpc>
                <a:spcPct val="104000"/>
              </a:lnSpc>
              <a:buNone/>
              <a:defRPr sz="1500" b="0">
                <a:solidFill>
                  <a:srgbClr val="64748B"/>
                </a:solidFill>
                <a:latin typeface="Noto Sans"/>
                <a:ea typeface="Noto Sans"/>
                <a:cs typeface="Noto Sans"/>
              </a:defRPr>
            </a:pPr>
            <a:r>
              <a:rPr sz="1500" b="0">
                <a:solidFill>
                  <a:srgbClr val="64748B"/>
                </a:solidFill>
                <a:latin typeface="Noto Sans"/>
                <a:ea typeface="Noto Sans"/>
                <a:cs typeface="Noto Sans"/>
              </a:rPr>
              <a:t>Prototipa pārbaudīts princips: fail-closed review, nevis klusa kļūda datubāzē</a:t>
            </a:r>
          </a:p>
        </p:txBody>
      </p:sp>
      <p:sp>
        <p:nvSpPr>
          <p:cNvPr id="5" name="Rectangle 4">
            <a:extLst>
              <a:ext uri="{FF2B5EF4-FFF2-40B4-BE49-F238E27FC236}">
                <a16:creationId xmlns:a16="http://schemas.microsoft.com/office/drawing/2014/main" id="{57A10D59-0FC7-4D9E-BFD5-C11099339B1E}"/>
              </a:ext>
            </a:extLst>
          </p:cNvPr>
          <p:cNvSpPr>
            <a:spLocks noGrp="1"/>
          </p:cNvSpPr>
          <p:nvPr/>
        </p:nvSpPr>
        <p:spPr>
          <a:xfrm>
            <a:off x="552450" y="1600200"/>
            <a:ext cx="11087100" cy="19050"/>
          </a:xfrm>
          <a:prstGeom prst="rect">
            <a:avLst/>
          </a:prstGeom>
          <a:solidFill>
            <a:srgbClr val="C7D7E2"/>
          </a:solidFill>
          <a:ln w="0">
            <a:noFill/>
            <a:prstDash val="solid"/>
          </a:ln>
        </p:spPr>
        <p:txBody>
          <a:bodyPr/>
          <a:lstStyle/>
          <a:p>
            <a:endParaRPr lang="en-US"/>
          </a:p>
        </p:txBody>
      </p:sp>
      <p:sp>
        <p:nvSpPr>
          <p:cNvPr id="6" name="Rounded Rectangle 5">
            <a:extLst>
              <a:ext uri="{FF2B5EF4-FFF2-40B4-BE49-F238E27FC236}">
                <a16:creationId xmlns:a16="http://schemas.microsoft.com/office/drawing/2014/main" id="{1E25D168-F576-404F-9C64-C6D235C5095F}"/>
              </a:ext>
            </a:extLst>
          </p:cNvPr>
          <p:cNvSpPr>
            <a:spLocks noGrp="1"/>
          </p:cNvSpPr>
          <p:nvPr/>
        </p:nvSpPr>
        <p:spPr>
          <a:xfrm>
            <a:off x="714375" y="2228850"/>
            <a:ext cx="2381250" cy="723900"/>
          </a:xfrm>
          <a:prstGeom prst="roundRect">
            <a:avLst>
              <a:gd name="adj" fmla="val 18421"/>
            </a:avLst>
          </a:prstGeom>
          <a:solidFill>
            <a:srgbClr val="EAF4FA"/>
          </a:solidFill>
          <a:ln w="0">
            <a:noFill/>
            <a:prstDash val="solid"/>
          </a:ln>
        </p:spPr>
        <p:txBody>
          <a:bodyPr lIns="76200" tIns="38100" rIns="76200" bIns="38100" anchor="ctr">
            <a:normAutofit/>
          </a:bodyPr>
          <a:lstStyle/>
          <a:p>
            <a:pPr algn="ctr">
              <a:lnSpc>
                <a:spcPct val="104000"/>
              </a:lnSpc>
              <a:buNone/>
              <a:defRPr sz="1875" b="1">
                <a:solidFill>
                  <a:srgbClr val="071525"/>
                </a:solidFill>
                <a:latin typeface="Noto Sans"/>
                <a:ea typeface="Noto Sans"/>
                <a:cs typeface="Noto Sans"/>
              </a:defRPr>
            </a:pPr>
            <a:r>
              <a:rPr sz="1875" b="1">
                <a:solidFill>
                  <a:srgbClr val="071525"/>
                </a:solidFill>
                <a:latin typeface="Noto Sans"/>
                <a:ea typeface="Noto Sans"/>
                <a:cs typeface="Noto Sans"/>
              </a:rPr>
              <a:t>NESKAIDRI DATI</a:t>
            </a:r>
          </a:p>
        </p:txBody>
      </p:sp>
      <p:sp>
        <p:nvSpPr>
          <p:cNvPr id="7" name="Rectangle 6">
            <a:extLst>
              <a:ext uri="{FF2B5EF4-FFF2-40B4-BE49-F238E27FC236}">
                <a16:creationId xmlns:a16="http://schemas.microsoft.com/office/drawing/2014/main" id="{32DCBC33-9ABD-4CE4-BC7A-8D74300B2B69}"/>
              </a:ext>
            </a:extLst>
          </p:cNvPr>
          <p:cNvSpPr>
            <a:spLocks noGrp="1"/>
          </p:cNvSpPr>
          <p:nvPr/>
        </p:nvSpPr>
        <p:spPr>
          <a:xfrm>
            <a:off x="3219450" y="2276475"/>
            <a:ext cx="666750" cy="628650"/>
          </a:xfrm>
          <a:prstGeom prst="rect">
            <a:avLst/>
          </a:prstGeom>
          <a:noFill/>
          <a:ln w="0">
            <a:noFill/>
            <a:prstDash val="solid"/>
          </a:ln>
        </p:spPr>
        <p:txBody>
          <a:bodyPr lIns="76200" tIns="38100" rIns="76200" bIns="38100" anchor="ctr">
            <a:normAutofit/>
          </a:bodyPr>
          <a:lstStyle/>
          <a:p>
            <a:pPr algn="ctr">
              <a:lnSpc>
                <a:spcPct val="104000"/>
              </a:lnSpc>
              <a:buNone/>
              <a:defRPr sz="3000" b="0">
                <a:solidFill>
                  <a:srgbClr val="38BDF8"/>
                </a:solidFill>
                <a:latin typeface="Noto Sans"/>
                <a:ea typeface="Noto Sans"/>
                <a:cs typeface="Noto Sans"/>
              </a:defRPr>
            </a:pPr>
            <a:r>
              <a:rPr sz="3000" b="0">
                <a:solidFill>
                  <a:srgbClr val="38BDF8"/>
                </a:solidFill>
                <a:latin typeface="Noto Sans"/>
                <a:ea typeface="Noto Sans"/>
                <a:cs typeface="Noto Sans"/>
              </a:rPr>
              <a:t>→</a:t>
            </a:r>
          </a:p>
        </p:txBody>
      </p:sp>
      <p:sp>
        <p:nvSpPr>
          <p:cNvPr id="8" name="Rounded Rectangle 7">
            <a:extLst>
              <a:ext uri="{FF2B5EF4-FFF2-40B4-BE49-F238E27FC236}">
                <a16:creationId xmlns:a16="http://schemas.microsoft.com/office/drawing/2014/main" id="{5EC45867-8432-46BA-B90D-6013BCF831C3}"/>
              </a:ext>
            </a:extLst>
          </p:cNvPr>
          <p:cNvSpPr>
            <a:spLocks noGrp="1"/>
          </p:cNvSpPr>
          <p:nvPr/>
        </p:nvSpPr>
        <p:spPr>
          <a:xfrm>
            <a:off x="4019550" y="2228850"/>
            <a:ext cx="2571750" cy="723900"/>
          </a:xfrm>
          <a:prstGeom prst="roundRect">
            <a:avLst>
              <a:gd name="adj" fmla="val 18421"/>
            </a:avLst>
          </a:prstGeom>
          <a:solidFill>
            <a:srgbClr val="123A63"/>
          </a:solidFill>
          <a:ln w="0">
            <a:noFill/>
            <a:prstDash val="solid"/>
          </a:ln>
        </p:spPr>
        <p:txBody>
          <a:bodyPr lIns="76200" tIns="38100" rIns="76200" bIns="38100" anchor="ctr">
            <a:normAutofit/>
          </a:bodyPr>
          <a:lstStyle/>
          <a:p>
            <a:pPr algn="ctr">
              <a:lnSpc>
                <a:spcPct val="104000"/>
              </a:lnSpc>
              <a:buNone/>
              <a:defRPr sz="1875" b="1">
                <a:solidFill>
                  <a:srgbClr val="F8FAFC"/>
                </a:solidFill>
                <a:latin typeface="Noto Sans"/>
                <a:ea typeface="Noto Sans"/>
                <a:cs typeface="Noto Sans"/>
              </a:defRPr>
            </a:pPr>
            <a:r>
              <a:rPr sz="1875" b="1">
                <a:solidFill>
                  <a:srgbClr val="F8FAFC"/>
                </a:solidFill>
                <a:latin typeface="Noto Sans"/>
                <a:ea typeface="Noto Sans"/>
                <a:cs typeface="Noto Sans"/>
              </a:rPr>
              <a:t>CILVĒKA REVIEW</a:t>
            </a:r>
          </a:p>
        </p:txBody>
      </p:sp>
      <p:sp>
        <p:nvSpPr>
          <p:cNvPr id="9" name="Rectangle 8">
            <a:extLst>
              <a:ext uri="{FF2B5EF4-FFF2-40B4-BE49-F238E27FC236}">
                <a16:creationId xmlns:a16="http://schemas.microsoft.com/office/drawing/2014/main" id="{295AA061-4AAC-497A-9D45-380AB6AD3031}"/>
              </a:ext>
            </a:extLst>
          </p:cNvPr>
          <p:cNvSpPr>
            <a:spLocks noGrp="1"/>
          </p:cNvSpPr>
          <p:nvPr/>
        </p:nvSpPr>
        <p:spPr>
          <a:xfrm>
            <a:off x="6715125" y="2276475"/>
            <a:ext cx="666750" cy="628650"/>
          </a:xfrm>
          <a:prstGeom prst="rect">
            <a:avLst/>
          </a:prstGeom>
          <a:noFill/>
          <a:ln w="0">
            <a:noFill/>
            <a:prstDash val="solid"/>
          </a:ln>
        </p:spPr>
        <p:txBody>
          <a:bodyPr lIns="76200" tIns="38100" rIns="76200" bIns="38100" anchor="ctr">
            <a:normAutofit/>
          </a:bodyPr>
          <a:lstStyle/>
          <a:p>
            <a:pPr algn="ctr">
              <a:lnSpc>
                <a:spcPct val="104000"/>
              </a:lnSpc>
              <a:buNone/>
              <a:defRPr sz="3000" b="0">
                <a:solidFill>
                  <a:srgbClr val="38BDF8"/>
                </a:solidFill>
                <a:latin typeface="Noto Sans"/>
                <a:ea typeface="Noto Sans"/>
                <a:cs typeface="Noto Sans"/>
              </a:defRPr>
            </a:pPr>
            <a:r>
              <a:rPr sz="3000" b="0">
                <a:solidFill>
                  <a:srgbClr val="38BDF8"/>
                </a:solidFill>
                <a:latin typeface="Noto Sans"/>
                <a:ea typeface="Noto Sans"/>
                <a:cs typeface="Noto Sans"/>
              </a:rPr>
              <a:t>→</a:t>
            </a:r>
          </a:p>
        </p:txBody>
      </p:sp>
      <p:sp>
        <p:nvSpPr>
          <p:cNvPr id="10" name="Rounded Rectangle 9">
            <a:extLst>
              <a:ext uri="{FF2B5EF4-FFF2-40B4-BE49-F238E27FC236}">
                <a16:creationId xmlns:a16="http://schemas.microsoft.com/office/drawing/2014/main" id="{275988D6-7A73-4836-8B3C-8E3E4899460E}"/>
              </a:ext>
            </a:extLst>
          </p:cNvPr>
          <p:cNvSpPr>
            <a:spLocks noGrp="1"/>
          </p:cNvSpPr>
          <p:nvPr/>
        </p:nvSpPr>
        <p:spPr>
          <a:xfrm>
            <a:off x="7524750" y="2114550"/>
            <a:ext cx="3190875" cy="952500"/>
          </a:xfrm>
          <a:prstGeom prst="roundRect">
            <a:avLst>
              <a:gd name="adj" fmla="val 14000"/>
            </a:avLst>
          </a:prstGeom>
          <a:solidFill>
            <a:srgbClr val="38BDF8"/>
          </a:solidFill>
          <a:ln w="0">
            <a:noFill/>
            <a:prstDash val="solid"/>
          </a:ln>
        </p:spPr>
        <p:txBody>
          <a:bodyPr lIns="76200" tIns="38100" rIns="76200" bIns="38100" anchor="ctr">
            <a:normAutofit/>
          </a:bodyPr>
          <a:lstStyle/>
          <a:p>
            <a:pPr algn="ctr">
              <a:lnSpc>
                <a:spcPct val="104000"/>
              </a:lnSpc>
              <a:buNone/>
              <a:defRPr sz="1875" b="1">
                <a:solidFill>
                  <a:srgbClr val="071525"/>
                </a:solidFill>
                <a:latin typeface="Noto Sans"/>
                <a:ea typeface="Noto Sans"/>
                <a:cs typeface="Noto Sans"/>
              </a:defRPr>
            </a:pPr>
            <a:r>
              <a:rPr sz="1875" b="1">
                <a:solidFill>
                  <a:srgbClr val="071525"/>
                </a:solidFill>
                <a:latin typeface="Noto Sans"/>
                <a:ea typeface="Noto Sans"/>
                <a:cs typeface="Noto Sans"/>
              </a:rPr>
              <a:t>TIKAI TAD</a:t>
            </a:r>
          </a:p>
          <a:p>
            <a:pPr algn="ctr">
              <a:lnSpc>
                <a:spcPct val="104000"/>
              </a:lnSpc>
              <a:buNone/>
              <a:defRPr sz="1875" b="1">
                <a:solidFill>
                  <a:srgbClr val="071525"/>
                </a:solidFill>
                <a:latin typeface="Noto Sans"/>
                <a:ea typeface="Noto Sans"/>
                <a:cs typeface="Noto Sans"/>
              </a:defRPr>
            </a:pPr>
            <a:r>
              <a:rPr sz="1875" b="1">
                <a:solidFill>
                  <a:srgbClr val="071525"/>
                </a:solidFill>
                <a:latin typeface="Noto Sans"/>
                <a:ea typeface="Noto Sans"/>
                <a:cs typeface="Noto Sans"/>
              </a:rPr>
              <a:t>CANONICAL DATA</a:t>
            </a:r>
          </a:p>
        </p:txBody>
      </p:sp>
      <p:sp>
        <p:nvSpPr>
          <p:cNvPr id="11" name="Rectangle 10">
            <a:extLst>
              <a:ext uri="{FF2B5EF4-FFF2-40B4-BE49-F238E27FC236}">
                <a16:creationId xmlns:a16="http://schemas.microsoft.com/office/drawing/2014/main" id="{7FC9B698-77EF-4171-932E-1A255AF60F38}"/>
              </a:ext>
            </a:extLst>
          </p:cNvPr>
          <p:cNvSpPr>
            <a:spLocks noGrp="1"/>
          </p:cNvSpPr>
          <p:nvPr/>
        </p:nvSpPr>
        <p:spPr>
          <a:xfrm>
            <a:off x="714375" y="3400425"/>
            <a:ext cx="10001250" cy="19050"/>
          </a:xfrm>
          <a:prstGeom prst="rect">
            <a:avLst/>
          </a:prstGeom>
          <a:solidFill>
            <a:srgbClr val="C7D7E2"/>
          </a:solidFill>
          <a:ln w="0">
            <a:noFill/>
            <a:prstDash val="solid"/>
          </a:ln>
        </p:spPr>
        <p:txBody>
          <a:bodyPr/>
          <a:lstStyle/>
          <a:p>
            <a:endParaRPr lang="en-US"/>
          </a:p>
        </p:txBody>
      </p:sp>
      <p:sp>
        <p:nvSpPr>
          <p:cNvPr id="12" name="Rounded Rectangle 11">
            <a:extLst>
              <a:ext uri="{FF2B5EF4-FFF2-40B4-BE49-F238E27FC236}">
                <a16:creationId xmlns:a16="http://schemas.microsoft.com/office/drawing/2014/main" id="{6EAD81CC-CB2A-48B8-88C1-80C6F4452614}"/>
              </a:ext>
            </a:extLst>
          </p:cNvPr>
          <p:cNvSpPr>
            <a:spLocks noGrp="1"/>
          </p:cNvSpPr>
          <p:nvPr/>
        </p:nvSpPr>
        <p:spPr>
          <a:xfrm>
            <a:off x="723900" y="3733800"/>
            <a:ext cx="3076575" cy="1562100"/>
          </a:xfrm>
          <a:prstGeom prst="roundRect">
            <a:avLst>
              <a:gd name="adj" fmla="val 8537"/>
            </a:avLst>
          </a:prstGeom>
          <a:solidFill>
            <a:srgbClr val="F1F5F9"/>
          </a:solidFill>
          <a:ln w="9525">
            <a:solidFill>
              <a:srgbClr val="C7D7E2"/>
            </a:solidFill>
            <a:prstDash val="solid"/>
          </a:ln>
        </p:spPr>
        <p:txBody>
          <a:bodyPr/>
          <a:lstStyle/>
          <a:p>
            <a:endParaRPr lang="en-US"/>
          </a:p>
        </p:txBody>
      </p:sp>
      <p:sp>
        <p:nvSpPr>
          <p:cNvPr id="13" name="Rounded Rectangle 12">
            <a:extLst>
              <a:ext uri="{FF2B5EF4-FFF2-40B4-BE49-F238E27FC236}">
                <a16:creationId xmlns:a16="http://schemas.microsoft.com/office/drawing/2014/main" id="{19EA59A4-78D3-424D-988F-4BD16ED59AE4}"/>
              </a:ext>
            </a:extLst>
          </p:cNvPr>
          <p:cNvSpPr>
            <a:spLocks noGrp="1"/>
          </p:cNvSpPr>
          <p:nvPr/>
        </p:nvSpPr>
        <p:spPr>
          <a:xfrm>
            <a:off x="723900" y="3733800"/>
            <a:ext cx="66675" cy="1562100"/>
          </a:xfrm>
          <a:prstGeom prst="roundRect">
            <a:avLst>
              <a:gd name="adj" fmla="val 50000"/>
            </a:avLst>
          </a:prstGeom>
          <a:solidFill>
            <a:srgbClr val="38BDF8"/>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57053347-6FA5-4CB1-918B-47189885A073}"/>
              </a:ext>
            </a:extLst>
          </p:cNvPr>
          <p:cNvSpPr>
            <a:spLocks noGrp="1"/>
          </p:cNvSpPr>
          <p:nvPr/>
        </p:nvSpPr>
        <p:spPr>
          <a:xfrm>
            <a:off x="914400" y="3876675"/>
            <a:ext cx="2695575" cy="323850"/>
          </a:xfrm>
          <a:prstGeom prst="rect">
            <a:avLst/>
          </a:prstGeom>
          <a:noFill/>
          <a:ln w="0">
            <a:noFill/>
            <a:prstDash val="solid"/>
          </a:ln>
        </p:spPr>
        <p:txBody>
          <a:bodyPr lIns="76200" tIns="38100" rIns="76200" bIns="38100" anchor="t">
            <a:normAutofit fontScale="99206"/>
          </a:bodyPr>
          <a:lstStyle/>
          <a:p>
            <a:pPr algn="l">
              <a:lnSpc>
                <a:spcPct val="104000"/>
              </a:lnSpc>
              <a:buNone/>
              <a:defRPr sz="1575" b="1">
                <a:solidFill>
                  <a:srgbClr val="0F172A"/>
                </a:solidFill>
                <a:latin typeface="Noto Sans"/>
                <a:ea typeface="Noto Sans"/>
                <a:cs typeface="Noto Sans"/>
              </a:defRPr>
            </a:pPr>
            <a:r>
              <a:rPr sz="1575" b="1">
                <a:solidFill>
                  <a:srgbClr val="0F172A"/>
                </a:solidFill>
                <a:latin typeface="Noto Sans"/>
                <a:ea typeface="Noto Sans"/>
                <a:cs typeface="Noto Sans"/>
              </a:rPr>
              <a:t>Saglabā avotu</a:t>
            </a:r>
          </a:p>
        </p:txBody>
      </p:sp>
      <p:sp>
        <p:nvSpPr>
          <p:cNvPr id="15" name="Rectangle 14">
            <a:extLst>
              <a:ext uri="{FF2B5EF4-FFF2-40B4-BE49-F238E27FC236}">
                <a16:creationId xmlns:a16="http://schemas.microsoft.com/office/drawing/2014/main" id="{42F3B994-2F5E-486E-9871-F557F04C7571}"/>
              </a:ext>
            </a:extLst>
          </p:cNvPr>
          <p:cNvSpPr>
            <a:spLocks noGrp="1"/>
          </p:cNvSpPr>
          <p:nvPr/>
        </p:nvSpPr>
        <p:spPr>
          <a:xfrm>
            <a:off x="914400" y="4248150"/>
            <a:ext cx="2695575" cy="923925"/>
          </a:xfrm>
          <a:prstGeom prst="rect">
            <a:avLst/>
          </a:prstGeom>
          <a:noFill/>
          <a:ln w="0">
            <a:noFill/>
            <a:prstDash val="solid"/>
          </a:ln>
        </p:spPr>
        <p:txBody>
          <a:bodyPr lIns="76200" tIns="38100" rIns="76200" bIns="38100" anchor="t">
            <a:normAutofit/>
          </a:bodyPr>
          <a:lstStyle/>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PDF, raw vērtība un system interpretation paliek izsekojami.</a:t>
            </a:r>
          </a:p>
        </p:txBody>
      </p:sp>
      <p:sp>
        <p:nvSpPr>
          <p:cNvPr id="16" name="Rounded Rectangle 15">
            <a:extLst>
              <a:ext uri="{FF2B5EF4-FFF2-40B4-BE49-F238E27FC236}">
                <a16:creationId xmlns:a16="http://schemas.microsoft.com/office/drawing/2014/main" id="{C3DF5BFA-1DA7-4C4F-9CF2-2DD501564D53}"/>
              </a:ext>
            </a:extLst>
          </p:cNvPr>
          <p:cNvSpPr>
            <a:spLocks noGrp="1"/>
          </p:cNvSpPr>
          <p:nvPr/>
        </p:nvSpPr>
        <p:spPr>
          <a:xfrm>
            <a:off x="4067175" y="3733800"/>
            <a:ext cx="3076575" cy="1562100"/>
          </a:xfrm>
          <a:prstGeom prst="roundRect">
            <a:avLst>
              <a:gd name="adj" fmla="val 8537"/>
            </a:avLst>
          </a:prstGeom>
          <a:solidFill>
            <a:srgbClr val="F1F5F9"/>
          </a:solidFill>
          <a:ln w="9525">
            <a:solidFill>
              <a:srgbClr val="C7D7E2"/>
            </a:solidFill>
            <a:prstDash val="solid"/>
          </a:ln>
        </p:spPr>
        <p:txBody>
          <a:bodyPr/>
          <a:lstStyle/>
          <a:p>
            <a:endParaRPr lang="en-US"/>
          </a:p>
        </p:txBody>
      </p:sp>
      <p:sp>
        <p:nvSpPr>
          <p:cNvPr id="17" name="Rounded Rectangle 16">
            <a:extLst>
              <a:ext uri="{FF2B5EF4-FFF2-40B4-BE49-F238E27FC236}">
                <a16:creationId xmlns:a16="http://schemas.microsoft.com/office/drawing/2014/main" id="{7DCCABEE-5952-4E44-8141-D4531F762E5C}"/>
              </a:ext>
            </a:extLst>
          </p:cNvPr>
          <p:cNvSpPr>
            <a:spLocks noGrp="1"/>
          </p:cNvSpPr>
          <p:nvPr/>
        </p:nvSpPr>
        <p:spPr>
          <a:xfrm>
            <a:off x="4067175" y="3733800"/>
            <a:ext cx="66675" cy="1562100"/>
          </a:xfrm>
          <a:prstGeom prst="roundRect">
            <a:avLst>
              <a:gd name="adj" fmla="val 50000"/>
            </a:avLst>
          </a:prstGeom>
          <a:solidFill>
            <a:srgbClr val="38BDF8"/>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91C648F1-408D-49DA-BD96-491907FCA2CB}"/>
              </a:ext>
            </a:extLst>
          </p:cNvPr>
          <p:cNvSpPr>
            <a:spLocks noGrp="1"/>
          </p:cNvSpPr>
          <p:nvPr/>
        </p:nvSpPr>
        <p:spPr>
          <a:xfrm>
            <a:off x="4257675" y="3876675"/>
            <a:ext cx="2695575" cy="323850"/>
          </a:xfrm>
          <a:prstGeom prst="rect">
            <a:avLst/>
          </a:prstGeom>
          <a:noFill/>
          <a:ln w="0">
            <a:noFill/>
            <a:prstDash val="solid"/>
          </a:ln>
        </p:spPr>
        <p:txBody>
          <a:bodyPr lIns="76200" tIns="38100" rIns="76200" bIns="38100" anchor="t">
            <a:normAutofit fontScale="99206"/>
          </a:bodyPr>
          <a:lstStyle/>
          <a:p>
            <a:pPr algn="l">
              <a:lnSpc>
                <a:spcPct val="104000"/>
              </a:lnSpc>
              <a:buNone/>
              <a:defRPr sz="1575" b="1">
                <a:solidFill>
                  <a:srgbClr val="0F172A"/>
                </a:solidFill>
                <a:latin typeface="Noto Sans"/>
                <a:ea typeface="Noto Sans"/>
                <a:cs typeface="Noto Sans"/>
              </a:defRPr>
            </a:pPr>
            <a:r>
              <a:rPr sz="1575" b="1">
                <a:solidFill>
                  <a:srgbClr val="0F172A"/>
                </a:solidFill>
                <a:latin typeface="Noto Sans"/>
                <a:ea typeface="Noto Sans"/>
                <a:cs typeface="Noto Sans"/>
              </a:rPr>
              <a:t>Atklāj nenoteiktību</a:t>
            </a:r>
          </a:p>
        </p:txBody>
      </p:sp>
      <p:sp>
        <p:nvSpPr>
          <p:cNvPr id="19" name="Rectangle 18">
            <a:extLst>
              <a:ext uri="{FF2B5EF4-FFF2-40B4-BE49-F238E27FC236}">
                <a16:creationId xmlns:a16="http://schemas.microsoft.com/office/drawing/2014/main" id="{2A07BB37-ABB2-4238-B917-74A9B323135E}"/>
              </a:ext>
            </a:extLst>
          </p:cNvPr>
          <p:cNvSpPr>
            <a:spLocks noGrp="1"/>
          </p:cNvSpPr>
          <p:nvPr/>
        </p:nvSpPr>
        <p:spPr>
          <a:xfrm>
            <a:off x="4257675" y="4248150"/>
            <a:ext cx="2695575" cy="923925"/>
          </a:xfrm>
          <a:prstGeom prst="rect">
            <a:avLst/>
          </a:prstGeom>
          <a:noFill/>
          <a:ln w="0">
            <a:noFill/>
            <a:prstDash val="solid"/>
          </a:ln>
        </p:spPr>
        <p:txBody>
          <a:bodyPr lIns="76200" tIns="38100" rIns="76200" bIns="38100" anchor="t">
            <a:normAutofit/>
          </a:bodyPr>
          <a:lstStyle/>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Confidence, evidence un issues ir redzami review plūsmā.</a:t>
            </a:r>
          </a:p>
        </p:txBody>
      </p:sp>
      <p:sp>
        <p:nvSpPr>
          <p:cNvPr id="20" name="Rounded Rectangle 19">
            <a:extLst>
              <a:ext uri="{FF2B5EF4-FFF2-40B4-BE49-F238E27FC236}">
                <a16:creationId xmlns:a16="http://schemas.microsoft.com/office/drawing/2014/main" id="{B00F3C99-4E11-4FEF-9460-857200A1C023}"/>
              </a:ext>
            </a:extLst>
          </p:cNvPr>
          <p:cNvSpPr>
            <a:spLocks noGrp="1"/>
          </p:cNvSpPr>
          <p:nvPr/>
        </p:nvSpPr>
        <p:spPr>
          <a:xfrm>
            <a:off x="7410450" y="3733800"/>
            <a:ext cx="3076575" cy="1562100"/>
          </a:xfrm>
          <a:prstGeom prst="roundRect">
            <a:avLst>
              <a:gd name="adj" fmla="val 8537"/>
            </a:avLst>
          </a:prstGeom>
          <a:solidFill>
            <a:srgbClr val="F1F5F9"/>
          </a:solidFill>
          <a:ln w="9525">
            <a:solidFill>
              <a:srgbClr val="C7D7E2"/>
            </a:solidFill>
            <a:prstDash val="solid"/>
          </a:ln>
        </p:spPr>
        <p:txBody>
          <a:bodyPr/>
          <a:lstStyle/>
          <a:p>
            <a:endParaRPr lang="en-US"/>
          </a:p>
        </p:txBody>
      </p:sp>
      <p:sp>
        <p:nvSpPr>
          <p:cNvPr id="21" name="Rounded Rectangle 20">
            <a:extLst>
              <a:ext uri="{FF2B5EF4-FFF2-40B4-BE49-F238E27FC236}">
                <a16:creationId xmlns:a16="http://schemas.microsoft.com/office/drawing/2014/main" id="{2CBF69D9-9731-471B-A788-449C06E7ECFB}"/>
              </a:ext>
            </a:extLst>
          </p:cNvPr>
          <p:cNvSpPr>
            <a:spLocks noGrp="1"/>
          </p:cNvSpPr>
          <p:nvPr/>
        </p:nvSpPr>
        <p:spPr>
          <a:xfrm>
            <a:off x="7410450" y="3733800"/>
            <a:ext cx="66675" cy="1562100"/>
          </a:xfrm>
          <a:prstGeom prst="roundRect">
            <a:avLst>
              <a:gd name="adj" fmla="val 50000"/>
            </a:avLst>
          </a:prstGeom>
          <a:solidFill>
            <a:srgbClr val="E66A5C"/>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9379B8E1-71C0-4467-99DC-E66BF38D02D0}"/>
              </a:ext>
            </a:extLst>
          </p:cNvPr>
          <p:cNvSpPr>
            <a:spLocks noGrp="1"/>
          </p:cNvSpPr>
          <p:nvPr/>
        </p:nvSpPr>
        <p:spPr>
          <a:xfrm>
            <a:off x="7600950" y="3876675"/>
            <a:ext cx="2695575" cy="323850"/>
          </a:xfrm>
          <a:prstGeom prst="rect">
            <a:avLst/>
          </a:prstGeom>
          <a:noFill/>
          <a:ln w="0">
            <a:noFill/>
            <a:prstDash val="solid"/>
          </a:ln>
        </p:spPr>
        <p:txBody>
          <a:bodyPr lIns="76200" tIns="38100" rIns="76200" bIns="38100" anchor="t">
            <a:normAutofit fontScale="99206"/>
          </a:bodyPr>
          <a:lstStyle/>
          <a:p>
            <a:pPr algn="l">
              <a:lnSpc>
                <a:spcPct val="104000"/>
              </a:lnSpc>
              <a:buNone/>
              <a:defRPr sz="1575" b="1">
                <a:solidFill>
                  <a:srgbClr val="0F172A"/>
                </a:solidFill>
                <a:latin typeface="Noto Sans"/>
                <a:ea typeface="Noto Sans"/>
                <a:cs typeface="Noto Sans"/>
              </a:defRPr>
            </a:pPr>
            <a:r>
              <a:rPr sz="1575" b="1">
                <a:solidFill>
                  <a:srgbClr val="0F172A"/>
                </a:solidFill>
                <a:latin typeface="Noto Sans"/>
                <a:ea typeface="Noto Sans"/>
                <a:cs typeface="Noto Sans"/>
              </a:rPr>
              <a:t>Bloķē kļūdu</a:t>
            </a:r>
          </a:p>
        </p:txBody>
      </p:sp>
      <p:sp>
        <p:nvSpPr>
          <p:cNvPr id="23" name="Rectangle 22">
            <a:extLst>
              <a:ext uri="{FF2B5EF4-FFF2-40B4-BE49-F238E27FC236}">
                <a16:creationId xmlns:a16="http://schemas.microsoft.com/office/drawing/2014/main" id="{3DF7CA9F-9E05-4F4B-8C05-A4565B673CE8}"/>
              </a:ext>
            </a:extLst>
          </p:cNvPr>
          <p:cNvSpPr>
            <a:spLocks noGrp="1"/>
          </p:cNvSpPr>
          <p:nvPr/>
        </p:nvSpPr>
        <p:spPr>
          <a:xfrm>
            <a:off x="7600950" y="4248150"/>
            <a:ext cx="2695575" cy="923925"/>
          </a:xfrm>
          <a:prstGeom prst="rect">
            <a:avLst/>
          </a:prstGeom>
          <a:noFill/>
          <a:ln w="0">
            <a:noFill/>
            <a:prstDash val="solid"/>
          </a:ln>
        </p:spPr>
        <p:txBody>
          <a:bodyPr lIns="76200" tIns="38100" rIns="76200" bIns="38100" anchor="t">
            <a:normAutofit/>
          </a:bodyPr>
          <a:lstStyle/>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Errors neļauj approve/commit; warnings prasa apzinātu lēmumu.</a:t>
            </a:r>
          </a:p>
        </p:txBody>
      </p:sp>
      <p:sp>
        <p:nvSpPr>
          <p:cNvPr id="24" name="Rectangle 23">
            <a:extLst>
              <a:ext uri="{FF2B5EF4-FFF2-40B4-BE49-F238E27FC236}">
                <a16:creationId xmlns:a16="http://schemas.microsoft.com/office/drawing/2014/main" id="{EC11217D-A5C3-4023-B447-40A76205A39C}"/>
              </a:ext>
            </a:extLst>
          </p:cNvPr>
          <p:cNvSpPr>
            <a:spLocks noGrp="1"/>
          </p:cNvSpPr>
          <p:nvPr/>
        </p:nvSpPr>
        <p:spPr>
          <a:xfrm>
            <a:off x="723900" y="5629275"/>
            <a:ext cx="2733675" cy="266700"/>
          </a:xfrm>
          <a:prstGeom prst="rect">
            <a:avLst/>
          </a:prstGeom>
          <a:noFill/>
          <a:ln w="0">
            <a:noFill/>
            <a:prstDash val="solid"/>
          </a:ln>
        </p:spPr>
        <p:txBody>
          <a:bodyPr lIns="76200" tIns="38100" rIns="76200" bIns="38100" anchor="ctr">
            <a:normAutofit/>
          </a:bodyPr>
          <a:lstStyle/>
          <a:p>
            <a:pPr algn="l">
              <a:lnSpc>
                <a:spcPct val="104000"/>
              </a:lnSpc>
              <a:buNone/>
              <a:defRPr sz="1050" b="1">
                <a:solidFill>
                  <a:srgbClr val="E66A5C"/>
                </a:solidFill>
                <a:latin typeface="Noto Sans"/>
                <a:ea typeface="Noto Sans"/>
                <a:cs typeface="Noto Sans"/>
              </a:defRPr>
            </a:pPr>
            <a:r>
              <a:rPr sz="1050" b="1">
                <a:solidFill>
                  <a:srgbClr val="E66A5C"/>
                </a:solidFill>
                <a:latin typeface="Noto Sans"/>
                <a:ea typeface="Noto Sans"/>
                <a:cs typeface="Noto Sans"/>
              </a:rPr>
              <a:t>JĀPĀRBAUDA TIRGUS IZPĒTĒ</a:t>
            </a:r>
          </a:p>
        </p:txBody>
      </p:sp>
      <p:sp>
        <p:nvSpPr>
          <p:cNvPr id="25" name="Rectangle 24">
            <a:extLst>
              <a:ext uri="{FF2B5EF4-FFF2-40B4-BE49-F238E27FC236}">
                <a16:creationId xmlns:a16="http://schemas.microsoft.com/office/drawing/2014/main" id="{14A3C12F-85EE-4E89-B2BA-4FC4FCEE35AB}"/>
              </a:ext>
            </a:extLst>
          </p:cNvPr>
          <p:cNvSpPr>
            <a:spLocks noGrp="1"/>
          </p:cNvSpPr>
          <p:nvPr/>
        </p:nvSpPr>
        <p:spPr>
          <a:xfrm>
            <a:off x="3581400" y="5543550"/>
            <a:ext cx="7115175" cy="428625"/>
          </a:xfrm>
          <a:prstGeom prst="rect">
            <a:avLst/>
          </a:prstGeom>
          <a:noFill/>
          <a:ln w="0">
            <a:noFill/>
            <a:prstDash val="solid"/>
          </a:ln>
        </p:spPr>
        <p:txBody>
          <a:bodyPr lIns="76200" tIns="38100" rIns="76200" bIns="38100" anchor="ctr">
            <a:normAutofit fontScale="89227"/>
          </a:bodyPr>
          <a:lstStyle/>
          <a:p>
            <a:pPr algn="l">
              <a:lnSpc>
                <a:spcPct val="104000"/>
              </a:lnSpc>
              <a:buNone/>
              <a:defRPr sz="1500" b="0">
                <a:solidFill>
                  <a:srgbClr val="0F172A"/>
                </a:solidFill>
                <a:latin typeface="Noto Sans"/>
                <a:ea typeface="Noto Sans"/>
                <a:cs typeface="Noto Sans"/>
              </a:defRPr>
            </a:pPr>
            <a:r>
              <a:rPr sz="1500" b="0">
                <a:solidFill>
                  <a:srgbClr val="0F172A"/>
                </a:solidFill>
                <a:latin typeface="Noto Sans"/>
                <a:ea typeface="Noto Sans"/>
                <a:cs typeface="Noto Sans"/>
              </a:rPr>
              <a:t>Extraction pārklājums uz dažādiem reālu klientu dokumentu izkārtojumiem vēl nav pierādīts.</a:t>
            </a:r>
          </a:p>
        </p:txBody>
      </p:sp>
      <p:sp>
        <p:nvSpPr>
          <p:cNvPr id="26" name="Rectangle 25">
            <a:extLst>
              <a:ext uri="{FF2B5EF4-FFF2-40B4-BE49-F238E27FC236}">
                <a16:creationId xmlns:a16="http://schemas.microsoft.com/office/drawing/2014/main" id="{808B53F7-A697-49D3-AF37-65D86C54ECF5}"/>
              </a:ext>
            </a:extLst>
          </p:cNvPr>
          <p:cNvSpPr>
            <a:spLocks noGrp="1"/>
          </p:cNvSpPr>
          <p:nvPr/>
        </p:nvSpPr>
        <p:spPr>
          <a:xfrm>
            <a:off x="552450" y="6486525"/>
            <a:ext cx="4762500" cy="171450"/>
          </a:xfrm>
          <a:prstGeom prst="rect">
            <a:avLst/>
          </a:prstGeom>
          <a:noFill/>
          <a:ln w="0">
            <a:noFill/>
            <a:prstDash val="solid"/>
          </a:ln>
        </p:spPr>
        <p:txBody>
          <a:bodyPr lIns="76200" tIns="38100" rIns="76200" bIns="38100" anchor="ctr">
            <a:normAutofit fontScale="61637"/>
          </a:bodyPr>
          <a:lstStyle/>
          <a:p>
            <a:pPr algn="l">
              <a:lnSpc>
                <a:spcPct val="104000"/>
              </a:lnSpc>
              <a:buNone/>
              <a:defRPr sz="975" b="0">
                <a:solidFill>
                  <a:srgbClr val="94A3B8"/>
                </a:solidFill>
                <a:latin typeface="Noto Sans"/>
                <a:ea typeface="Noto Sans"/>
                <a:cs typeface="Noto Sans"/>
              </a:defRPr>
            </a:pPr>
            <a:r>
              <a:rPr sz="975" b="0">
                <a:solidFill>
                  <a:srgbClr val="94A3B8"/>
                </a:solidFill>
                <a:latin typeface="Noto Sans"/>
                <a:ea typeface="Noto Sans"/>
                <a:cs typeface="Noto Sans"/>
              </a:rPr>
              <a:t>Nav dokumentēta reāla klienta rēķina veiktspējas rezultāta; netiek izdomāts</a:t>
            </a:r>
          </a:p>
        </p:txBody>
      </p:sp>
    </p:spTree>
    <p:extLst>
      <p:ext uri="{BB962C8B-B14F-4D97-AF65-F5344CB8AC3E}">
        <p14:creationId xmlns:p14="http://schemas.microsoft.com/office/powerpoint/2010/main" val="526293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B790B72-A57E-4B16-B797-DD60D321A929}"/>
              </a:ext>
            </a:extLst>
          </p:cNvPr>
          <p:cNvSpPr>
            <a:spLocks noGrp="1"/>
          </p:cNvSpPr>
          <p:nvPr/>
        </p:nvSpPr>
        <p:spPr>
          <a:xfrm>
            <a:off x="552450" y="476250"/>
            <a:ext cx="7429500" cy="552450"/>
          </a:xfrm>
          <a:prstGeom prst="rect">
            <a:avLst/>
          </a:prstGeom>
          <a:noFill/>
          <a:ln w="0">
            <a:noFill/>
            <a:prstDash val="solid"/>
          </a:ln>
        </p:spPr>
        <p:txBody>
          <a:bodyPr lIns="76200" tIns="38100" rIns="76200" bIns="38100" anchor="ctr">
            <a:normAutofit fontScale="91055"/>
          </a:bodyPr>
          <a:lstStyle/>
          <a:p>
            <a:pPr algn="l">
              <a:lnSpc>
                <a:spcPct val="104000"/>
              </a:lnSpc>
              <a:buNone/>
              <a:defRPr sz="3300" b="1">
                <a:solidFill>
                  <a:srgbClr val="F8FAFC"/>
                </a:solidFill>
                <a:latin typeface="Noto Sans"/>
                <a:ea typeface="Noto Sans"/>
                <a:cs typeface="Noto Sans"/>
              </a:defRPr>
            </a:pPr>
            <a:r>
              <a:rPr sz="3300" b="1">
                <a:solidFill>
                  <a:srgbClr val="F8FAFC"/>
                </a:solidFill>
                <a:latin typeface="Noto Sans"/>
                <a:ea typeface="Noto Sans"/>
                <a:cs typeface="Noto Sans"/>
              </a:rPr>
              <a:t>No datiem līdz inteliģencei</a:t>
            </a:r>
          </a:p>
        </p:txBody>
      </p:sp>
      <p:sp>
        <p:nvSpPr>
          <p:cNvPr id="2" name="Rectangle 1">
            <a:extLst>
              <a:ext uri="{FF2B5EF4-FFF2-40B4-BE49-F238E27FC236}">
                <a16:creationId xmlns:a16="http://schemas.microsoft.com/office/drawing/2014/main" id="{2C462953-6F20-45E0-B291-22BAE04DD23D}"/>
              </a:ext>
            </a:extLst>
          </p:cNvPr>
          <p:cNvSpPr>
            <a:spLocks noGrp="1"/>
          </p:cNvSpPr>
          <p:nvPr/>
        </p:nvSpPr>
        <p:spPr>
          <a:xfrm>
            <a:off x="571500" y="1104900"/>
            <a:ext cx="9525000" cy="323850"/>
          </a:xfrm>
          <a:prstGeom prst="rect">
            <a:avLst/>
          </a:prstGeom>
          <a:noFill/>
          <a:ln w="0">
            <a:noFill/>
            <a:prstDash val="solid"/>
          </a:ln>
        </p:spPr>
        <p:txBody>
          <a:bodyPr lIns="76200" tIns="38100" rIns="76200" bIns="38100" anchor="ctr">
            <a:normAutofit fontScale="94697"/>
          </a:bodyPr>
          <a:lstStyle/>
          <a:p>
            <a:pPr algn="l">
              <a:lnSpc>
                <a:spcPct val="104000"/>
              </a:lnSpc>
              <a:buNone/>
              <a:defRPr sz="1650" b="0">
                <a:solidFill>
                  <a:srgbClr val="7DD3FC"/>
                </a:solidFill>
                <a:latin typeface="Noto Sans"/>
                <a:ea typeface="Noto Sans"/>
                <a:cs typeface="Noto Sans"/>
              </a:defRPr>
            </a:pPr>
            <a:r>
              <a:rPr sz="1650" b="0">
                <a:solidFill>
                  <a:srgbClr val="7DD3FC"/>
                </a:solidFill>
                <a:latin typeface="Noto Sans"/>
                <a:ea typeface="Noto Sans"/>
                <a:cs typeface="Noto Sans"/>
              </a:rPr>
              <a:t>Fakti tiek aprēķināti deterministiski. AI tos vēlāk var izskaidrot.</a:t>
            </a:r>
          </a:p>
        </p:txBody>
      </p:sp>
      <p:sp>
        <p:nvSpPr>
          <p:cNvPr id="3" name="Rounded Rectangle 2">
            <a:extLst>
              <a:ext uri="{FF2B5EF4-FFF2-40B4-BE49-F238E27FC236}">
                <a16:creationId xmlns:a16="http://schemas.microsoft.com/office/drawing/2014/main" id="{7ECBF2BE-8650-499A-96F5-2BE9E6232430}"/>
              </a:ext>
            </a:extLst>
          </p:cNvPr>
          <p:cNvSpPr>
            <a:spLocks noGrp="1"/>
          </p:cNvSpPr>
          <p:nvPr/>
        </p:nvSpPr>
        <p:spPr>
          <a:xfrm>
            <a:off x="571500" y="1809750"/>
            <a:ext cx="2324100" cy="590550"/>
          </a:xfrm>
          <a:prstGeom prst="roundRect">
            <a:avLst>
              <a:gd name="adj" fmla="val 16129"/>
            </a:avLst>
          </a:prstGeom>
          <a:solidFill>
            <a:srgbClr val="123A63"/>
          </a:solidFill>
          <a:ln w="0">
            <a:noFill/>
            <a:prstDash val="solid"/>
          </a:ln>
        </p:spPr>
        <p:txBody>
          <a:bodyPr lIns="76200" tIns="38100" rIns="76200" bIns="38100" anchor="ctr">
            <a:normAutofit/>
          </a:bodyPr>
          <a:lstStyle/>
          <a:p>
            <a:pPr algn="ctr">
              <a:lnSpc>
                <a:spcPct val="104000"/>
              </a:lnSpc>
              <a:buNone/>
              <a:defRPr sz="1275" b="1">
                <a:solidFill>
                  <a:srgbClr val="F8FAFC"/>
                </a:solidFill>
                <a:latin typeface="Noto Sans"/>
                <a:ea typeface="Noto Sans"/>
                <a:cs typeface="Noto Sans"/>
              </a:defRPr>
            </a:pPr>
            <a:r>
              <a:rPr sz="1275" b="1">
                <a:solidFill>
                  <a:srgbClr val="F8FAFC"/>
                </a:solidFill>
                <a:latin typeface="Noto Sans"/>
                <a:ea typeface="Noto Sans"/>
                <a:cs typeface="Noto Sans"/>
              </a:rPr>
              <a:t>CANONICAL MODEL</a:t>
            </a:r>
          </a:p>
        </p:txBody>
      </p:sp>
      <p:sp>
        <p:nvSpPr>
          <p:cNvPr id="4" name="Rectangle 3">
            <a:extLst>
              <a:ext uri="{FF2B5EF4-FFF2-40B4-BE49-F238E27FC236}">
                <a16:creationId xmlns:a16="http://schemas.microsoft.com/office/drawing/2014/main" id="{0D0C2D57-4C3E-49F3-B74A-0EA7D9CA9D43}"/>
              </a:ext>
            </a:extLst>
          </p:cNvPr>
          <p:cNvSpPr>
            <a:spLocks noGrp="1"/>
          </p:cNvSpPr>
          <p:nvPr/>
        </p:nvSpPr>
        <p:spPr>
          <a:xfrm>
            <a:off x="2952750" y="1847850"/>
            <a:ext cx="419100" cy="514350"/>
          </a:xfrm>
          <a:prstGeom prst="rect">
            <a:avLst/>
          </a:prstGeom>
          <a:noFill/>
          <a:ln w="0">
            <a:noFill/>
            <a:prstDash val="solid"/>
          </a:ln>
        </p:spPr>
        <p:txBody>
          <a:bodyPr lIns="76200" tIns="38100" rIns="76200" bIns="38100" anchor="ctr">
            <a:normAutofit fontScale="87764"/>
          </a:bodyPr>
          <a:lstStyle/>
          <a:p>
            <a:pPr algn="ctr">
              <a:lnSpc>
                <a:spcPct val="104000"/>
              </a:lnSpc>
              <a:buNone/>
              <a:defRPr sz="2400" b="0">
                <a:solidFill>
                  <a:srgbClr val="7DD3FC"/>
                </a:solidFill>
                <a:latin typeface="Noto Sans"/>
                <a:ea typeface="Noto Sans"/>
                <a:cs typeface="Noto Sans"/>
              </a:defRPr>
            </a:pPr>
            <a:r>
              <a:rPr sz="2400" b="0">
                <a:solidFill>
                  <a:srgbClr val="7DD3FC"/>
                </a:solidFill>
                <a:latin typeface="Noto Sans"/>
                <a:ea typeface="Noto Sans"/>
                <a:cs typeface="Noto Sans"/>
              </a:rPr>
              <a:t>→</a:t>
            </a:r>
          </a:p>
        </p:txBody>
      </p:sp>
      <p:sp>
        <p:nvSpPr>
          <p:cNvPr id="5" name="Rounded Rectangle 4">
            <a:extLst>
              <a:ext uri="{FF2B5EF4-FFF2-40B4-BE49-F238E27FC236}">
                <a16:creationId xmlns:a16="http://schemas.microsoft.com/office/drawing/2014/main" id="{E7523A49-2E9D-4920-B414-37703D0DB870}"/>
              </a:ext>
            </a:extLst>
          </p:cNvPr>
          <p:cNvSpPr>
            <a:spLocks noGrp="1"/>
          </p:cNvSpPr>
          <p:nvPr/>
        </p:nvSpPr>
        <p:spPr>
          <a:xfrm>
            <a:off x="3409950" y="1809750"/>
            <a:ext cx="2324100" cy="590550"/>
          </a:xfrm>
          <a:prstGeom prst="roundRect">
            <a:avLst>
              <a:gd name="adj" fmla="val 16129"/>
            </a:avLst>
          </a:prstGeom>
          <a:solidFill>
            <a:srgbClr val="123A63"/>
          </a:solidFill>
          <a:ln w="0">
            <a:noFill/>
            <a:prstDash val="solid"/>
          </a:ln>
        </p:spPr>
        <p:txBody>
          <a:bodyPr lIns="76200" tIns="38100" rIns="76200" bIns="38100" anchor="ctr">
            <a:normAutofit/>
          </a:bodyPr>
          <a:lstStyle/>
          <a:p>
            <a:pPr algn="ctr">
              <a:lnSpc>
                <a:spcPct val="104000"/>
              </a:lnSpc>
              <a:buNone/>
              <a:defRPr sz="1275" b="1">
                <a:solidFill>
                  <a:srgbClr val="F8FAFC"/>
                </a:solidFill>
                <a:latin typeface="Noto Sans"/>
                <a:ea typeface="Noto Sans"/>
                <a:cs typeface="Noto Sans"/>
              </a:defRPr>
            </a:pPr>
            <a:r>
              <a:rPr sz="1275" b="1">
                <a:solidFill>
                  <a:srgbClr val="F8FAFC"/>
                </a:solidFill>
                <a:latin typeface="Noto Sans"/>
                <a:ea typeface="Noto Sans"/>
                <a:cs typeface="Noto Sans"/>
              </a:rPr>
              <a:t>METRIC ENGINE</a:t>
            </a:r>
          </a:p>
        </p:txBody>
      </p:sp>
      <p:sp>
        <p:nvSpPr>
          <p:cNvPr id="6" name="Rectangle 5">
            <a:extLst>
              <a:ext uri="{FF2B5EF4-FFF2-40B4-BE49-F238E27FC236}">
                <a16:creationId xmlns:a16="http://schemas.microsoft.com/office/drawing/2014/main" id="{B8B7AB0E-488B-4358-B0BF-25B199DB2856}"/>
              </a:ext>
            </a:extLst>
          </p:cNvPr>
          <p:cNvSpPr>
            <a:spLocks noGrp="1"/>
          </p:cNvSpPr>
          <p:nvPr/>
        </p:nvSpPr>
        <p:spPr>
          <a:xfrm>
            <a:off x="5791200" y="1847850"/>
            <a:ext cx="419100" cy="514350"/>
          </a:xfrm>
          <a:prstGeom prst="rect">
            <a:avLst/>
          </a:prstGeom>
          <a:noFill/>
          <a:ln w="0">
            <a:noFill/>
            <a:prstDash val="solid"/>
          </a:ln>
        </p:spPr>
        <p:txBody>
          <a:bodyPr lIns="76200" tIns="38100" rIns="76200" bIns="38100" anchor="ctr">
            <a:normAutofit fontScale="87764"/>
          </a:bodyPr>
          <a:lstStyle/>
          <a:p>
            <a:pPr algn="ctr">
              <a:lnSpc>
                <a:spcPct val="104000"/>
              </a:lnSpc>
              <a:buNone/>
              <a:defRPr sz="2400" b="0">
                <a:solidFill>
                  <a:srgbClr val="7DD3FC"/>
                </a:solidFill>
                <a:latin typeface="Noto Sans"/>
                <a:ea typeface="Noto Sans"/>
                <a:cs typeface="Noto Sans"/>
              </a:defRPr>
            </a:pPr>
            <a:r>
              <a:rPr sz="2400" b="0">
                <a:solidFill>
                  <a:srgbClr val="7DD3FC"/>
                </a:solidFill>
                <a:latin typeface="Noto Sans"/>
                <a:ea typeface="Noto Sans"/>
                <a:cs typeface="Noto Sans"/>
              </a:rPr>
              <a:t>→</a:t>
            </a:r>
          </a:p>
        </p:txBody>
      </p:sp>
      <p:sp>
        <p:nvSpPr>
          <p:cNvPr id="7" name="Rounded Rectangle 6">
            <a:extLst>
              <a:ext uri="{FF2B5EF4-FFF2-40B4-BE49-F238E27FC236}">
                <a16:creationId xmlns:a16="http://schemas.microsoft.com/office/drawing/2014/main" id="{9B3DEC65-A2D2-418F-AD12-EB77CCBC2184}"/>
              </a:ext>
            </a:extLst>
          </p:cNvPr>
          <p:cNvSpPr>
            <a:spLocks noGrp="1"/>
          </p:cNvSpPr>
          <p:nvPr/>
        </p:nvSpPr>
        <p:spPr>
          <a:xfrm>
            <a:off x="6248400" y="1809750"/>
            <a:ext cx="2324100" cy="590550"/>
          </a:xfrm>
          <a:prstGeom prst="roundRect">
            <a:avLst>
              <a:gd name="adj" fmla="val 16129"/>
            </a:avLst>
          </a:prstGeom>
          <a:solidFill>
            <a:srgbClr val="123A63"/>
          </a:solidFill>
          <a:ln w="0">
            <a:noFill/>
            <a:prstDash val="solid"/>
          </a:ln>
        </p:spPr>
        <p:txBody>
          <a:bodyPr lIns="76200" tIns="38100" rIns="76200" bIns="38100" anchor="ctr">
            <a:normAutofit/>
          </a:bodyPr>
          <a:lstStyle/>
          <a:p>
            <a:pPr algn="ctr">
              <a:lnSpc>
                <a:spcPct val="104000"/>
              </a:lnSpc>
              <a:buNone/>
              <a:defRPr sz="1275" b="1">
                <a:solidFill>
                  <a:srgbClr val="F8FAFC"/>
                </a:solidFill>
                <a:latin typeface="Noto Sans"/>
                <a:ea typeface="Noto Sans"/>
                <a:cs typeface="Noto Sans"/>
              </a:defRPr>
            </a:pPr>
            <a:r>
              <a:rPr sz="1275" b="1">
                <a:solidFill>
                  <a:srgbClr val="F8FAFC"/>
                </a:solidFill>
                <a:latin typeface="Noto Sans"/>
                <a:ea typeface="Noto Sans"/>
                <a:cs typeface="Noto Sans"/>
              </a:rPr>
              <a:t>ANALYTICS</a:t>
            </a:r>
          </a:p>
        </p:txBody>
      </p:sp>
      <p:sp>
        <p:nvSpPr>
          <p:cNvPr id="8" name="Rectangle 7">
            <a:extLst>
              <a:ext uri="{FF2B5EF4-FFF2-40B4-BE49-F238E27FC236}">
                <a16:creationId xmlns:a16="http://schemas.microsoft.com/office/drawing/2014/main" id="{91D99EB1-EF9A-4487-A601-9F09DFF290C3}"/>
              </a:ext>
            </a:extLst>
          </p:cNvPr>
          <p:cNvSpPr>
            <a:spLocks noGrp="1"/>
          </p:cNvSpPr>
          <p:nvPr/>
        </p:nvSpPr>
        <p:spPr>
          <a:xfrm>
            <a:off x="8629650" y="1847850"/>
            <a:ext cx="419100" cy="514350"/>
          </a:xfrm>
          <a:prstGeom prst="rect">
            <a:avLst/>
          </a:prstGeom>
          <a:noFill/>
          <a:ln w="0">
            <a:noFill/>
            <a:prstDash val="solid"/>
          </a:ln>
        </p:spPr>
        <p:txBody>
          <a:bodyPr lIns="76200" tIns="38100" rIns="76200" bIns="38100" anchor="ctr">
            <a:normAutofit fontScale="87764"/>
          </a:bodyPr>
          <a:lstStyle/>
          <a:p>
            <a:pPr algn="ctr">
              <a:lnSpc>
                <a:spcPct val="104000"/>
              </a:lnSpc>
              <a:buNone/>
              <a:defRPr sz="2400" b="0">
                <a:solidFill>
                  <a:srgbClr val="7DD3FC"/>
                </a:solidFill>
                <a:latin typeface="Noto Sans"/>
                <a:ea typeface="Noto Sans"/>
                <a:cs typeface="Noto Sans"/>
              </a:defRPr>
            </a:pPr>
            <a:r>
              <a:rPr sz="2400" b="0">
                <a:solidFill>
                  <a:srgbClr val="7DD3FC"/>
                </a:solidFill>
                <a:latin typeface="Noto Sans"/>
                <a:ea typeface="Noto Sans"/>
                <a:cs typeface="Noto Sans"/>
              </a:rPr>
              <a:t>→</a:t>
            </a:r>
          </a:p>
        </p:txBody>
      </p:sp>
      <p:sp>
        <p:nvSpPr>
          <p:cNvPr id="9" name="Rounded Rectangle 8">
            <a:extLst>
              <a:ext uri="{FF2B5EF4-FFF2-40B4-BE49-F238E27FC236}">
                <a16:creationId xmlns:a16="http://schemas.microsoft.com/office/drawing/2014/main" id="{98692583-03EF-481E-A5E8-EB8F2ACE8273}"/>
              </a:ext>
            </a:extLst>
          </p:cNvPr>
          <p:cNvSpPr>
            <a:spLocks noGrp="1"/>
          </p:cNvSpPr>
          <p:nvPr/>
        </p:nvSpPr>
        <p:spPr>
          <a:xfrm>
            <a:off x="9086850" y="1809750"/>
            <a:ext cx="2324100" cy="590550"/>
          </a:xfrm>
          <a:prstGeom prst="roundRect">
            <a:avLst>
              <a:gd name="adj" fmla="val 16129"/>
            </a:avLst>
          </a:prstGeom>
          <a:solidFill>
            <a:srgbClr val="38BDF8"/>
          </a:solidFill>
          <a:ln w="0">
            <a:noFill/>
            <a:prstDash val="solid"/>
          </a:ln>
        </p:spPr>
        <p:txBody>
          <a:bodyPr lIns="76200" tIns="38100" rIns="76200" bIns="38100" anchor="ctr">
            <a:normAutofit/>
          </a:bodyPr>
          <a:lstStyle/>
          <a:p>
            <a:pPr algn="ctr">
              <a:lnSpc>
                <a:spcPct val="104000"/>
              </a:lnSpc>
              <a:buNone/>
              <a:defRPr sz="1275" b="1">
                <a:solidFill>
                  <a:srgbClr val="071525"/>
                </a:solidFill>
                <a:latin typeface="Noto Sans"/>
                <a:ea typeface="Noto Sans"/>
                <a:cs typeface="Noto Sans"/>
              </a:defRPr>
            </a:pPr>
            <a:r>
              <a:rPr sz="1275" b="1">
                <a:solidFill>
                  <a:srgbClr val="071525"/>
                </a:solidFill>
                <a:latin typeface="Noto Sans"/>
                <a:ea typeface="Noto Sans"/>
                <a:cs typeface="Noto Sans"/>
              </a:rPr>
              <a:t>INSIGHT DETECTION</a:t>
            </a:r>
          </a:p>
        </p:txBody>
      </p:sp>
      <p:sp>
        <p:nvSpPr>
          <p:cNvPr id="10" name="Rounded Rectangle 9">
            <a:extLst>
              <a:ext uri="{FF2B5EF4-FFF2-40B4-BE49-F238E27FC236}">
                <a16:creationId xmlns:a16="http://schemas.microsoft.com/office/drawing/2014/main" id="{45B8BD43-1DA1-4FE5-83AF-E0B75B8748FD}"/>
              </a:ext>
            </a:extLst>
          </p:cNvPr>
          <p:cNvSpPr>
            <a:spLocks noGrp="1"/>
          </p:cNvSpPr>
          <p:nvPr/>
        </p:nvSpPr>
        <p:spPr>
          <a:xfrm>
            <a:off x="590550" y="2914650"/>
            <a:ext cx="11001375" cy="2724150"/>
          </a:xfrm>
          <a:prstGeom prst="roundRect">
            <a:avLst>
              <a:gd name="adj" fmla="val 5594"/>
            </a:avLst>
          </a:prstGeom>
          <a:solidFill>
            <a:srgbClr val="102A44"/>
          </a:solidFill>
          <a:ln w="9525">
            <a:solidFill>
              <a:srgbClr val="244A6B"/>
            </a:solidFill>
            <a:prstDash val="solid"/>
          </a:ln>
        </p:spPr>
        <p:txBody>
          <a:bodyPr/>
          <a:lstStyle/>
          <a:p>
            <a:endParaRPr lang="en-US"/>
          </a:p>
        </p:txBody>
      </p:sp>
      <p:sp>
        <p:nvSpPr>
          <p:cNvPr id="11" name="Rectangle 10">
            <a:extLst>
              <a:ext uri="{FF2B5EF4-FFF2-40B4-BE49-F238E27FC236}">
                <a16:creationId xmlns:a16="http://schemas.microsoft.com/office/drawing/2014/main" id="{AD688FFC-1F34-4E2B-AF58-14DD010E9B8B}"/>
              </a:ext>
            </a:extLst>
          </p:cNvPr>
          <p:cNvSpPr>
            <a:spLocks noGrp="1"/>
          </p:cNvSpPr>
          <p:nvPr/>
        </p:nvSpPr>
        <p:spPr>
          <a:xfrm>
            <a:off x="828675" y="3114675"/>
            <a:ext cx="2476500" cy="238125"/>
          </a:xfrm>
          <a:prstGeom prst="rect">
            <a:avLst/>
          </a:prstGeom>
          <a:noFill/>
          <a:ln w="0">
            <a:noFill/>
            <a:prstDash val="solid"/>
          </a:ln>
        </p:spPr>
        <p:txBody>
          <a:bodyPr lIns="76200" tIns="38100" rIns="76200" bIns="38100" anchor="ctr">
            <a:normAutofit fontScale="97298"/>
          </a:bodyPr>
          <a:lstStyle/>
          <a:p>
            <a:pPr algn="l">
              <a:lnSpc>
                <a:spcPct val="104000"/>
              </a:lnSpc>
              <a:buNone/>
              <a:defRPr sz="1050" b="1">
                <a:solidFill>
                  <a:srgbClr val="38BDF8"/>
                </a:solidFill>
                <a:latin typeface="Noto Sans"/>
                <a:ea typeface="Noto Sans"/>
                <a:cs typeface="Noto Sans"/>
              </a:defRPr>
            </a:pPr>
            <a:r>
              <a:rPr sz="1050" b="1">
                <a:solidFill>
                  <a:srgbClr val="38BDF8"/>
                </a:solidFill>
                <a:latin typeface="Noto Sans"/>
                <a:ea typeface="Noto Sans"/>
                <a:cs typeface="Noto Sans"/>
              </a:rPr>
              <a:t>SINTĒTISKS DEMO PIEMĒRS</a:t>
            </a:r>
          </a:p>
        </p:txBody>
      </p:sp>
      <p:sp>
        <p:nvSpPr>
          <p:cNvPr id="12" name="Rectangle 11">
            <a:extLst>
              <a:ext uri="{FF2B5EF4-FFF2-40B4-BE49-F238E27FC236}">
                <a16:creationId xmlns:a16="http://schemas.microsoft.com/office/drawing/2014/main" id="{3BCDCD07-F580-46D9-960D-7888B9BBB475}"/>
              </a:ext>
            </a:extLst>
          </p:cNvPr>
          <p:cNvSpPr>
            <a:spLocks noGrp="1"/>
          </p:cNvSpPr>
          <p:nvPr/>
        </p:nvSpPr>
        <p:spPr>
          <a:xfrm>
            <a:off x="828675" y="3476625"/>
            <a:ext cx="3619500" cy="457200"/>
          </a:xfrm>
          <a:prstGeom prst="rect">
            <a:avLst/>
          </a:prstGeom>
          <a:noFill/>
          <a:ln w="0">
            <a:noFill/>
            <a:prstDash val="solid"/>
          </a:ln>
        </p:spPr>
        <p:txBody>
          <a:bodyPr lIns="76200" tIns="38100" rIns="76200" bIns="38100" anchor="ctr">
            <a:normAutofit fontScale="94268"/>
          </a:bodyPr>
          <a:lstStyle/>
          <a:p>
            <a:pPr algn="l">
              <a:lnSpc>
                <a:spcPct val="104000"/>
              </a:lnSpc>
              <a:buNone/>
              <a:defRPr sz="2550" b="1">
                <a:solidFill>
                  <a:srgbClr val="F8FAFC"/>
                </a:solidFill>
                <a:latin typeface="Noto Sans"/>
                <a:ea typeface="Noto Sans"/>
                <a:cs typeface="Noto Sans"/>
              </a:defRPr>
            </a:pPr>
            <a:r>
              <a:rPr sz="2550" b="1">
                <a:solidFill>
                  <a:srgbClr val="F8FAFC"/>
                </a:solidFill>
                <a:latin typeface="Noto Sans"/>
                <a:ea typeface="Noto Sans"/>
                <a:cs typeface="Noto Sans"/>
              </a:rPr>
              <a:t>Rīga → Roterdama</a:t>
            </a:r>
          </a:p>
        </p:txBody>
      </p:sp>
      <p:sp>
        <p:nvSpPr>
          <p:cNvPr id="13" name="Rectangle 12">
            <a:extLst>
              <a:ext uri="{FF2B5EF4-FFF2-40B4-BE49-F238E27FC236}">
                <a16:creationId xmlns:a16="http://schemas.microsoft.com/office/drawing/2014/main" id="{D6D67E1C-2A85-4814-B34A-825FF9C51148}"/>
              </a:ext>
            </a:extLst>
          </p:cNvPr>
          <p:cNvSpPr>
            <a:spLocks noGrp="1"/>
          </p:cNvSpPr>
          <p:nvPr/>
        </p:nvSpPr>
        <p:spPr>
          <a:xfrm>
            <a:off x="828675" y="4038600"/>
            <a:ext cx="2571750" cy="266700"/>
          </a:xfrm>
          <a:prstGeom prst="rect">
            <a:avLst/>
          </a:prstGeom>
          <a:noFill/>
          <a:ln w="0">
            <a:noFill/>
            <a:prstDash val="solid"/>
          </a:ln>
        </p:spPr>
        <p:txBody>
          <a:bodyPr lIns="76200" tIns="38100" rIns="76200" bIns="38100" anchor="ctr">
            <a:normAutofit fontScale="89031"/>
          </a:bodyPr>
          <a:lstStyle/>
          <a:p>
            <a:pPr algn="l">
              <a:lnSpc>
                <a:spcPct val="104000"/>
              </a:lnSpc>
              <a:buNone/>
              <a:defRPr sz="1350" b="0">
                <a:solidFill>
                  <a:srgbClr val="94A3B8"/>
                </a:solidFill>
                <a:latin typeface="Noto Sans"/>
                <a:ea typeface="Noto Sans"/>
                <a:cs typeface="Noto Sans"/>
              </a:defRPr>
            </a:pPr>
            <a:r>
              <a:rPr sz="1350" b="0">
                <a:solidFill>
                  <a:srgbClr val="94A3B8"/>
                </a:solidFill>
                <a:latin typeface="Noto Sans"/>
                <a:ea typeface="Noto Sans"/>
                <a:cs typeface="Noto Sans"/>
              </a:rPr>
              <a:t>Contribution margin</a:t>
            </a:r>
          </a:p>
        </p:txBody>
      </p:sp>
      <p:sp>
        <p:nvSpPr>
          <p:cNvPr id="14" name="Rectangle 13">
            <a:extLst>
              <a:ext uri="{FF2B5EF4-FFF2-40B4-BE49-F238E27FC236}">
                <a16:creationId xmlns:a16="http://schemas.microsoft.com/office/drawing/2014/main" id="{AEEF7845-0DE2-4EEC-9655-DD6BEDF3BC94}"/>
              </a:ext>
            </a:extLst>
          </p:cNvPr>
          <p:cNvSpPr>
            <a:spLocks noGrp="1"/>
          </p:cNvSpPr>
          <p:nvPr/>
        </p:nvSpPr>
        <p:spPr>
          <a:xfrm>
            <a:off x="828675" y="4400550"/>
            <a:ext cx="1619250" cy="685800"/>
          </a:xfrm>
          <a:prstGeom prst="rect">
            <a:avLst/>
          </a:prstGeom>
          <a:noFill/>
          <a:ln w="0">
            <a:noFill/>
            <a:prstDash val="solid"/>
          </a:ln>
        </p:spPr>
        <p:txBody>
          <a:bodyPr lIns="76200" tIns="38100" rIns="76200" bIns="38100" anchor="ctr">
            <a:normAutofit/>
          </a:bodyPr>
          <a:lstStyle/>
          <a:p>
            <a:pPr algn="l">
              <a:lnSpc>
                <a:spcPct val="104000"/>
              </a:lnSpc>
              <a:buNone/>
              <a:defRPr sz="3750" b="1">
                <a:solidFill>
                  <a:srgbClr val="F8FAFC"/>
                </a:solidFill>
                <a:latin typeface="Noto Sans"/>
                <a:ea typeface="Noto Sans"/>
                <a:cs typeface="Noto Sans"/>
              </a:defRPr>
            </a:pPr>
            <a:r>
              <a:rPr sz="3750" b="1">
                <a:solidFill>
                  <a:srgbClr val="F8FAFC"/>
                </a:solidFill>
                <a:latin typeface="Noto Sans"/>
                <a:ea typeface="Noto Sans"/>
                <a:cs typeface="Noto Sans"/>
              </a:rPr>
              <a:t>22,6%</a:t>
            </a:r>
          </a:p>
        </p:txBody>
      </p:sp>
      <p:sp>
        <p:nvSpPr>
          <p:cNvPr id="15" name="Rectangle 14">
            <a:extLst>
              <a:ext uri="{FF2B5EF4-FFF2-40B4-BE49-F238E27FC236}">
                <a16:creationId xmlns:a16="http://schemas.microsoft.com/office/drawing/2014/main" id="{85BF07E7-0EFD-46CB-B16A-77914922F7CF}"/>
              </a:ext>
            </a:extLst>
          </p:cNvPr>
          <p:cNvSpPr>
            <a:spLocks noGrp="1"/>
          </p:cNvSpPr>
          <p:nvPr/>
        </p:nvSpPr>
        <p:spPr>
          <a:xfrm>
            <a:off x="2428875" y="4457700"/>
            <a:ext cx="571500" cy="552450"/>
          </a:xfrm>
          <a:prstGeom prst="rect">
            <a:avLst/>
          </a:prstGeom>
          <a:noFill/>
          <a:ln w="0">
            <a:noFill/>
            <a:prstDash val="solid"/>
          </a:ln>
        </p:spPr>
        <p:txBody>
          <a:bodyPr lIns="76200" tIns="38100" rIns="76200" bIns="38100" anchor="ctr">
            <a:normAutofit/>
          </a:bodyPr>
          <a:lstStyle/>
          <a:p>
            <a:pPr algn="ctr">
              <a:lnSpc>
                <a:spcPct val="104000"/>
              </a:lnSpc>
              <a:buNone/>
              <a:defRPr sz="2850" b="0">
                <a:solidFill>
                  <a:srgbClr val="7DD3FC"/>
                </a:solidFill>
                <a:latin typeface="Noto Sans"/>
                <a:ea typeface="Noto Sans"/>
                <a:cs typeface="Noto Sans"/>
              </a:defRPr>
            </a:pPr>
            <a:r>
              <a:rPr sz="2850" b="0">
                <a:solidFill>
                  <a:srgbClr val="7DD3FC"/>
                </a:solidFill>
                <a:latin typeface="Noto Sans"/>
                <a:ea typeface="Noto Sans"/>
                <a:cs typeface="Noto Sans"/>
              </a:rPr>
              <a:t>→</a:t>
            </a:r>
          </a:p>
        </p:txBody>
      </p:sp>
      <p:sp>
        <p:nvSpPr>
          <p:cNvPr id="16" name="Rectangle 15">
            <a:extLst>
              <a:ext uri="{FF2B5EF4-FFF2-40B4-BE49-F238E27FC236}">
                <a16:creationId xmlns:a16="http://schemas.microsoft.com/office/drawing/2014/main" id="{DF73B5E4-DAED-4F3C-AAD4-8C4ADAA88429}"/>
              </a:ext>
            </a:extLst>
          </p:cNvPr>
          <p:cNvSpPr>
            <a:spLocks noGrp="1"/>
          </p:cNvSpPr>
          <p:nvPr/>
        </p:nvSpPr>
        <p:spPr>
          <a:xfrm>
            <a:off x="3009900" y="4400550"/>
            <a:ext cx="1714500" cy="685800"/>
          </a:xfrm>
          <a:prstGeom prst="rect">
            <a:avLst/>
          </a:prstGeom>
          <a:noFill/>
          <a:ln w="0">
            <a:noFill/>
            <a:prstDash val="solid"/>
          </a:ln>
        </p:spPr>
        <p:txBody>
          <a:bodyPr lIns="76200" tIns="38100" rIns="76200" bIns="38100" anchor="ctr">
            <a:normAutofit/>
          </a:bodyPr>
          <a:lstStyle/>
          <a:p>
            <a:pPr algn="l">
              <a:lnSpc>
                <a:spcPct val="104000"/>
              </a:lnSpc>
              <a:buNone/>
              <a:defRPr sz="3750" b="1">
                <a:solidFill>
                  <a:srgbClr val="38BDF8"/>
                </a:solidFill>
                <a:latin typeface="Noto Sans"/>
                <a:ea typeface="Noto Sans"/>
                <a:cs typeface="Noto Sans"/>
              </a:defRPr>
            </a:pPr>
            <a:r>
              <a:rPr sz="3750" b="1">
                <a:solidFill>
                  <a:srgbClr val="38BDF8"/>
                </a:solidFill>
                <a:latin typeface="Noto Sans"/>
                <a:ea typeface="Noto Sans"/>
                <a:cs typeface="Noto Sans"/>
              </a:rPr>
              <a:t>16,3%</a:t>
            </a:r>
          </a:p>
        </p:txBody>
      </p:sp>
      <p:sp>
        <p:nvSpPr>
          <p:cNvPr id="17" name="Rounded Rectangle 16">
            <a:extLst>
              <a:ext uri="{FF2B5EF4-FFF2-40B4-BE49-F238E27FC236}">
                <a16:creationId xmlns:a16="http://schemas.microsoft.com/office/drawing/2014/main" id="{5C7081FA-219F-4C4E-8302-E67830900245}"/>
              </a:ext>
            </a:extLst>
          </p:cNvPr>
          <p:cNvSpPr>
            <a:spLocks noGrp="1"/>
          </p:cNvSpPr>
          <p:nvPr/>
        </p:nvSpPr>
        <p:spPr>
          <a:xfrm>
            <a:off x="5610225" y="3371850"/>
            <a:ext cx="2514600" cy="1390650"/>
          </a:xfrm>
          <a:prstGeom prst="roundRect">
            <a:avLst>
              <a:gd name="adj" fmla="val 9589"/>
            </a:avLst>
          </a:prstGeom>
          <a:solidFill>
            <a:srgbClr val="123A63"/>
          </a:solidFill>
          <a:ln w="9525">
            <a:solidFill>
              <a:srgbClr val="123A63"/>
            </a:solidFill>
            <a:prstDash val="solid"/>
          </a:ln>
        </p:spPr>
        <p:txBody>
          <a:bodyPr/>
          <a:lstStyle/>
          <a:p>
            <a:endParaRPr lang="en-US"/>
          </a:p>
        </p:txBody>
      </p:sp>
      <p:sp>
        <p:nvSpPr>
          <p:cNvPr id="18" name="Rectangle 17">
            <a:extLst>
              <a:ext uri="{FF2B5EF4-FFF2-40B4-BE49-F238E27FC236}">
                <a16:creationId xmlns:a16="http://schemas.microsoft.com/office/drawing/2014/main" id="{68CEAE6C-3DB0-4D04-8256-5E8BE1F1E94E}"/>
              </a:ext>
            </a:extLst>
          </p:cNvPr>
          <p:cNvSpPr>
            <a:spLocks noGrp="1"/>
          </p:cNvSpPr>
          <p:nvPr/>
        </p:nvSpPr>
        <p:spPr>
          <a:xfrm>
            <a:off x="5800725" y="3514725"/>
            <a:ext cx="2133600" cy="323850"/>
          </a:xfrm>
          <a:prstGeom prst="rect">
            <a:avLst/>
          </a:prstGeom>
          <a:noFill/>
          <a:ln w="0">
            <a:noFill/>
            <a:prstDash val="solid"/>
          </a:ln>
        </p:spPr>
        <p:txBody>
          <a:bodyPr lIns="76200" tIns="38100" rIns="76200" bIns="38100" anchor="t">
            <a:normAutofit/>
          </a:bodyPr>
          <a:lstStyle/>
          <a:p>
            <a:pPr algn="l">
              <a:lnSpc>
                <a:spcPct val="104000"/>
              </a:lnSpc>
              <a:buNone/>
              <a:defRPr sz="1350" b="1">
                <a:solidFill>
                  <a:srgbClr val="94A3B8"/>
                </a:solidFill>
                <a:latin typeface="Noto Sans"/>
                <a:ea typeface="Noto Sans"/>
                <a:cs typeface="Noto Sans"/>
              </a:defRPr>
            </a:pPr>
            <a:r>
              <a:rPr sz="1350" b="1">
                <a:solidFill>
                  <a:srgbClr val="94A3B8"/>
                </a:solidFill>
                <a:latin typeface="Noto Sans"/>
                <a:ea typeface="Noto Sans"/>
                <a:cs typeface="Noto Sans"/>
              </a:rPr>
              <a:t>Cost / TEU</a:t>
            </a:r>
          </a:p>
        </p:txBody>
      </p:sp>
      <p:sp>
        <p:nvSpPr>
          <p:cNvPr id="19" name="Rectangle 18">
            <a:extLst>
              <a:ext uri="{FF2B5EF4-FFF2-40B4-BE49-F238E27FC236}">
                <a16:creationId xmlns:a16="http://schemas.microsoft.com/office/drawing/2014/main" id="{C265DB1C-30E5-4C6E-88FF-2CF743D6C21A}"/>
              </a:ext>
            </a:extLst>
          </p:cNvPr>
          <p:cNvSpPr>
            <a:spLocks noGrp="1"/>
          </p:cNvSpPr>
          <p:nvPr/>
        </p:nvSpPr>
        <p:spPr>
          <a:xfrm>
            <a:off x="5800725" y="3886200"/>
            <a:ext cx="2133600" cy="752475"/>
          </a:xfrm>
          <a:prstGeom prst="rect">
            <a:avLst/>
          </a:prstGeom>
          <a:noFill/>
          <a:ln w="0">
            <a:noFill/>
            <a:prstDash val="solid"/>
          </a:ln>
        </p:spPr>
        <p:txBody>
          <a:bodyPr lIns="76200" tIns="38100" rIns="76200" bIns="38100" anchor="t">
            <a:normAutofit/>
          </a:bodyPr>
          <a:lstStyle/>
          <a:p>
            <a:pPr algn="l">
              <a:lnSpc>
                <a:spcPct val="110000"/>
              </a:lnSpc>
              <a:buNone/>
              <a:defRPr sz="2700" b="0">
                <a:solidFill>
                  <a:srgbClr val="F8FAFC"/>
                </a:solidFill>
                <a:latin typeface="Noto Sans"/>
                <a:ea typeface="Noto Sans"/>
                <a:cs typeface="Noto Sans"/>
              </a:defRPr>
            </a:pPr>
            <a:r>
              <a:rPr sz="2700" b="0">
                <a:solidFill>
                  <a:srgbClr val="F8FAFC"/>
                </a:solidFill>
                <a:latin typeface="Noto Sans"/>
                <a:ea typeface="Noto Sans"/>
                <a:cs typeface="Noto Sans"/>
              </a:rPr>
              <a:t>+13,6%</a:t>
            </a:r>
          </a:p>
        </p:txBody>
      </p:sp>
      <p:sp>
        <p:nvSpPr>
          <p:cNvPr id="20" name="Rounded Rectangle 19">
            <a:extLst>
              <a:ext uri="{FF2B5EF4-FFF2-40B4-BE49-F238E27FC236}">
                <a16:creationId xmlns:a16="http://schemas.microsoft.com/office/drawing/2014/main" id="{BB1A2295-3C19-43CE-A93C-FF0D1A5A3677}"/>
              </a:ext>
            </a:extLst>
          </p:cNvPr>
          <p:cNvSpPr>
            <a:spLocks noGrp="1"/>
          </p:cNvSpPr>
          <p:nvPr/>
        </p:nvSpPr>
        <p:spPr>
          <a:xfrm>
            <a:off x="8410575" y="3371850"/>
            <a:ext cx="2514600" cy="1390650"/>
          </a:xfrm>
          <a:prstGeom prst="roundRect">
            <a:avLst>
              <a:gd name="adj" fmla="val 9589"/>
            </a:avLst>
          </a:prstGeom>
          <a:solidFill>
            <a:srgbClr val="123A63"/>
          </a:solidFill>
          <a:ln w="9525">
            <a:solidFill>
              <a:srgbClr val="123A63"/>
            </a:solidFill>
            <a:prstDash val="solid"/>
          </a:ln>
        </p:spPr>
        <p:txBody>
          <a:bodyPr/>
          <a:lstStyle/>
          <a:p>
            <a:endParaRPr lang="en-US"/>
          </a:p>
        </p:txBody>
      </p:sp>
      <p:sp>
        <p:nvSpPr>
          <p:cNvPr id="21" name="Rectangle 20">
            <a:extLst>
              <a:ext uri="{FF2B5EF4-FFF2-40B4-BE49-F238E27FC236}">
                <a16:creationId xmlns:a16="http://schemas.microsoft.com/office/drawing/2014/main" id="{D84C0DF3-F724-47CF-906F-05E267687FBE}"/>
              </a:ext>
            </a:extLst>
          </p:cNvPr>
          <p:cNvSpPr>
            <a:spLocks noGrp="1"/>
          </p:cNvSpPr>
          <p:nvPr/>
        </p:nvSpPr>
        <p:spPr>
          <a:xfrm>
            <a:off x="8601075" y="3514725"/>
            <a:ext cx="2133600" cy="323850"/>
          </a:xfrm>
          <a:prstGeom prst="rect">
            <a:avLst/>
          </a:prstGeom>
          <a:noFill/>
          <a:ln w="0">
            <a:noFill/>
            <a:prstDash val="solid"/>
          </a:ln>
        </p:spPr>
        <p:txBody>
          <a:bodyPr lIns="76200" tIns="38100" rIns="76200" bIns="38100" anchor="t">
            <a:normAutofit/>
          </a:bodyPr>
          <a:lstStyle/>
          <a:p>
            <a:pPr algn="l">
              <a:lnSpc>
                <a:spcPct val="104000"/>
              </a:lnSpc>
              <a:buNone/>
              <a:defRPr sz="1350" b="1">
                <a:solidFill>
                  <a:srgbClr val="94A3B8"/>
                </a:solidFill>
                <a:latin typeface="Noto Sans"/>
                <a:ea typeface="Noto Sans"/>
                <a:cs typeface="Noto Sans"/>
              </a:defRPr>
            </a:pPr>
            <a:r>
              <a:rPr sz="1350" b="1">
                <a:solidFill>
                  <a:srgbClr val="94A3B8"/>
                </a:solidFill>
                <a:latin typeface="Noto Sans"/>
                <a:ea typeface="Noto Sans"/>
                <a:cs typeface="Noto Sans"/>
              </a:rPr>
              <a:t>Revenue / TEU</a:t>
            </a:r>
          </a:p>
        </p:txBody>
      </p:sp>
      <p:sp>
        <p:nvSpPr>
          <p:cNvPr id="22" name="Rectangle 21">
            <a:extLst>
              <a:ext uri="{FF2B5EF4-FFF2-40B4-BE49-F238E27FC236}">
                <a16:creationId xmlns:a16="http://schemas.microsoft.com/office/drawing/2014/main" id="{10D53425-4908-4A55-BA59-5ACB0DC0CBEE}"/>
              </a:ext>
            </a:extLst>
          </p:cNvPr>
          <p:cNvSpPr>
            <a:spLocks noGrp="1"/>
          </p:cNvSpPr>
          <p:nvPr/>
        </p:nvSpPr>
        <p:spPr>
          <a:xfrm>
            <a:off x="8601075" y="3886200"/>
            <a:ext cx="2133600" cy="752475"/>
          </a:xfrm>
          <a:prstGeom prst="rect">
            <a:avLst/>
          </a:prstGeom>
          <a:noFill/>
          <a:ln w="0">
            <a:noFill/>
            <a:prstDash val="solid"/>
          </a:ln>
        </p:spPr>
        <p:txBody>
          <a:bodyPr lIns="76200" tIns="38100" rIns="76200" bIns="38100" anchor="t">
            <a:normAutofit/>
          </a:bodyPr>
          <a:lstStyle/>
          <a:p>
            <a:pPr algn="l">
              <a:lnSpc>
                <a:spcPct val="110000"/>
              </a:lnSpc>
              <a:buNone/>
              <a:defRPr sz="2700" b="0">
                <a:solidFill>
                  <a:srgbClr val="F8FAFC"/>
                </a:solidFill>
                <a:latin typeface="Noto Sans"/>
                <a:ea typeface="Noto Sans"/>
                <a:cs typeface="Noto Sans"/>
              </a:defRPr>
            </a:pPr>
            <a:r>
              <a:rPr sz="2700" b="0">
                <a:solidFill>
                  <a:srgbClr val="F8FAFC"/>
                </a:solidFill>
                <a:latin typeface="Noto Sans"/>
                <a:ea typeface="Noto Sans"/>
                <a:cs typeface="Noto Sans"/>
              </a:rPr>
              <a:t>+4,5%</a:t>
            </a:r>
          </a:p>
        </p:txBody>
      </p:sp>
      <p:sp>
        <p:nvSpPr>
          <p:cNvPr id="23" name="Rectangle 22">
            <a:extLst>
              <a:ext uri="{FF2B5EF4-FFF2-40B4-BE49-F238E27FC236}">
                <a16:creationId xmlns:a16="http://schemas.microsoft.com/office/drawing/2014/main" id="{CC42B6C4-A8AA-44E5-B518-27A26CA51C71}"/>
              </a:ext>
            </a:extLst>
          </p:cNvPr>
          <p:cNvSpPr>
            <a:spLocks noGrp="1"/>
          </p:cNvSpPr>
          <p:nvPr/>
        </p:nvSpPr>
        <p:spPr>
          <a:xfrm>
            <a:off x="5619750" y="4933950"/>
            <a:ext cx="5305425" cy="476250"/>
          </a:xfrm>
          <a:prstGeom prst="rect">
            <a:avLst/>
          </a:prstGeom>
          <a:noFill/>
          <a:ln w="0">
            <a:noFill/>
            <a:prstDash val="solid"/>
          </a:ln>
        </p:spPr>
        <p:txBody>
          <a:bodyPr lIns="76200" tIns="38100" rIns="76200" bIns="38100" anchor="ctr">
            <a:normAutofit fontScale="93483"/>
          </a:bodyPr>
          <a:lstStyle/>
          <a:p>
            <a:pPr algn="l">
              <a:lnSpc>
                <a:spcPct val="104000"/>
              </a:lnSpc>
              <a:buNone/>
              <a:defRPr sz="1350" b="0">
                <a:solidFill>
                  <a:srgbClr val="CBD5E1"/>
                </a:solidFill>
                <a:latin typeface="Noto Sans"/>
                <a:ea typeface="Noto Sans"/>
                <a:cs typeface="Noto Sans"/>
              </a:defRPr>
            </a:pPr>
            <a:r>
              <a:rPr sz="1350" b="0">
                <a:solidFill>
                  <a:srgbClr val="CBD5E1"/>
                </a:solidFill>
                <a:latin typeface="Noto Sans"/>
                <a:ea typeface="Noto Sans"/>
                <a:cs typeface="Noto Sans"/>
              </a:rPr>
              <a:t>Interpretācija nav cēloņsakarība: sistēma rāda pārbaudāmus contributors un drill-down līdz shipment avotiem.</a:t>
            </a:r>
          </a:p>
        </p:txBody>
      </p:sp>
      <p:sp>
        <p:nvSpPr>
          <p:cNvPr id="24" name="Rectangle 23">
            <a:extLst>
              <a:ext uri="{FF2B5EF4-FFF2-40B4-BE49-F238E27FC236}">
                <a16:creationId xmlns:a16="http://schemas.microsoft.com/office/drawing/2014/main" id="{219032E0-822E-4612-8E40-029CFCE7F1A8}"/>
              </a:ext>
            </a:extLst>
          </p:cNvPr>
          <p:cNvSpPr>
            <a:spLocks noGrp="1"/>
          </p:cNvSpPr>
          <p:nvPr/>
        </p:nvSpPr>
        <p:spPr>
          <a:xfrm>
            <a:off x="590550" y="6000750"/>
            <a:ext cx="11001375" cy="247650"/>
          </a:xfrm>
          <a:prstGeom prst="rect">
            <a:avLst/>
          </a:prstGeom>
          <a:noFill/>
          <a:ln w="0">
            <a:noFill/>
            <a:prstDash val="solid"/>
          </a:ln>
        </p:spPr>
        <p:txBody>
          <a:bodyPr lIns="76200" tIns="38100" rIns="76200" bIns="38100" anchor="ctr">
            <a:normAutofit fontScale="90144"/>
          </a:bodyPr>
          <a:lstStyle/>
          <a:p>
            <a:pPr algn="ctr">
              <a:lnSpc>
                <a:spcPct val="104000"/>
              </a:lnSpc>
              <a:buNone/>
              <a:defRPr sz="1200" b="1">
                <a:solidFill>
                  <a:srgbClr val="E66A5C"/>
                </a:solidFill>
                <a:latin typeface="Noto Sans"/>
                <a:ea typeface="Noto Sans"/>
                <a:cs typeface="Noto Sans"/>
              </a:defRPr>
            </a:pPr>
            <a:r>
              <a:rPr sz="1200" b="1">
                <a:solidFill>
                  <a:srgbClr val="E66A5C"/>
                </a:solidFill>
                <a:latin typeface="Noto Sans"/>
                <a:ea typeface="Noto Sans"/>
                <a:cs typeface="Noto Sans"/>
              </a:rPr>
              <a:t>Demo dati nav klienta rezultāti</a:t>
            </a:r>
          </a:p>
        </p:txBody>
      </p:sp>
    </p:spTree>
    <p:extLst>
      <p:ext uri="{BB962C8B-B14F-4D97-AF65-F5344CB8AC3E}">
        <p14:creationId xmlns:p14="http://schemas.microsoft.com/office/powerpoint/2010/main" val="1233449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E6832E2-77C2-48B2-AF70-0E542BB99A7A}"/>
              </a:ext>
            </a:extLst>
          </p:cNvPr>
          <p:cNvSpPr>
            <a:spLocks noGrp="1"/>
          </p:cNvSpPr>
          <p:nvPr/>
        </p:nvSpPr>
        <p:spPr>
          <a:xfrm>
            <a:off x="552450" y="266700"/>
            <a:ext cx="4000500" cy="228600"/>
          </a:xfrm>
          <a:prstGeom prst="rect">
            <a:avLst/>
          </a:prstGeom>
          <a:noFill/>
          <a:ln w="0">
            <a:noFill/>
            <a:prstDash val="solid"/>
          </a:ln>
        </p:spPr>
        <p:txBody>
          <a:bodyPr lIns="76200" tIns="38100" rIns="76200" bIns="38100" anchor="ctr">
            <a:normAutofit fontScale="85470"/>
          </a:bodyPr>
          <a:lstStyle/>
          <a:p>
            <a:pPr algn="l">
              <a:lnSpc>
                <a:spcPct val="104000"/>
              </a:lnSpc>
              <a:buNone/>
              <a:defRPr sz="1125" b="1">
                <a:solidFill>
                  <a:srgbClr val="123A63"/>
                </a:solidFill>
                <a:latin typeface="Noto Sans"/>
                <a:ea typeface="Noto Sans"/>
                <a:cs typeface="Noto Sans"/>
              </a:defRPr>
            </a:pPr>
            <a:r>
              <a:rPr sz="1125" b="1">
                <a:solidFill>
                  <a:srgbClr val="123A63"/>
                </a:solidFill>
                <a:latin typeface="Noto Sans"/>
                <a:ea typeface="Noto Sans"/>
                <a:cs typeface="Noto Sans"/>
              </a:rPr>
              <a:t>TWIN  /  KOMANDAS DISKUSIJA</a:t>
            </a:r>
          </a:p>
        </p:txBody>
      </p:sp>
      <p:sp>
        <p:nvSpPr>
          <p:cNvPr id="2" name="Rectangle 1">
            <a:extLst>
              <a:ext uri="{FF2B5EF4-FFF2-40B4-BE49-F238E27FC236}">
                <a16:creationId xmlns:a16="http://schemas.microsoft.com/office/drawing/2014/main" id="{F25E437D-4317-46DC-B58B-8B88AEC86A21}"/>
              </a:ext>
            </a:extLst>
          </p:cNvPr>
          <p:cNvSpPr>
            <a:spLocks noGrp="1"/>
          </p:cNvSpPr>
          <p:nvPr/>
        </p:nvSpPr>
        <p:spPr>
          <a:xfrm>
            <a:off x="11191875" y="257175"/>
            <a:ext cx="438150" cy="238125"/>
          </a:xfrm>
          <a:prstGeom prst="rect">
            <a:avLst/>
          </a:prstGeom>
          <a:noFill/>
          <a:ln w="0">
            <a:noFill/>
            <a:prstDash val="solid"/>
          </a:ln>
        </p:spPr>
        <p:txBody>
          <a:bodyPr lIns="76200" tIns="38100" rIns="76200" bIns="38100" anchor="ctr">
            <a:normAutofit fontScale="90812"/>
          </a:bodyPr>
          <a:lstStyle/>
          <a:p>
            <a:pPr algn="r">
              <a:lnSpc>
                <a:spcPct val="104000"/>
              </a:lnSpc>
              <a:buNone/>
              <a:defRPr sz="1125" b="1">
                <a:solidFill>
                  <a:srgbClr val="94A3B8"/>
                </a:solidFill>
                <a:latin typeface="Noto Sans"/>
                <a:ea typeface="Noto Sans"/>
                <a:cs typeface="Noto Sans"/>
              </a:defRPr>
            </a:pPr>
            <a:r>
              <a:rPr sz="1125" b="1">
                <a:solidFill>
                  <a:srgbClr val="94A3B8"/>
                </a:solidFill>
                <a:latin typeface="Noto Sans"/>
                <a:ea typeface="Noto Sans"/>
                <a:cs typeface="Noto Sans"/>
              </a:rPr>
              <a:t>10</a:t>
            </a:r>
          </a:p>
        </p:txBody>
      </p:sp>
      <p:sp>
        <p:nvSpPr>
          <p:cNvPr id="3" name="Rectangle 2">
            <a:extLst>
              <a:ext uri="{FF2B5EF4-FFF2-40B4-BE49-F238E27FC236}">
                <a16:creationId xmlns:a16="http://schemas.microsoft.com/office/drawing/2014/main" id="{6F13184A-68DB-4A30-BE2F-7C7BF238B6E8}"/>
              </a:ext>
            </a:extLst>
          </p:cNvPr>
          <p:cNvSpPr>
            <a:spLocks noGrp="1"/>
          </p:cNvSpPr>
          <p:nvPr/>
        </p:nvSpPr>
        <p:spPr>
          <a:xfrm>
            <a:off x="552450" y="628650"/>
            <a:ext cx="10382250" cy="590550"/>
          </a:xfrm>
          <a:prstGeom prst="rect">
            <a:avLst/>
          </a:prstGeom>
          <a:noFill/>
          <a:ln w="0">
            <a:noFill/>
            <a:prstDash val="solid"/>
          </a:ln>
        </p:spPr>
        <p:txBody>
          <a:bodyPr lIns="76200" tIns="38100" rIns="76200" bIns="38100" anchor="t">
            <a:normAutofit fontScale="98339"/>
          </a:bodyPr>
          <a:lstStyle/>
          <a:p>
            <a:pPr algn="l">
              <a:lnSpc>
                <a:spcPct val="104000"/>
              </a:lnSpc>
              <a:buNone/>
              <a:defRPr sz="3300" b="1">
                <a:solidFill>
                  <a:srgbClr val="0F172A"/>
                </a:solidFill>
                <a:latin typeface="Noto Sans"/>
                <a:ea typeface="Noto Sans"/>
                <a:cs typeface="Noto Sans"/>
              </a:defRPr>
            </a:pPr>
            <a:r>
              <a:rPr sz="3300" b="1">
                <a:solidFill>
                  <a:srgbClr val="0F172A"/>
                </a:solidFill>
                <a:latin typeface="Noto Sans"/>
                <a:ea typeface="Noto Sans"/>
                <a:cs typeface="Noto Sans"/>
              </a:rPr>
              <a:t>Attīstām spējas pa līmeņiem, nevis visu vienlaikus</a:t>
            </a:r>
          </a:p>
        </p:txBody>
      </p:sp>
      <p:sp>
        <p:nvSpPr>
          <p:cNvPr id="4" name="Rectangle 3">
            <a:extLst>
              <a:ext uri="{FF2B5EF4-FFF2-40B4-BE49-F238E27FC236}">
                <a16:creationId xmlns:a16="http://schemas.microsoft.com/office/drawing/2014/main" id="{1955E7CC-99B2-4AF6-A274-63C04FD7CD35}"/>
              </a:ext>
            </a:extLst>
          </p:cNvPr>
          <p:cNvSpPr>
            <a:spLocks noGrp="1"/>
          </p:cNvSpPr>
          <p:nvPr/>
        </p:nvSpPr>
        <p:spPr>
          <a:xfrm>
            <a:off x="581025" y="1219200"/>
            <a:ext cx="10287000" cy="323850"/>
          </a:xfrm>
          <a:prstGeom prst="rect">
            <a:avLst/>
          </a:prstGeom>
          <a:noFill/>
          <a:ln w="0">
            <a:noFill/>
            <a:prstDash val="solid"/>
          </a:ln>
        </p:spPr>
        <p:txBody>
          <a:bodyPr lIns="76200" tIns="38100" rIns="76200" bIns="38100" anchor="t">
            <a:normAutofit/>
          </a:bodyPr>
          <a:lstStyle/>
          <a:p>
            <a:pPr algn="l">
              <a:lnSpc>
                <a:spcPct val="104000"/>
              </a:lnSpc>
              <a:buNone/>
              <a:defRPr sz="1500" b="0">
                <a:solidFill>
                  <a:srgbClr val="64748B"/>
                </a:solidFill>
                <a:latin typeface="Noto Sans"/>
                <a:ea typeface="Noto Sans"/>
                <a:cs typeface="Noto Sans"/>
              </a:defRPr>
            </a:pPr>
            <a:r>
              <a:rPr sz="1500" b="0">
                <a:solidFill>
                  <a:srgbClr val="64748B"/>
                </a:solidFill>
                <a:latin typeface="Noto Sans"/>
                <a:ea typeface="Noto Sans"/>
                <a:cs typeface="Noto Sans"/>
              </a:rPr>
              <a:t>Pašreizējais kodols atrodas starp automatizēšanu un saprašanu</a:t>
            </a:r>
          </a:p>
        </p:txBody>
      </p:sp>
      <p:sp>
        <p:nvSpPr>
          <p:cNvPr id="5" name="Rectangle 4">
            <a:extLst>
              <a:ext uri="{FF2B5EF4-FFF2-40B4-BE49-F238E27FC236}">
                <a16:creationId xmlns:a16="http://schemas.microsoft.com/office/drawing/2014/main" id="{E7466157-8BE5-46A4-8EB1-7645C2859CD7}"/>
              </a:ext>
            </a:extLst>
          </p:cNvPr>
          <p:cNvSpPr>
            <a:spLocks noGrp="1"/>
          </p:cNvSpPr>
          <p:nvPr/>
        </p:nvSpPr>
        <p:spPr>
          <a:xfrm>
            <a:off x="552450" y="1600200"/>
            <a:ext cx="11087100" cy="19050"/>
          </a:xfrm>
          <a:prstGeom prst="rect">
            <a:avLst/>
          </a:prstGeom>
          <a:solidFill>
            <a:srgbClr val="C7D7E2"/>
          </a:solidFill>
          <a:ln w="0">
            <a:noFill/>
            <a:prstDash val="solid"/>
          </a:ln>
        </p:spPr>
        <p:txBody>
          <a:bodyPr/>
          <a:lstStyle/>
          <a:p>
            <a:endParaRPr lang="en-US"/>
          </a:p>
        </p:txBody>
      </p:sp>
      <p:sp>
        <p:nvSpPr>
          <p:cNvPr id="6" name="Rounded Rectangle 5">
            <a:extLst>
              <a:ext uri="{FF2B5EF4-FFF2-40B4-BE49-F238E27FC236}">
                <a16:creationId xmlns:a16="http://schemas.microsoft.com/office/drawing/2014/main" id="{7A2C568B-37A4-462E-ABC0-21C1C281AC2F}"/>
              </a:ext>
            </a:extLst>
          </p:cNvPr>
          <p:cNvSpPr>
            <a:spLocks noGrp="1"/>
          </p:cNvSpPr>
          <p:nvPr/>
        </p:nvSpPr>
        <p:spPr>
          <a:xfrm>
            <a:off x="609600" y="1924050"/>
            <a:ext cx="476250" cy="476250"/>
          </a:xfrm>
          <a:prstGeom prst="roundRect">
            <a:avLst>
              <a:gd name="adj" fmla="val 50000"/>
            </a:avLst>
          </a:prstGeom>
          <a:solidFill>
            <a:srgbClr val="38BDF8"/>
          </a:solidFill>
          <a:ln w="0">
            <a:noFill/>
            <a:prstDash val="solid"/>
          </a:ln>
        </p:spPr>
        <p:txBody>
          <a:bodyPr lIns="76200" tIns="38100" rIns="76200" bIns="38100" anchor="ctr">
            <a:normAutofit/>
          </a:bodyPr>
          <a:lstStyle/>
          <a:p>
            <a:pPr algn="ctr">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1</a:t>
            </a:r>
          </a:p>
        </p:txBody>
      </p:sp>
      <p:sp>
        <p:nvSpPr>
          <p:cNvPr id="7" name="Rectangle 6">
            <a:extLst>
              <a:ext uri="{FF2B5EF4-FFF2-40B4-BE49-F238E27FC236}">
                <a16:creationId xmlns:a16="http://schemas.microsoft.com/office/drawing/2014/main" id="{F8E94EF8-9509-473F-AB8B-A650B3A2C2F5}"/>
              </a:ext>
            </a:extLst>
          </p:cNvPr>
          <p:cNvSpPr>
            <a:spLocks noGrp="1"/>
          </p:cNvSpPr>
          <p:nvPr/>
        </p:nvSpPr>
        <p:spPr>
          <a:xfrm>
            <a:off x="1295400" y="1924050"/>
            <a:ext cx="2190750" cy="476250"/>
          </a:xfrm>
          <a:prstGeom prst="rect">
            <a:avLst/>
          </a:prstGeom>
          <a:noFill/>
          <a:ln w="0">
            <a:noFill/>
            <a:prstDash val="solid"/>
          </a:ln>
        </p:spPr>
        <p:txBody>
          <a:bodyPr lIns="76200" tIns="38100" rIns="76200" bIns="38100" anchor="ctr">
            <a:normAutofit/>
          </a:bodyPr>
          <a:lstStyle/>
          <a:p>
            <a:pPr algn="l">
              <a:lnSpc>
                <a:spcPct val="104000"/>
              </a:lnSpc>
              <a:buNone/>
              <a:defRPr sz="1500" b="1">
                <a:solidFill>
                  <a:srgbClr val="071525"/>
                </a:solidFill>
                <a:latin typeface="Noto Sans"/>
                <a:ea typeface="Noto Sans"/>
                <a:cs typeface="Noto Sans"/>
              </a:defRPr>
            </a:pPr>
            <a:r>
              <a:rPr sz="1500" b="1">
                <a:solidFill>
                  <a:srgbClr val="071525"/>
                </a:solidFill>
                <a:latin typeface="Noto Sans"/>
                <a:ea typeface="Noto Sans"/>
                <a:cs typeface="Noto Sans"/>
              </a:rPr>
              <a:t>AUTOMATIZĒT</a:t>
            </a:r>
          </a:p>
        </p:txBody>
      </p:sp>
      <p:sp>
        <p:nvSpPr>
          <p:cNvPr id="8" name="Rectangle 7">
            <a:extLst>
              <a:ext uri="{FF2B5EF4-FFF2-40B4-BE49-F238E27FC236}">
                <a16:creationId xmlns:a16="http://schemas.microsoft.com/office/drawing/2014/main" id="{A8B6DCB8-282A-480A-B35F-A010AE5AC8FB}"/>
              </a:ext>
            </a:extLst>
          </p:cNvPr>
          <p:cNvSpPr>
            <a:spLocks noGrp="1"/>
          </p:cNvSpPr>
          <p:nvPr/>
        </p:nvSpPr>
        <p:spPr>
          <a:xfrm>
            <a:off x="3476625" y="1924050"/>
            <a:ext cx="4905375" cy="476250"/>
          </a:xfrm>
          <a:prstGeom prst="rect">
            <a:avLst/>
          </a:prstGeom>
          <a:noFill/>
          <a:ln w="0">
            <a:noFill/>
            <a:prstDash val="solid"/>
          </a:ln>
        </p:spPr>
        <p:txBody>
          <a:bodyPr lIns="76200" tIns="38100" rIns="76200" bIns="38100" anchor="ctr">
            <a:normAutofit/>
          </a:bodyPr>
          <a:lstStyle/>
          <a:p>
            <a:pPr algn="l">
              <a:lnSpc>
                <a:spcPct val="104000"/>
              </a:lnSpc>
              <a:buNone/>
              <a:defRPr sz="1425" b="0">
                <a:solidFill>
                  <a:srgbClr val="0F172A"/>
                </a:solidFill>
                <a:latin typeface="Noto Sans"/>
                <a:ea typeface="Noto Sans"/>
                <a:cs typeface="Noto Sans"/>
              </a:defRPr>
            </a:pPr>
            <a:r>
              <a:rPr sz="1425" b="0">
                <a:solidFill>
                  <a:srgbClr val="0F172A"/>
                </a:solidFill>
                <a:latin typeface="Noto Sans"/>
                <a:ea typeface="Noto Sans"/>
                <a:cs typeface="Noto Sans"/>
              </a:rPr>
              <a:t>Nesakārtota informācija → strukturēti dati</a:t>
            </a:r>
          </a:p>
        </p:txBody>
      </p:sp>
      <p:sp>
        <p:nvSpPr>
          <p:cNvPr id="9" name="Rounded Rectangle 8">
            <a:extLst>
              <a:ext uri="{FF2B5EF4-FFF2-40B4-BE49-F238E27FC236}">
                <a16:creationId xmlns:a16="http://schemas.microsoft.com/office/drawing/2014/main" id="{D38FC0B4-7DC7-474F-904D-7DBE00127B3B}"/>
              </a:ext>
            </a:extLst>
          </p:cNvPr>
          <p:cNvSpPr>
            <a:spLocks noGrp="1"/>
          </p:cNvSpPr>
          <p:nvPr/>
        </p:nvSpPr>
        <p:spPr>
          <a:xfrm>
            <a:off x="8858250" y="2000250"/>
            <a:ext cx="2019300" cy="323850"/>
          </a:xfrm>
          <a:prstGeom prst="roundRect">
            <a:avLst>
              <a:gd name="adj" fmla="val 35294"/>
            </a:avLst>
          </a:prstGeom>
          <a:solidFill>
            <a:srgbClr val="123A63"/>
          </a:solidFill>
          <a:ln w="0">
            <a:noFill/>
            <a:prstDash val="solid"/>
          </a:ln>
        </p:spPr>
        <p:txBody>
          <a:bodyPr lIns="76200" tIns="38100" rIns="76200" bIns="38100" anchor="ctr">
            <a:normAutofit/>
          </a:bodyPr>
          <a:lstStyle/>
          <a:p>
            <a:pPr algn="ctr">
              <a:lnSpc>
                <a:spcPct val="104000"/>
              </a:lnSpc>
              <a:buNone/>
              <a:defRPr sz="1050" b="1">
                <a:solidFill>
                  <a:srgbClr val="F8FAFC"/>
                </a:solidFill>
                <a:latin typeface="Noto Sans"/>
                <a:ea typeface="Noto Sans"/>
                <a:cs typeface="Noto Sans"/>
              </a:defRPr>
            </a:pPr>
            <a:r>
              <a:rPr sz="1050" b="1">
                <a:solidFill>
                  <a:srgbClr val="F8FAFC"/>
                </a:solidFill>
                <a:latin typeface="Noto Sans"/>
                <a:ea typeface="Noto Sans"/>
                <a:cs typeface="Noto Sans"/>
              </a:rPr>
              <a:t>REALIZĒTS PAMATS</a:t>
            </a:r>
          </a:p>
        </p:txBody>
      </p:sp>
      <p:sp>
        <p:nvSpPr>
          <p:cNvPr id="10" name="Rounded Rectangle 9">
            <a:extLst>
              <a:ext uri="{FF2B5EF4-FFF2-40B4-BE49-F238E27FC236}">
                <a16:creationId xmlns:a16="http://schemas.microsoft.com/office/drawing/2014/main" id="{C38B80A9-6B81-4BBC-87CD-28F5A0182042}"/>
              </a:ext>
            </a:extLst>
          </p:cNvPr>
          <p:cNvSpPr>
            <a:spLocks noGrp="1"/>
          </p:cNvSpPr>
          <p:nvPr/>
        </p:nvSpPr>
        <p:spPr>
          <a:xfrm>
            <a:off x="609600" y="2647950"/>
            <a:ext cx="476250" cy="476250"/>
          </a:xfrm>
          <a:prstGeom prst="roundRect">
            <a:avLst>
              <a:gd name="adj" fmla="val 50000"/>
            </a:avLst>
          </a:prstGeom>
          <a:solidFill>
            <a:srgbClr val="38BDF8"/>
          </a:solidFill>
          <a:ln w="0">
            <a:noFill/>
            <a:prstDash val="solid"/>
          </a:ln>
        </p:spPr>
        <p:txBody>
          <a:bodyPr lIns="76200" tIns="38100" rIns="76200" bIns="38100" anchor="ctr">
            <a:normAutofit/>
          </a:bodyPr>
          <a:lstStyle/>
          <a:p>
            <a:pPr algn="ctr">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2</a:t>
            </a:r>
          </a:p>
        </p:txBody>
      </p:sp>
      <p:sp>
        <p:nvSpPr>
          <p:cNvPr id="11" name="Rectangle 10">
            <a:extLst>
              <a:ext uri="{FF2B5EF4-FFF2-40B4-BE49-F238E27FC236}">
                <a16:creationId xmlns:a16="http://schemas.microsoft.com/office/drawing/2014/main" id="{EB5E8764-EB2F-462B-9C61-37668CDE8FB6}"/>
              </a:ext>
            </a:extLst>
          </p:cNvPr>
          <p:cNvSpPr>
            <a:spLocks noGrp="1"/>
          </p:cNvSpPr>
          <p:nvPr/>
        </p:nvSpPr>
        <p:spPr>
          <a:xfrm>
            <a:off x="1295400" y="2647950"/>
            <a:ext cx="2190750" cy="476250"/>
          </a:xfrm>
          <a:prstGeom prst="rect">
            <a:avLst/>
          </a:prstGeom>
          <a:noFill/>
          <a:ln w="0">
            <a:noFill/>
            <a:prstDash val="solid"/>
          </a:ln>
        </p:spPr>
        <p:txBody>
          <a:bodyPr lIns="76200" tIns="38100" rIns="76200" bIns="38100" anchor="ctr">
            <a:normAutofit/>
          </a:bodyPr>
          <a:lstStyle/>
          <a:p>
            <a:pPr algn="l">
              <a:lnSpc>
                <a:spcPct val="104000"/>
              </a:lnSpc>
              <a:buNone/>
              <a:defRPr sz="1500" b="1">
                <a:solidFill>
                  <a:srgbClr val="071525"/>
                </a:solidFill>
                <a:latin typeface="Noto Sans"/>
                <a:ea typeface="Noto Sans"/>
                <a:cs typeface="Noto Sans"/>
              </a:defRPr>
            </a:pPr>
            <a:r>
              <a:rPr sz="1500" b="1">
                <a:solidFill>
                  <a:srgbClr val="071525"/>
                </a:solidFill>
                <a:latin typeface="Noto Sans"/>
                <a:ea typeface="Noto Sans"/>
                <a:cs typeface="Noto Sans"/>
              </a:rPr>
              <a:t>SAPRAST</a:t>
            </a:r>
          </a:p>
        </p:txBody>
      </p:sp>
      <p:sp>
        <p:nvSpPr>
          <p:cNvPr id="12" name="Rectangle 11">
            <a:extLst>
              <a:ext uri="{FF2B5EF4-FFF2-40B4-BE49-F238E27FC236}">
                <a16:creationId xmlns:a16="http://schemas.microsoft.com/office/drawing/2014/main" id="{51B13F05-5E03-452E-B9B1-9B5C9C83CBDA}"/>
              </a:ext>
            </a:extLst>
          </p:cNvPr>
          <p:cNvSpPr>
            <a:spLocks noGrp="1"/>
          </p:cNvSpPr>
          <p:nvPr/>
        </p:nvSpPr>
        <p:spPr>
          <a:xfrm>
            <a:off x="3476625" y="2647950"/>
            <a:ext cx="4905375" cy="476250"/>
          </a:xfrm>
          <a:prstGeom prst="rect">
            <a:avLst/>
          </a:prstGeom>
          <a:noFill/>
          <a:ln w="0">
            <a:noFill/>
            <a:prstDash val="solid"/>
          </a:ln>
        </p:spPr>
        <p:txBody>
          <a:bodyPr lIns="76200" tIns="38100" rIns="76200" bIns="38100" anchor="ctr">
            <a:normAutofit/>
          </a:bodyPr>
          <a:lstStyle/>
          <a:p>
            <a:pPr algn="l">
              <a:lnSpc>
                <a:spcPct val="104000"/>
              </a:lnSpc>
              <a:buNone/>
              <a:defRPr sz="1425" b="0">
                <a:solidFill>
                  <a:srgbClr val="0F172A"/>
                </a:solidFill>
                <a:latin typeface="Noto Sans"/>
                <a:ea typeface="Noto Sans"/>
                <a:cs typeface="Noto Sans"/>
              </a:defRPr>
            </a:pPr>
            <a:r>
              <a:rPr sz="1425" b="0">
                <a:solidFill>
                  <a:srgbClr val="0F172A"/>
                </a:solidFill>
                <a:latin typeface="Noto Sans"/>
                <a:ea typeface="Noto Sans"/>
                <a:cs typeface="Noto Sans"/>
              </a:rPr>
              <a:t>KPI, trendi un pārbaudāmi insights</a:t>
            </a:r>
          </a:p>
        </p:txBody>
      </p:sp>
      <p:sp>
        <p:nvSpPr>
          <p:cNvPr id="13" name="Rounded Rectangle 12">
            <a:extLst>
              <a:ext uri="{FF2B5EF4-FFF2-40B4-BE49-F238E27FC236}">
                <a16:creationId xmlns:a16="http://schemas.microsoft.com/office/drawing/2014/main" id="{8E58E968-0660-41FC-A185-15CF0ACAF34B}"/>
              </a:ext>
            </a:extLst>
          </p:cNvPr>
          <p:cNvSpPr>
            <a:spLocks noGrp="1"/>
          </p:cNvSpPr>
          <p:nvPr/>
        </p:nvSpPr>
        <p:spPr>
          <a:xfrm>
            <a:off x="8858250" y="2724150"/>
            <a:ext cx="2019300" cy="323850"/>
          </a:xfrm>
          <a:prstGeom prst="roundRect">
            <a:avLst>
              <a:gd name="adj" fmla="val 35294"/>
            </a:avLst>
          </a:prstGeom>
          <a:solidFill>
            <a:srgbClr val="123A63"/>
          </a:solidFill>
          <a:ln w="0">
            <a:noFill/>
            <a:prstDash val="solid"/>
          </a:ln>
        </p:spPr>
        <p:txBody>
          <a:bodyPr lIns="76200" tIns="38100" rIns="76200" bIns="38100" anchor="ctr">
            <a:normAutofit/>
          </a:bodyPr>
          <a:lstStyle/>
          <a:p>
            <a:pPr algn="ctr">
              <a:lnSpc>
                <a:spcPct val="104000"/>
              </a:lnSpc>
              <a:buNone/>
              <a:defRPr sz="1050" b="1">
                <a:solidFill>
                  <a:srgbClr val="F8FAFC"/>
                </a:solidFill>
                <a:latin typeface="Noto Sans"/>
                <a:ea typeface="Noto Sans"/>
                <a:cs typeface="Noto Sans"/>
              </a:defRPr>
            </a:pPr>
            <a:r>
              <a:rPr sz="1050" b="1">
                <a:solidFill>
                  <a:srgbClr val="F8FAFC"/>
                </a:solidFill>
                <a:latin typeface="Noto Sans"/>
                <a:ea typeface="Noto Sans"/>
                <a:cs typeface="Noto Sans"/>
              </a:rPr>
              <a:t>REALIZĒTS PAMATS</a:t>
            </a:r>
          </a:p>
        </p:txBody>
      </p:sp>
      <p:sp>
        <p:nvSpPr>
          <p:cNvPr id="14" name="Rounded Rectangle 13">
            <a:extLst>
              <a:ext uri="{FF2B5EF4-FFF2-40B4-BE49-F238E27FC236}">
                <a16:creationId xmlns:a16="http://schemas.microsoft.com/office/drawing/2014/main" id="{2AE9F4BE-8580-4442-9DB3-9748A921EA23}"/>
              </a:ext>
            </a:extLst>
          </p:cNvPr>
          <p:cNvSpPr>
            <a:spLocks noGrp="1"/>
          </p:cNvSpPr>
          <p:nvPr/>
        </p:nvSpPr>
        <p:spPr>
          <a:xfrm>
            <a:off x="609600" y="3371850"/>
            <a:ext cx="476250" cy="476250"/>
          </a:xfrm>
          <a:prstGeom prst="roundRect">
            <a:avLst>
              <a:gd name="adj" fmla="val 50000"/>
            </a:avLst>
          </a:prstGeom>
          <a:solidFill>
            <a:srgbClr val="F1F5F9"/>
          </a:solidFill>
          <a:ln w="0">
            <a:noFill/>
            <a:prstDash val="solid"/>
          </a:ln>
        </p:spPr>
        <p:txBody>
          <a:bodyPr lIns="76200" tIns="38100" rIns="76200" bIns="38100" anchor="ctr">
            <a:normAutofit/>
          </a:bodyPr>
          <a:lstStyle/>
          <a:p>
            <a:pPr algn="ctr">
              <a:lnSpc>
                <a:spcPct val="104000"/>
              </a:lnSpc>
              <a:buNone/>
              <a:defRPr sz="1575" b="1">
                <a:solidFill>
                  <a:srgbClr val="64748B"/>
                </a:solidFill>
                <a:latin typeface="Noto Sans"/>
                <a:ea typeface="Noto Sans"/>
                <a:cs typeface="Noto Sans"/>
              </a:defRPr>
            </a:pPr>
            <a:r>
              <a:rPr sz="1575" b="1">
                <a:solidFill>
                  <a:srgbClr val="64748B"/>
                </a:solidFill>
                <a:latin typeface="Noto Sans"/>
                <a:ea typeface="Noto Sans"/>
                <a:cs typeface="Noto Sans"/>
              </a:rPr>
              <a:t>3</a:t>
            </a:r>
          </a:p>
        </p:txBody>
      </p:sp>
      <p:sp>
        <p:nvSpPr>
          <p:cNvPr id="15" name="Rectangle 14">
            <a:extLst>
              <a:ext uri="{FF2B5EF4-FFF2-40B4-BE49-F238E27FC236}">
                <a16:creationId xmlns:a16="http://schemas.microsoft.com/office/drawing/2014/main" id="{25861FD7-E53F-4623-9392-9A687D7E4964}"/>
              </a:ext>
            </a:extLst>
          </p:cNvPr>
          <p:cNvSpPr>
            <a:spLocks noGrp="1"/>
          </p:cNvSpPr>
          <p:nvPr/>
        </p:nvSpPr>
        <p:spPr>
          <a:xfrm>
            <a:off x="1295400" y="3371850"/>
            <a:ext cx="2190750" cy="476250"/>
          </a:xfrm>
          <a:prstGeom prst="rect">
            <a:avLst/>
          </a:prstGeom>
          <a:noFill/>
          <a:ln w="0">
            <a:noFill/>
            <a:prstDash val="solid"/>
          </a:ln>
        </p:spPr>
        <p:txBody>
          <a:bodyPr lIns="76200" tIns="38100" rIns="76200" bIns="38100" anchor="ctr">
            <a:normAutofit/>
          </a:bodyPr>
          <a:lstStyle/>
          <a:p>
            <a:pPr algn="l">
              <a:lnSpc>
                <a:spcPct val="104000"/>
              </a:lnSpc>
              <a:buNone/>
              <a:defRPr sz="1500" b="1">
                <a:solidFill>
                  <a:srgbClr val="64748B"/>
                </a:solidFill>
                <a:latin typeface="Noto Sans"/>
                <a:ea typeface="Noto Sans"/>
                <a:cs typeface="Noto Sans"/>
              </a:defRPr>
            </a:pPr>
            <a:r>
              <a:rPr sz="1500" b="1">
                <a:solidFill>
                  <a:srgbClr val="64748B"/>
                </a:solidFill>
                <a:latin typeface="Noto Sans"/>
                <a:ea typeface="Noto Sans"/>
                <a:cs typeface="Noto Sans"/>
              </a:rPr>
              <a:t>IZSKAIDROT</a:t>
            </a:r>
          </a:p>
        </p:txBody>
      </p:sp>
      <p:sp>
        <p:nvSpPr>
          <p:cNvPr id="16" name="Rectangle 15">
            <a:extLst>
              <a:ext uri="{FF2B5EF4-FFF2-40B4-BE49-F238E27FC236}">
                <a16:creationId xmlns:a16="http://schemas.microsoft.com/office/drawing/2014/main" id="{0FF7E2C0-8DF7-4E09-BFEA-68973BCC1BBB}"/>
              </a:ext>
            </a:extLst>
          </p:cNvPr>
          <p:cNvSpPr>
            <a:spLocks noGrp="1"/>
          </p:cNvSpPr>
          <p:nvPr/>
        </p:nvSpPr>
        <p:spPr>
          <a:xfrm>
            <a:off x="3476625" y="3371850"/>
            <a:ext cx="4905375" cy="476250"/>
          </a:xfrm>
          <a:prstGeom prst="rect">
            <a:avLst/>
          </a:prstGeom>
          <a:noFill/>
          <a:ln w="0">
            <a:noFill/>
            <a:prstDash val="solid"/>
          </a:ln>
        </p:spPr>
        <p:txBody>
          <a:bodyPr lIns="76200" tIns="38100" rIns="76200" bIns="38100" anchor="ctr">
            <a:normAutofit/>
          </a:bodyPr>
          <a:lstStyle/>
          <a:p>
            <a:pPr algn="l">
              <a:lnSpc>
                <a:spcPct val="104000"/>
              </a:lnSpc>
              <a:buNone/>
              <a:defRPr sz="1425" b="0">
                <a:solidFill>
                  <a:srgbClr val="94A3B8"/>
                </a:solidFill>
                <a:latin typeface="Noto Sans"/>
                <a:ea typeface="Noto Sans"/>
                <a:cs typeface="Noto Sans"/>
              </a:defRPr>
            </a:pPr>
            <a:r>
              <a:rPr sz="1425" b="0">
                <a:solidFill>
                  <a:srgbClr val="94A3B8"/>
                </a:solidFill>
                <a:latin typeface="Noto Sans"/>
                <a:ea typeface="Noto Sans"/>
                <a:cs typeface="Noto Sans"/>
              </a:rPr>
              <a:t>AI Analyst virs aprēķinātiem faktiem</a:t>
            </a:r>
          </a:p>
        </p:txBody>
      </p:sp>
      <p:sp>
        <p:nvSpPr>
          <p:cNvPr id="17" name="Rounded Rectangle 16">
            <a:extLst>
              <a:ext uri="{FF2B5EF4-FFF2-40B4-BE49-F238E27FC236}">
                <a16:creationId xmlns:a16="http://schemas.microsoft.com/office/drawing/2014/main" id="{C21E86D0-4931-4487-A3FA-B5140B42531F}"/>
              </a:ext>
            </a:extLst>
          </p:cNvPr>
          <p:cNvSpPr>
            <a:spLocks noGrp="1"/>
          </p:cNvSpPr>
          <p:nvPr/>
        </p:nvSpPr>
        <p:spPr>
          <a:xfrm>
            <a:off x="8858250" y="3448050"/>
            <a:ext cx="2019300" cy="323850"/>
          </a:xfrm>
          <a:prstGeom prst="roundRect">
            <a:avLst>
              <a:gd name="adj" fmla="val 35294"/>
            </a:avLst>
          </a:prstGeom>
          <a:solidFill>
            <a:srgbClr val="F1F5F9"/>
          </a:solidFill>
          <a:ln w="0">
            <a:noFill/>
            <a:prstDash val="solid"/>
          </a:ln>
        </p:spPr>
        <p:txBody>
          <a:bodyPr lIns="76200" tIns="38100" rIns="76200" bIns="38100" anchor="ctr">
            <a:normAutofit/>
          </a:bodyPr>
          <a:lstStyle/>
          <a:p>
            <a:pPr algn="ctr">
              <a:lnSpc>
                <a:spcPct val="104000"/>
              </a:lnSpc>
              <a:buNone/>
              <a:defRPr sz="1050" b="1">
                <a:solidFill>
                  <a:srgbClr val="64748B"/>
                </a:solidFill>
                <a:latin typeface="Noto Sans"/>
                <a:ea typeface="Noto Sans"/>
                <a:cs typeface="Noto Sans"/>
              </a:defRPr>
            </a:pPr>
            <a:r>
              <a:rPr sz="1050" b="1">
                <a:solidFill>
                  <a:srgbClr val="64748B"/>
                </a:solidFill>
                <a:latin typeface="Noto Sans"/>
                <a:ea typeface="Noto Sans"/>
                <a:cs typeface="Noto Sans"/>
              </a:rPr>
              <a:t>PLĀNOTS</a:t>
            </a:r>
          </a:p>
        </p:txBody>
      </p:sp>
      <p:sp>
        <p:nvSpPr>
          <p:cNvPr id="18" name="Rounded Rectangle 17">
            <a:extLst>
              <a:ext uri="{FF2B5EF4-FFF2-40B4-BE49-F238E27FC236}">
                <a16:creationId xmlns:a16="http://schemas.microsoft.com/office/drawing/2014/main" id="{544D95DA-2A6B-43FE-9E19-C13EC30B9F44}"/>
              </a:ext>
            </a:extLst>
          </p:cNvPr>
          <p:cNvSpPr>
            <a:spLocks noGrp="1"/>
          </p:cNvSpPr>
          <p:nvPr/>
        </p:nvSpPr>
        <p:spPr>
          <a:xfrm>
            <a:off x="609600" y="4095750"/>
            <a:ext cx="476250" cy="476250"/>
          </a:xfrm>
          <a:prstGeom prst="roundRect">
            <a:avLst>
              <a:gd name="adj" fmla="val 50000"/>
            </a:avLst>
          </a:prstGeom>
          <a:solidFill>
            <a:srgbClr val="F1F5F9"/>
          </a:solidFill>
          <a:ln w="0">
            <a:noFill/>
            <a:prstDash val="solid"/>
          </a:ln>
        </p:spPr>
        <p:txBody>
          <a:bodyPr lIns="76200" tIns="38100" rIns="76200" bIns="38100" anchor="ctr">
            <a:normAutofit/>
          </a:bodyPr>
          <a:lstStyle/>
          <a:p>
            <a:pPr algn="ctr">
              <a:lnSpc>
                <a:spcPct val="104000"/>
              </a:lnSpc>
              <a:buNone/>
              <a:defRPr sz="1575" b="1">
                <a:solidFill>
                  <a:srgbClr val="64748B"/>
                </a:solidFill>
                <a:latin typeface="Noto Sans"/>
                <a:ea typeface="Noto Sans"/>
                <a:cs typeface="Noto Sans"/>
              </a:defRPr>
            </a:pPr>
            <a:r>
              <a:rPr sz="1575" b="1">
                <a:solidFill>
                  <a:srgbClr val="64748B"/>
                </a:solidFill>
                <a:latin typeface="Noto Sans"/>
                <a:ea typeface="Noto Sans"/>
                <a:cs typeface="Noto Sans"/>
              </a:rPr>
              <a:t>4</a:t>
            </a:r>
          </a:p>
        </p:txBody>
      </p:sp>
      <p:sp>
        <p:nvSpPr>
          <p:cNvPr id="19" name="Rectangle 18">
            <a:extLst>
              <a:ext uri="{FF2B5EF4-FFF2-40B4-BE49-F238E27FC236}">
                <a16:creationId xmlns:a16="http://schemas.microsoft.com/office/drawing/2014/main" id="{639F0954-1C17-4AC0-9BDD-66039EC1CB74}"/>
              </a:ext>
            </a:extLst>
          </p:cNvPr>
          <p:cNvSpPr>
            <a:spLocks noGrp="1"/>
          </p:cNvSpPr>
          <p:nvPr/>
        </p:nvSpPr>
        <p:spPr>
          <a:xfrm>
            <a:off x="1295400" y="4095750"/>
            <a:ext cx="2190750" cy="476250"/>
          </a:xfrm>
          <a:prstGeom prst="rect">
            <a:avLst/>
          </a:prstGeom>
          <a:noFill/>
          <a:ln w="0">
            <a:noFill/>
            <a:prstDash val="solid"/>
          </a:ln>
        </p:spPr>
        <p:txBody>
          <a:bodyPr lIns="76200" tIns="38100" rIns="76200" bIns="38100" anchor="ctr">
            <a:normAutofit/>
          </a:bodyPr>
          <a:lstStyle/>
          <a:p>
            <a:pPr algn="l">
              <a:lnSpc>
                <a:spcPct val="104000"/>
              </a:lnSpc>
              <a:buNone/>
              <a:defRPr sz="1500" b="1">
                <a:solidFill>
                  <a:srgbClr val="64748B"/>
                </a:solidFill>
                <a:latin typeface="Noto Sans"/>
                <a:ea typeface="Noto Sans"/>
                <a:cs typeface="Noto Sans"/>
              </a:defRPr>
            </a:pPr>
            <a:r>
              <a:rPr sz="1500" b="1">
                <a:solidFill>
                  <a:srgbClr val="64748B"/>
                </a:solidFill>
                <a:latin typeface="Noto Sans"/>
                <a:ea typeface="Noto Sans"/>
                <a:cs typeface="Noto Sans"/>
              </a:rPr>
              <a:t>PROGNOZĒT</a:t>
            </a:r>
          </a:p>
        </p:txBody>
      </p:sp>
      <p:sp>
        <p:nvSpPr>
          <p:cNvPr id="20" name="Rectangle 19">
            <a:extLst>
              <a:ext uri="{FF2B5EF4-FFF2-40B4-BE49-F238E27FC236}">
                <a16:creationId xmlns:a16="http://schemas.microsoft.com/office/drawing/2014/main" id="{E03D80A8-976C-4C41-A47F-83317162F900}"/>
              </a:ext>
            </a:extLst>
          </p:cNvPr>
          <p:cNvSpPr>
            <a:spLocks noGrp="1"/>
          </p:cNvSpPr>
          <p:nvPr/>
        </p:nvSpPr>
        <p:spPr>
          <a:xfrm>
            <a:off x="3476625" y="4095750"/>
            <a:ext cx="4905375" cy="476250"/>
          </a:xfrm>
          <a:prstGeom prst="rect">
            <a:avLst/>
          </a:prstGeom>
          <a:noFill/>
          <a:ln w="0">
            <a:noFill/>
            <a:prstDash val="solid"/>
          </a:ln>
        </p:spPr>
        <p:txBody>
          <a:bodyPr lIns="76200" tIns="38100" rIns="76200" bIns="38100" anchor="ctr">
            <a:normAutofit/>
          </a:bodyPr>
          <a:lstStyle/>
          <a:p>
            <a:pPr algn="l">
              <a:lnSpc>
                <a:spcPct val="104000"/>
              </a:lnSpc>
              <a:buNone/>
              <a:defRPr sz="1425" b="0">
                <a:solidFill>
                  <a:srgbClr val="94A3B8"/>
                </a:solidFill>
                <a:latin typeface="Noto Sans"/>
                <a:ea typeface="Noto Sans"/>
                <a:cs typeface="Noto Sans"/>
              </a:defRPr>
            </a:pPr>
            <a:r>
              <a:rPr sz="1425" b="0">
                <a:solidFill>
                  <a:srgbClr val="94A3B8"/>
                </a:solidFill>
                <a:latin typeface="Noto Sans"/>
                <a:ea typeface="Noto Sans"/>
                <a:cs typeface="Noto Sans"/>
              </a:rPr>
              <a:t>Kas, visticamāk, notiks tālāk?</a:t>
            </a:r>
          </a:p>
        </p:txBody>
      </p:sp>
      <p:sp>
        <p:nvSpPr>
          <p:cNvPr id="21" name="Rounded Rectangle 20">
            <a:extLst>
              <a:ext uri="{FF2B5EF4-FFF2-40B4-BE49-F238E27FC236}">
                <a16:creationId xmlns:a16="http://schemas.microsoft.com/office/drawing/2014/main" id="{82C5E265-B921-4EC3-8AD0-C030FD568A4A}"/>
              </a:ext>
            </a:extLst>
          </p:cNvPr>
          <p:cNvSpPr>
            <a:spLocks noGrp="1"/>
          </p:cNvSpPr>
          <p:nvPr/>
        </p:nvSpPr>
        <p:spPr>
          <a:xfrm>
            <a:off x="8858250" y="4171950"/>
            <a:ext cx="2019300" cy="323850"/>
          </a:xfrm>
          <a:prstGeom prst="roundRect">
            <a:avLst>
              <a:gd name="adj" fmla="val 35294"/>
            </a:avLst>
          </a:prstGeom>
          <a:solidFill>
            <a:srgbClr val="F1F5F9"/>
          </a:solidFill>
          <a:ln w="0">
            <a:noFill/>
            <a:prstDash val="solid"/>
          </a:ln>
        </p:spPr>
        <p:txBody>
          <a:bodyPr lIns="76200" tIns="38100" rIns="76200" bIns="38100" anchor="ctr">
            <a:normAutofit/>
          </a:bodyPr>
          <a:lstStyle/>
          <a:p>
            <a:pPr algn="ctr">
              <a:lnSpc>
                <a:spcPct val="104000"/>
              </a:lnSpc>
              <a:buNone/>
              <a:defRPr sz="1050" b="1">
                <a:solidFill>
                  <a:srgbClr val="64748B"/>
                </a:solidFill>
                <a:latin typeface="Noto Sans"/>
                <a:ea typeface="Noto Sans"/>
                <a:cs typeface="Noto Sans"/>
              </a:defRPr>
            </a:pPr>
            <a:r>
              <a:rPr sz="1050" b="1">
                <a:solidFill>
                  <a:srgbClr val="64748B"/>
                </a:solidFill>
                <a:latin typeface="Noto Sans"/>
                <a:ea typeface="Noto Sans"/>
                <a:cs typeface="Noto Sans"/>
              </a:rPr>
              <a:t>PLĀNOTS</a:t>
            </a:r>
          </a:p>
        </p:txBody>
      </p:sp>
      <p:sp>
        <p:nvSpPr>
          <p:cNvPr id="22" name="Rounded Rectangle 21">
            <a:extLst>
              <a:ext uri="{FF2B5EF4-FFF2-40B4-BE49-F238E27FC236}">
                <a16:creationId xmlns:a16="http://schemas.microsoft.com/office/drawing/2014/main" id="{3A528B38-835D-4220-8DB3-A1A86F887F6D}"/>
              </a:ext>
            </a:extLst>
          </p:cNvPr>
          <p:cNvSpPr>
            <a:spLocks noGrp="1"/>
          </p:cNvSpPr>
          <p:nvPr/>
        </p:nvSpPr>
        <p:spPr>
          <a:xfrm>
            <a:off x="609600" y="4819650"/>
            <a:ext cx="476250" cy="476250"/>
          </a:xfrm>
          <a:prstGeom prst="roundRect">
            <a:avLst>
              <a:gd name="adj" fmla="val 50000"/>
            </a:avLst>
          </a:prstGeom>
          <a:solidFill>
            <a:srgbClr val="F1F5F9"/>
          </a:solidFill>
          <a:ln w="0">
            <a:noFill/>
            <a:prstDash val="solid"/>
          </a:ln>
        </p:spPr>
        <p:txBody>
          <a:bodyPr lIns="76200" tIns="38100" rIns="76200" bIns="38100" anchor="ctr">
            <a:normAutofit/>
          </a:bodyPr>
          <a:lstStyle/>
          <a:p>
            <a:pPr algn="ctr">
              <a:lnSpc>
                <a:spcPct val="104000"/>
              </a:lnSpc>
              <a:buNone/>
              <a:defRPr sz="1575" b="1">
                <a:solidFill>
                  <a:srgbClr val="64748B"/>
                </a:solidFill>
                <a:latin typeface="Noto Sans"/>
                <a:ea typeface="Noto Sans"/>
                <a:cs typeface="Noto Sans"/>
              </a:defRPr>
            </a:pPr>
            <a:r>
              <a:rPr sz="1575" b="1">
                <a:solidFill>
                  <a:srgbClr val="64748B"/>
                </a:solidFill>
                <a:latin typeface="Noto Sans"/>
                <a:ea typeface="Noto Sans"/>
                <a:cs typeface="Noto Sans"/>
              </a:rPr>
              <a:t>5</a:t>
            </a:r>
          </a:p>
        </p:txBody>
      </p:sp>
      <p:sp>
        <p:nvSpPr>
          <p:cNvPr id="23" name="Rectangle 22">
            <a:extLst>
              <a:ext uri="{FF2B5EF4-FFF2-40B4-BE49-F238E27FC236}">
                <a16:creationId xmlns:a16="http://schemas.microsoft.com/office/drawing/2014/main" id="{1094C55D-3E50-4F34-B9C8-9AE8FBB1983E}"/>
              </a:ext>
            </a:extLst>
          </p:cNvPr>
          <p:cNvSpPr>
            <a:spLocks noGrp="1"/>
          </p:cNvSpPr>
          <p:nvPr/>
        </p:nvSpPr>
        <p:spPr>
          <a:xfrm>
            <a:off x="1295400" y="4819650"/>
            <a:ext cx="2190750" cy="476250"/>
          </a:xfrm>
          <a:prstGeom prst="rect">
            <a:avLst/>
          </a:prstGeom>
          <a:noFill/>
          <a:ln w="0">
            <a:noFill/>
            <a:prstDash val="solid"/>
          </a:ln>
        </p:spPr>
        <p:txBody>
          <a:bodyPr lIns="76200" tIns="38100" rIns="76200" bIns="38100" anchor="ctr">
            <a:normAutofit/>
          </a:bodyPr>
          <a:lstStyle/>
          <a:p>
            <a:pPr algn="l">
              <a:lnSpc>
                <a:spcPct val="104000"/>
              </a:lnSpc>
              <a:buNone/>
              <a:defRPr sz="1500" b="1">
                <a:solidFill>
                  <a:srgbClr val="64748B"/>
                </a:solidFill>
                <a:latin typeface="Noto Sans"/>
                <a:ea typeface="Noto Sans"/>
                <a:cs typeface="Noto Sans"/>
              </a:defRPr>
            </a:pPr>
            <a:r>
              <a:rPr sz="1500" b="1">
                <a:solidFill>
                  <a:srgbClr val="64748B"/>
                </a:solidFill>
                <a:latin typeface="Noto Sans"/>
                <a:ea typeface="Noto Sans"/>
                <a:cs typeface="Noto Sans"/>
              </a:rPr>
              <a:t>SIMULĒT</a:t>
            </a:r>
          </a:p>
        </p:txBody>
      </p:sp>
      <p:sp>
        <p:nvSpPr>
          <p:cNvPr id="24" name="Rectangle 23">
            <a:extLst>
              <a:ext uri="{FF2B5EF4-FFF2-40B4-BE49-F238E27FC236}">
                <a16:creationId xmlns:a16="http://schemas.microsoft.com/office/drawing/2014/main" id="{F13BE28E-1A65-402B-B70D-AAF657A90B0A}"/>
              </a:ext>
            </a:extLst>
          </p:cNvPr>
          <p:cNvSpPr>
            <a:spLocks noGrp="1"/>
          </p:cNvSpPr>
          <p:nvPr/>
        </p:nvSpPr>
        <p:spPr>
          <a:xfrm>
            <a:off x="3476625" y="4819650"/>
            <a:ext cx="4905375" cy="476250"/>
          </a:xfrm>
          <a:prstGeom prst="rect">
            <a:avLst/>
          </a:prstGeom>
          <a:noFill/>
          <a:ln w="0">
            <a:noFill/>
            <a:prstDash val="solid"/>
          </a:ln>
        </p:spPr>
        <p:txBody>
          <a:bodyPr lIns="76200" tIns="38100" rIns="76200" bIns="38100" anchor="ctr">
            <a:normAutofit/>
          </a:bodyPr>
          <a:lstStyle/>
          <a:p>
            <a:pPr algn="l">
              <a:lnSpc>
                <a:spcPct val="104000"/>
              </a:lnSpc>
              <a:buNone/>
              <a:defRPr sz="1425" b="0">
                <a:solidFill>
                  <a:srgbClr val="94A3B8"/>
                </a:solidFill>
                <a:latin typeface="Noto Sans"/>
                <a:ea typeface="Noto Sans"/>
                <a:cs typeface="Noto Sans"/>
              </a:defRPr>
            </a:pPr>
            <a:r>
              <a:rPr sz="1425" b="0">
                <a:solidFill>
                  <a:srgbClr val="94A3B8"/>
                </a:solidFill>
                <a:latin typeface="Noto Sans"/>
                <a:ea typeface="Noto Sans"/>
                <a:cs typeface="Noto Sans"/>
              </a:rPr>
              <a:t>FIN//TWIN: kas notiks, ja…?</a:t>
            </a:r>
          </a:p>
        </p:txBody>
      </p:sp>
      <p:sp>
        <p:nvSpPr>
          <p:cNvPr id="25" name="Rounded Rectangle 24">
            <a:extLst>
              <a:ext uri="{FF2B5EF4-FFF2-40B4-BE49-F238E27FC236}">
                <a16:creationId xmlns:a16="http://schemas.microsoft.com/office/drawing/2014/main" id="{7ABFA82B-9D1C-4CF5-80D6-073C4A52452B}"/>
              </a:ext>
            </a:extLst>
          </p:cNvPr>
          <p:cNvSpPr>
            <a:spLocks noGrp="1"/>
          </p:cNvSpPr>
          <p:nvPr/>
        </p:nvSpPr>
        <p:spPr>
          <a:xfrm>
            <a:off x="8858250" y="4895850"/>
            <a:ext cx="2019300" cy="323850"/>
          </a:xfrm>
          <a:prstGeom prst="roundRect">
            <a:avLst>
              <a:gd name="adj" fmla="val 35294"/>
            </a:avLst>
          </a:prstGeom>
          <a:solidFill>
            <a:srgbClr val="F1F5F9"/>
          </a:solidFill>
          <a:ln w="0">
            <a:noFill/>
            <a:prstDash val="solid"/>
          </a:ln>
        </p:spPr>
        <p:txBody>
          <a:bodyPr lIns="76200" tIns="38100" rIns="76200" bIns="38100" anchor="ctr">
            <a:normAutofit/>
          </a:bodyPr>
          <a:lstStyle/>
          <a:p>
            <a:pPr algn="ctr">
              <a:lnSpc>
                <a:spcPct val="104000"/>
              </a:lnSpc>
              <a:buNone/>
              <a:defRPr sz="1050" b="1">
                <a:solidFill>
                  <a:srgbClr val="64748B"/>
                </a:solidFill>
                <a:latin typeface="Noto Sans"/>
                <a:ea typeface="Noto Sans"/>
                <a:cs typeface="Noto Sans"/>
              </a:defRPr>
            </a:pPr>
            <a:r>
              <a:rPr sz="1050" b="1">
                <a:solidFill>
                  <a:srgbClr val="64748B"/>
                </a:solidFill>
                <a:latin typeface="Noto Sans"/>
                <a:ea typeface="Noto Sans"/>
                <a:cs typeface="Noto Sans"/>
              </a:rPr>
              <a:t>PLĀNOTS</a:t>
            </a:r>
          </a:p>
        </p:txBody>
      </p:sp>
      <p:sp>
        <p:nvSpPr>
          <p:cNvPr id="26" name="Rectangle 25">
            <a:extLst>
              <a:ext uri="{FF2B5EF4-FFF2-40B4-BE49-F238E27FC236}">
                <a16:creationId xmlns:a16="http://schemas.microsoft.com/office/drawing/2014/main" id="{BC47373E-7806-40EB-9940-F98349C42C0B}"/>
              </a:ext>
            </a:extLst>
          </p:cNvPr>
          <p:cNvSpPr>
            <a:spLocks noGrp="1"/>
          </p:cNvSpPr>
          <p:nvPr/>
        </p:nvSpPr>
        <p:spPr>
          <a:xfrm>
            <a:off x="600075" y="5838825"/>
            <a:ext cx="10715625" cy="19050"/>
          </a:xfrm>
          <a:prstGeom prst="rect">
            <a:avLst/>
          </a:prstGeom>
          <a:solidFill>
            <a:srgbClr val="C7D7E2"/>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1BD8D6E4-4A6C-4494-9D24-D71AAB17B482}"/>
              </a:ext>
            </a:extLst>
          </p:cNvPr>
          <p:cNvSpPr>
            <a:spLocks noGrp="1"/>
          </p:cNvSpPr>
          <p:nvPr/>
        </p:nvSpPr>
        <p:spPr>
          <a:xfrm>
            <a:off x="600075" y="5972175"/>
            <a:ext cx="1828800" cy="438150"/>
          </a:xfrm>
          <a:prstGeom prst="rect">
            <a:avLst/>
          </a:prstGeom>
          <a:noFill/>
          <a:ln w="0">
            <a:noFill/>
            <a:prstDash val="solid"/>
          </a:ln>
        </p:spPr>
        <p:txBody>
          <a:bodyPr lIns="76200" tIns="38100" rIns="76200" bIns="38100" anchor="ctr">
            <a:normAutofit/>
          </a:bodyPr>
          <a:lstStyle/>
          <a:p>
            <a:pPr algn="ctr">
              <a:lnSpc>
                <a:spcPct val="104000"/>
              </a:lnSpc>
              <a:buNone/>
              <a:defRPr sz="1125" b="1">
                <a:solidFill>
                  <a:srgbClr val="123A63"/>
                </a:solidFill>
                <a:latin typeface="Noto Sans"/>
                <a:ea typeface="Noto Sans"/>
                <a:cs typeface="Noto Sans"/>
              </a:defRPr>
            </a:pPr>
            <a:r>
              <a:rPr sz="1125" b="1">
                <a:solidFill>
                  <a:srgbClr val="123A63"/>
                </a:solidFill>
                <a:latin typeface="Noto Sans"/>
                <a:ea typeface="Noto Sans"/>
                <a:cs typeface="Noto Sans"/>
              </a:rPr>
              <a:t>M1–M4A</a:t>
            </a:r>
          </a:p>
          <a:p>
            <a:pPr algn="ctr">
              <a:lnSpc>
                <a:spcPct val="104000"/>
              </a:lnSpc>
              <a:buNone/>
              <a:defRPr sz="1125" b="1">
                <a:solidFill>
                  <a:srgbClr val="123A63"/>
                </a:solidFill>
                <a:latin typeface="Noto Sans"/>
                <a:ea typeface="Noto Sans"/>
                <a:cs typeface="Noto Sans"/>
              </a:defRPr>
            </a:pPr>
            <a:r>
              <a:rPr sz="1125" b="1">
                <a:solidFill>
                  <a:srgbClr val="123A63"/>
                </a:solidFill>
                <a:latin typeface="Noto Sans"/>
                <a:ea typeface="Noto Sans"/>
                <a:cs typeface="Noto Sans"/>
              </a:rPr>
              <a:t>uzbūvēts</a:t>
            </a:r>
          </a:p>
        </p:txBody>
      </p:sp>
      <p:sp>
        <p:nvSpPr>
          <p:cNvPr id="28" name="Rectangle 27">
            <a:extLst>
              <a:ext uri="{FF2B5EF4-FFF2-40B4-BE49-F238E27FC236}">
                <a16:creationId xmlns:a16="http://schemas.microsoft.com/office/drawing/2014/main" id="{8555E519-084C-4EA0-BA4C-F9ACA1656560}"/>
              </a:ext>
            </a:extLst>
          </p:cNvPr>
          <p:cNvSpPr>
            <a:spLocks noGrp="1"/>
          </p:cNvSpPr>
          <p:nvPr/>
        </p:nvSpPr>
        <p:spPr>
          <a:xfrm>
            <a:off x="2381250" y="6172200"/>
            <a:ext cx="361950" cy="19050"/>
          </a:xfrm>
          <a:prstGeom prst="rect">
            <a:avLst/>
          </a:prstGeom>
          <a:solidFill>
            <a:srgbClr val="38BDF8"/>
          </a:solidFill>
          <a:ln w="0">
            <a:noFill/>
            <a:prstDash val="solid"/>
          </a:ln>
        </p:spPr>
        <p:txBody>
          <a:bodyPr/>
          <a:lstStyle/>
          <a:p>
            <a:endParaRPr lang="en-US"/>
          </a:p>
        </p:txBody>
      </p:sp>
      <p:sp>
        <p:nvSpPr>
          <p:cNvPr id="29" name="Rectangle 28">
            <a:extLst>
              <a:ext uri="{FF2B5EF4-FFF2-40B4-BE49-F238E27FC236}">
                <a16:creationId xmlns:a16="http://schemas.microsoft.com/office/drawing/2014/main" id="{C4F1C295-45F0-4F9B-A28C-0F9522D307A2}"/>
              </a:ext>
            </a:extLst>
          </p:cNvPr>
          <p:cNvSpPr>
            <a:spLocks noGrp="1"/>
          </p:cNvSpPr>
          <p:nvPr/>
        </p:nvSpPr>
        <p:spPr>
          <a:xfrm>
            <a:off x="2752725" y="5972175"/>
            <a:ext cx="1828800" cy="438150"/>
          </a:xfrm>
          <a:prstGeom prst="rect">
            <a:avLst/>
          </a:prstGeom>
          <a:noFill/>
          <a:ln w="0">
            <a:noFill/>
            <a:prstDash val="solid"/>
          </a:ln>
        </p:spPr>
        <p:txBody>
          <a:bodyPr lIns="76200" tIns="38100" rIns="76200" bIns="38100" anchor="ctr">
            <a:normAutofit/>
          </a:bodyPr>
          <a:lstStyle/>
          <a:p>
            <a:pPr algn="ctr">
              <a:lnSpc>
                <a:spcPct val="104000"/>
              </a:lnSpc>
              <a:buNone/>
              <a:defRPr sz="1125" b="0">
                <a:solidFill>
                  <a:srgbClr val="64748B"/>
                </a:solidFill>
                <a:latin typeface="Noto Sans"/>
                <a:ea typeface="Noto Sans"/>
                <a:cs typeface="Noto Sans"/>
              </a:defRPr>
            </a:pPr>
            <a:r>
              <a:rPr sz="1125" b="0">
                <a:solidFill>
                  <a:srgbClr val="64748B"/>
                </a:solidFill>
                <a:latin typeface="Noto Sans"/>
                <a:ea typeface="Noto Sans"/>
                <a:cs typeface="Noto Sans"/>
              </a:rPr>
              <a:t>M3C</a:t>
            </a:r>
          </a:p>
          <a:p>
            <a:pPr algn="ctr">
              <a:lnSpc>
                <a:spcPct val="104000"/>
              </a:lnSpc>
              <a:buNone/>
              <a:defRPr sz="1125" b="0">
                <a:solidFill>
                  <a:srgbClr val="64748B"/>
                </a:solidFill>
                <a:latin typeface="Noto Sans"/>
                <a:ea typeface="Noto Sans"/>
                <a:cs typeface="Noto Sans"/>
              </a:defRPr>
            </a:pPr>
            <a:r>
              <a:rPr sz="1125" b="0">
                <a:solidFill>
                  <a:srgbClr val="64748B"/>
                </a:solidFill>
                <a:latin typeface="Noto Sans"/>
                <a:ea typeface="Noto Sans"/>
                <a:cs typeface="Noto Sans"/>
              </a:rPr>
              <a:t>Data Hub</a:t>
            </a:r>
          </a:p>
        </p:txBody>
      </p:sp>
      <p:sp>
        <p:nvSpPr>
          <p:cNvPr id="30" name="Rectangle 29">
            <a:extLst>
              <a:ext uri="{FF2B5EF4-FFF2-40B4-BE49-F238E27FC236}">
                <a16:creationId xmlns:a16="http://schemas.microsoft.com/office/drawing/2014/main" id="{A9FEFBA8-AB41-49E3-B441-A2739995471D}"/>
              </a:ext>
            </a:extLst>
          </p:cNvPr>
          <p:cNvSpPr>
            <a:spLocks noGrp="1"/>
          </p:cNvSpPr>
          <p:nvPr/>
        </p:nvSpPr>
        <p:spPr>
          <a:xfrm>
            <a:off x="4533900" y="6172200"/>
            <a:ext cx="361950" cy="19050"/>
          </a:xfrm>
          <a:prstGeom prst="rect">
            <a:avLst/>
          </a:prstGeom>
          <a:solidFill>
            <a:srgbClr val="C7D7E2"/>
          </a:solidFill>
          <a:ln w="0">
            <a:noFill/>
            <a:prstDash val="solid"/>
          </a:ln>
        </p:spPr>
        <p:txBody>
          <a:bodyPr/>
          <a:lstStyle/>
          <a:p>
            <a:endParaRPr lang="en-US"/>
          </a:p>
        </p:txBody>
      </p:sp>
      <p:sp>
        <p:nvSpPr>
          <p:cNvPr id="31" name="Rectangle 30">
            <a:extLst>
              <a:ext uri="{FF2B5EF4-FFF2-40B4-BE49-F238E27FC236}">
                <a16:creationId xmlns:a16="http://schemas.microsoft.com/office/drawing/2014/main" id="{F73CA931-0B93-4ACA-901B-C429099F2494}"/>
              </a:ext>
            </a:extLst>
          </p:cNvPr>
          <p:cNvSpPr>
            <a:spLocks noGrp="1"/>
          </p:cNvSpPr>
          <p:nvPr/>
        </p:nvSpPr>
        <p:spPr>
          <a:xfrm>
            <a:off x="4905375" y="5972175"/>
            <a:ext cx="1828800" cy="438150"/>
          </a:xfrm>
          <a:prstGeom prst="rect">
            <a:avLst/>
          </a:prstGeom>
          <a:noFill/>
          <a:ln w="0">
            <a:noFill/>
            <a:prstDash val="solid"/>
          </a:ln>
        </p:spPr>
        <p:txBody>
          <a:bodyPr lIns="76200" tIns="38100" rIns="76200" bIns="38100" anchor="ctr">
            <a:normAutofit/>
          </a:bodyPr>
          <a:lstStyle/>
          <a:p>
            <a:pPr algn="ctr">
              <a:lnSpc>
                <a:spcPct val="104000"/>
              </a:lnSpc>
              <a:buNone/>
              <a:defRPr sz="1125" b="0">
                <a:solidFill>
                  <a:srgbClr val="64748B"/>
                </a:solidFill>
                <a:latin typeface="Noto Sans"/>
                <a:ea typeface="Noto Sans"/>
                <a:cs typeface="Noto Sans"/>
              </a:defRPr>
            </a:pPr>
            <a:r>
              <a:rPr sz="1125" b="0">
                <a:solidFill>
                  <a:srgbClr val="64748B"/>
                </a:solidFill>
                <a:latin typeface="Noto Sans"/>
                <a:ea typeface="Noto Sans"/>
                <a:cs typeface="Noto Sans"/>
              </a:rPr>
              <a:t>M5</a:t>
            </a:r>
          </a:p>
          <a:p>
            <a:pPr algn="ctr">
              <a:lnSpc>
                <a:spcPct val="104000"/>
              </a:lnSpc>
              <a:buNone/>
              <a:defRPr sz="1125" b="0">
                <a:solidFill>
                  <a:srgbClr val="64748B"/>
                </a:solidFill>
                <a:latin typeface="Noto Sans"/>
                <a:ea typeface="Noto Sans"/>
                <a:cs typeface="Noto Sans"/>
              </a:defRPr>
            </a:pPr>
            <a:r>
              <a:rPr sz="1125" b="0">
                <a:solidFill>
                  <a:srgbClr val="64748B"/>
                </a:solidFill>
                <a:latin typeface="Noto Sans"/>
                <a:ea typeface="Noto Sans"/>
                <a:cs typeface="Noto Sans"/>
              </a:rPr>
              <a:t>AI Analyst</a:t>
            </a:r>
          </a:p>
        </p:txBody>
      </p:sp>
      <p:sp>
        <p:nvSpPr>
          <p:cNvPr id="32" name="Rectangle 31">
            <a:extLst>
              <a:ext uri="{FF2B5EF4-FFF2-40B4-BE49-F238E27FC236}">
                <a16:creationId xmlns:a16="http://schemas.microsoft.com/office/drawing/2014/main" id="{D4516918-B6BC-497A-B6F2-D40F35DA6124}"/>
              </a:ext>
            </a:extLst>
          </p:cNvPr>
          <p:cNvSpPr>
            <a:spLocks noGrp="1"/>
          </p:cNvSpPr>
          <p:nvPr/>
        </p:nvSpPr>
        <p:spPr>
          <a:xfrm>
            <a:off x="6686550" y="6172200"/>
            <a:ext cx="361950" cy="19050"/>
          </a:xfrm>
          <a:prstGeom prst="rect">
            <a:avLst/>
          </a:prstGeom>
          <a:solidFill>
            <a:srgbClr val="C7D7E2"/>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85F93A31-1338-4838-83C5-939F1BD0893E}"/>
              </a:ext>
            </a:extLst>
          </p:cNvPr>
          <p:cNvSpPr>
            <a:spLocks noGrp="1"/>
          </p:cNvSpPr>
          <p:nvPr/>
        </p:nvSpPr>
        <p:spPr>
          <a:xfrm>
            <a:off x="7058025" y="5972175"/>
            <a:ext cx="1828800" cy="438150"/>
          </a:xfrm>
          <a:prstGeom prst="rect">
            <a:avLst/>
          </a:prstGeom>
          <a:noFill/>
          <a:ln w="0">
            <a:noFill/>
            <a:prstDash val="solid"/>
          </a:ln>
        </p:spPr>
        <p:txBody>
          <a:bodyPr lIns="76200" tIns="38100" rIns="76200" bIns="38100" anchor="ctr">
            <a:normAutofit/>
          </a:bodyPr>
          <a:lstStyle/>
          <a:p>
            <a:pPr algn="ctr">
              <a:lnSpc>
                <a:spcPct val="104000"/>
              </a:lnSpc>
              <a:buNone/>
              <a:defRPr sz="1125" b="0">
                <a:solidFill>
                  <a:srgbClr val="64748B"/>
                </a:solidFill>
                <a:latin typeface="Noto Sans"/>
                <a:ea typeface="Noto Sans"/>
                <a:cs typeface="Noto Sans"/>
              </a:defRPr>
            </a:pPr>
            <a:r>
              <a:rPr sz="1125" b="0">
                <a:solidFill>
                  <a:srgbClr val="64748B"/>
                </a:solidFill>
                <a:latin typeface="Noto Sans"/>
                <a:ea typeface="Noto Sans"/>
                <a:cs typeface="Noto Sans"/>
              </a:rPr>
              <a:t>M6</a:t>
            </a:r>
          </a:p>
          <a:p>
            <a:pPr algn="ctr">
              <a:lnSpc>
                <a:spcPct val="104000"/>
              </a:lnSpc>
              <a:buNone/>
              <a:defRPr sz="1125" b="0">
                <a:solidFill>
                  <a:srgbClr val="64748B"/>
                </a:solidFill>
                <a:latin typeface="Noto Sans"/>
                <a:ea typeface="Noto Sans"/>
                <a:cs typeface="Noto Sans"/>
              </a:defRPr>
            </a:pPr>
            <a:r>
              <a:rPr sz="1125" b="0">
                <a:solidFill>
                  <a:srgbClr val="64748B"/>
                </a:solidFill>
                <a:latin typeface="Noto Sans"/>
                <a:ea typeface="Noto Sans"/>
                <a:cs typeface="Noto Sans"/>
              </a:rPr>
              <a:t>FIN//TWIN</a:t>
            </a:r>
          </a:p>
        </p:txBody>
      </p:sp>
      <p:sp>
        <p:nvSpPr>
          <p:cNvPr id="34" name="Rectangle 33">
            <a:extLst>
              <a:ext uri="{FF2B5EF4-FFF2-40B4-BE49-F238E27FC236}">
                <a16:creationId xmlns:a16="http://schemas.microsoft.com/office/drawing/2014/main" id="{4E586AAA-E9FA-468A-A7C2-D38B430B64BC}"/>
              </a:ext>
            </a:extLst>
          </p:cNvPr>
          <p:cNvSpPr>
            <a:spLocks noGrp="1"/>
          </p:cNvSpPr>
          <p:nvPr/>
        </p:nvSpPr>
        <p:spPr>
          <a:xfrm>
            <a:off x="8839200" y="6172200"/>
            <a:ext cx="361950" cy="19050"/>
          </a:xfrm>
          <a:prstGeom prst="rect">
            <a:avLst/>
          </a:prstGeom>
          <a:solidFill>
            <a:srgbClr val="C7D7E2"/>
          </a:solidFill>
          <a:ln w="0">
            <a:noFill/>
            <a:prstDash val="solid"/>
          </a:ln>
        </p:spPr>
        <p:txBody>
          <a:bodyPr/>
          <a:lstStyle/>
          <a:p>
            <a:endParaRPr lang="en-US"/>
          </a:p>
        </p:txBody>
      </p:sp>
      <p:sp>
        <p:nvSpPr>
          <p:cNvPr id="35" name="Rectangle 34">
            <a:extLst>
              <a:ext uri="{FF2B5EF4-FFF2-40B4-BE49-F238E27FC236}">
                <a16:creationId xmlns:a16="http://schemas.microsoft.com/office/drawing/2014/main" id="{E1DB6645-ACD1-4B61-8C63-4372A0E0D98F}"/>
              </a:ext>
            </a:extLst>
          </p:cNvPr>
          <p:cNvSpPr>
            <a:spLocks noGrp="1"/>
          </p:cNvSpPr>
          <p:nvPr/>
        </p:nvSpPr>
        <p:spPr>
          <a:xfrm>
            <a:off x="9210675" y="5972175"/>
            <a:ext cx="1828800" cy="438150"/>
          </a:xfrm>
          <a:prstGeom prst="rect">
            <a:avLst/>
          </a:prstGeom>
          <a:noFill/>
          <a:ln w="0">
            <a:noFill/>
            <a:prstDash val="solid"/>
          </a:ln>
        </p:spPr>
        <p:txBody>
          <a:bodyPr lIns="76200" tIns="38100" rIns="76200" bIns="38100" anchor="ctr">
            <a:normAutofit/>
          </a:bodyPr>
          <a:lstStyle/>
          <a:p>
            <a:pPr algn="ctr">
              <a:lnSpc>
                <a:spcPct val="104000"/>
              </a:lnSpc>
              <a:buNone/>
              <a:defRPr sz="1125" b="0">
                <a:solidFill>
                  <a:srgbClr val="64748B"/>
                </a:solidFill>
                <a:latin typeface="Noto Sans"/>
                <a:ea typeface="Noto Sans"/>
                <a:cs typeface="Noto Sans"/>
              </a:defRPr>
            </a:pPr>
            <a:r>
              <a:rPr sz="1125" b="0">
                <a:solidFill>
                  <a:srgbClr val="64748B"/>
                </a:solidFill>
                <a:latin typeface="Noto Sans"/>
                <a:ea typeface="Noto Sans"/>
                <a:cs typeface="Noto Sans"/>
              </a:rPr>
              <a:t>M7</a:t>
            </a:r>
          </a:p>
          <a:p>
            <a:pPr algn="ctr">
              <a:lnSpc>
                <a:spcPct val="104000"/>
              </a:lnSpc>
              <a:buNone/>
              <a:defRPr sz="1125" b="0">
                <a:solidFill>
                  <a:srgbClr val="64748B"/>
                </a:solidFill>
                <a:latin typeface="Noto Sans"/>
                <a:ea typeface="Noto Sans"/>
                <a:cs typeface="Noto Sans"/>
              </a:defRPr>
            </a:pPr>
            <a:r>
              <a:rPr sz="1125" b="0">
                <a:solidFill>
                  <a:srgbClr val="64748B"/>
                </a:solidFill>
                <a:latin typeface="Noto Sans"/>
                <a:ea typeface="Noto Sans"/>
                <a:cs typeface="Noto Sans"/>
              </a:rPr>
              <a:t>Integrācijas</a:t>
            </a:r>
          </a:p>
        </p:txBody>
      </p:sp>
    </p:spTree>
    <p:extLst>
      <p:ext uri="{BB962C8B-B14F-4D97-AF65-F5344CB8AC3E}">
        <p14:creationId xmlns:p14="http://schemas.microsoft.com/office/powerpoint/2010/main" val="470268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525"/>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FF9A344-BFCB-40D1-B3D6-6FA88DCB586B}"/>
              </a:ext>
            </a:extLst>
          </p:cNvPr>
          <p:cNvSpPr>
            <a:spLocks noGrp="1"/>
          </p:cNvSpPr>
          <p:nvPr/>
        </p:nvSpPr>
        <p:spPr>
          <a:xfrm>
            <a:off x="552450" y="476250"/>
            <a:ext cx="9810750" cy="552450"/>
          </a:xfrm>
          <a:prstGeom prst="rect">
            <a:avLst/>
          </a:prstGeom>
          <a:noFill/>
          <a:ln w="0">
            <a:noFill/>
            <a:prstDash val="solid"/>
          </a:ln>
        </p:spPr>
        <p:txBody>
          <a:bodyPr lIns="76200" tIns="38100" rIns="76200" bIns="38100" anchor="ctr">
            <a:normAutofit fontScale="93172"/>
          </a:bodyPr>
          <a:lstStyle/>
          <a:p>
            <a:pPr algn="l">
              <a:lnSpc>
                <a:spcPct val="104000"/>
              </a:lnSpc>
              <a:buNone/>
              <a:defRPr sz="3225" b="1">
                <a:solidFill>
                  <a:srgbClr val="F8FAFC"/>
                </a:solidFill>
                <a:latin typeface="Noto Sans"/>
                <a:ea typeface="Noto Sans"/>
                <a:cs typeface="Noto Sans"/>
              </a:defRPr>
            </a:pPr>
            <a:r>
              <a:rPr sz="3225" b="1">
                <a:solidFill>
                  <a:srgbClr val="F8FAFC"/>
                </a:solidFill>
                <a:latin typeface="Noto Sans"/>
                <a:ea typeface="Noto Sans"/>
                <a:cs typeface="Noto Sans"/>
              </a:rPr>
              <a:t>Pirmais MVP: šaurs, izmērāms, testējams</a:t>
            </a:r>
          </a:p>
        </p:txBody>
      </p:sp>
      <p:sp>
        <p:nvSpPr>
          <p:cNvPr id="2" name="Rectangle 1">
            <a:extLst>
              <a:ext uri="{FF2B5EF4-FFF2-40B4-BE49-F238E27FC236}">
                <a16:creationId xmlns:a16="http://schemas.microsoft.com/office/drawing/2014/main" id="{B1BFA42B-248A-496F-8E17-7E21E2742A9C}"/>
              </a:ext>
            </a:extLst>
          </p:cNvPr>
          <p:cNvSpPr>
            <a:spLocks noGrp="1"/>
          </p:cNvSpPr>
          <p:nvPr/>
        </p:nvSpPr>
        <p:spPr>
          <a:xfrm>
            <a:off x="571500" y="1123950"/>
            <a:ext cx="9334500" cy="323850"/>
          </a:xfrm>
          <a:prstGeom prst="rect">
            <a:avLst/>
          </a:prstGeom>
          <a:noFill/>
          <a:ln w="0">
            <a:noFill/>
            <a:prstDash val="solid"/>
          </a:ln>
        </p:spPr>
        <p:txBody>
          <a:bodyPr lIns="76200" tIns="38100" rIns="76200" bIns="38100" anchor="ctr">
            <a:normAutofit fontScale="94697"/>
          </a:bodyPr>
          <a:lstStyle/>
          <a:p>
            <a:pPr algn="l">
              <a:lnSpc>
                <a:spcPct val="104000"/>
              </a:lnSpc>
              <a:buNone/>
              <a:defRPr sz="1650" b="0">
                <a:solidFill>
                  <a:srgbClr val="7DD3FC"/>
                </a:solidFill>
                <a:latin typeface="Noto Sans"/>
                <a:ea typeface="Noto Sans"/>
                <a:cs typeface="Noto Sans"/>
              </a:defRPr>
            </a:pPr>
            <a:r>
              <a:rPr sz="1650" b="0">
                <a:solidFill>
                  <a:srgbClr val="7DD3FC"/>
                </a:solidFill>
                <a:latin typeface="Noto Sans"/>
                <a:ea typeface="Noto Sans"/>
                <a:cs typeface="Noto Sans"/>
              </a:rPr>
              <a:t>Lai pārbaudītu TWIN vērtību, mums nav jāuzbūvē gala TWIN.</a:t>
            </a:r>
          </a:p>
        </p:txBody>
      </p:sp>
      <p:sp>
        <p:nvSpPr>
          <p:cNvPr id="3" name="Rounded Rectangle 2">
            <a:extLst>
              <a:ext uri="{FF2B5EF4-FFF2-40B4-BE49-F238E27FC236}">
                <a16:creationId xmlns:a16="http://schemas.microsoft.com/office/drawing/2014/main" id="{56D9D3F0-FC12-4632-BA36-7F3F0303AF27}"/>
              </a:ext>
            </a:extLst>
          </p:cNvPr>
          <p:cNvSpPr>
            <a:spLocks noGrp="1"/>
          </p:cNvSpPr>
          <p:nvPr/>
        </p:nvSpPr>
        <p:spPr>
          <a:xfrm>
            <a:off x="600075" y="1952625"/>
            <a:ext cx="3314700" cy="2667000"/>
          </a:xfrm>
          <a:prstGeom prst="roundRect">
            <a:avLst>
              <a:gd name="adj" fmla="val 5000"/>
            </a:avLst>
          </a:prstGeom>
          <a:solidFill>
            <a:srgbClr val="102A44"/>
          </a:solidFill>
          <a:ln w="9525">
            <a:solidFill>
              <a:srgbClr val="244A6B"/>
            </a:solidFill>
            <a:prstDash val="solid"/>
          </a:ln>
        </p:spPr>
        <p:txBody>
          <a:bodyPr/>
          <a:lstStyle/>
          <a:p>
            <a:endParaRPr lang="en-US"/>
          </a:p>
        </p:txBody>
      </p:sp>
      <p:sp>
        <p:nvSpPr>
          <p:cNvPr id="4" name="Rectangle 3">
            <a:extLst>
              <a:ext uri="{FF2B5EF4-FFF2-40B4-BE49-F238E27FC236}">
                <a16:creationId xmlns:a16="http://schemas.microsoft.com/office/drawing/2014/main" id="{9C89B9C1-FECC-4C3F-A9E5-123EF67A09EB}"/>
              </a:ext>
            </a:extLst>
          </p:cNvPr>
          <p:cNvSpPr>
            <a:spLocks noGrp="1"/>
          </p:cNvSpPr>
          <p:nvPr/>
        </p:nvSpPr>
        <p:spPr>
          <a:xfrm>
            <a:off x="790575" y="2095500"/>
            <a:ext cx="2933700" cy="323850"/>
          </a:xfrm>
          <a:prstGeom prst="rect">
            <a:avLst/>
          </a:prstGeom>
          <a:noFill/>
          <a:ln w="0">
            <a:noFill/>
            <a:prstDash val="solid"/>
          </a:ln>
        </p:spPr>
        <p:txBody>
          <a:bodyPr lIns="76200" tIns="38100" rIns="76200" bIns="38100" anchor="t">
            <a:normAutofit fontScale="99206"/>
          </a:bodyPr>
          <a:lstStyle/>
          <a:p>
            <a:pPr algn="l">
              <a:lnSpc>
                <a:spcPct val="104000"/>
              </a:lnSpc>
              <a:buNone/>
              <a:defRPr sz="1575" b="1">
                <a:solidFill>
                  <a:srgbClr val="F8FAFC"/>
                </a:solidFill>
                <a:latin typeface="Noto Sans"/>
                <a:ea typeface="Noto Sans"/>
                <a:cs typeface="Noto Sans"/>
              </a:defRPr>
            </a:pPr>
            <a:r>
              <a:rPr sz="1575" b="1">
                <a:solidFill>
                  <a:srgbClr val="F8FAFC"/>
                </a:solidFill>
                <a:latin typeface="Noto Sans"/>
                <a:ea typeface="Noto Sans"/>
                <a:cs typeface="Noto Sans"/>
              </a:rPr>
              <a:t>INPUT</a:t>
            </a:r>
          </a:p>
        </p:txBody>
      </p:sp>
      <p:sp>
        <p:nvSpPr>
          <p:cNvPr id="5" name="Rectangle 4">
            <a:extLst>
              <a:ext uri="{FF2B5EF4-FFF2-40B4-BE49-F238E27FC236}">
                <a16:creationId xmlns:a16="http://schemas.microsoft.com/office/drawing/2014/main" id="{38C31B39-B145-4F69-9879-16C7A10B9CCC}"/>
              </a:ext>
            </a:extLst>
          </p:cNvPr>
          <p:cNvSpPr>
            <a:spLocks noGrp="1"/>
          </p:cNvSpPr>
          <p:nvPr/>
        </p:nvSpPr>
        <p:spPr>
          <a:xfrm>
            <a:off x="790575" y="2466975"/>
            <a:ext cx="2933700" cy="2028825"/>
          </a:xfrm>
          <a:prstGeom prst="rect">
            <a:avLst/>
          </a:prstGeom>
          <a:noFill/>
          <a:ln w="0">
            <a:noFill/>
            <a:prstDash val="solid"/>
          </a:ln>
        </p:spPr>
        <p:txBody>
          <a:bodyPr lIns="76200" tIns="38100" rIns="76200" bIns="38100" anchor="t">
            <a:normAutofit/>
          </a:bodyPr>
          <a:lstStyle/>
          <a:p>
            <a:pPr algn="l">
              <a:lnSpc>
                <a:spcPct val="110000"/>
              </a:lnSpc>
              <a:buNone/>
              <a:defRPr sz="1650" b="0">
                <a:solidFill>
                  <a:srgbClr val="CBD5E1"/>
                </a:solidFill>
                <a:latin typeface="Noto Sans"/>
                <a:ea typeface="Noto Sans"/>
                <a:cs typeface="Noto Sans"/>
              </a:defRPr>
            </a:pPr>
            <a:r>
              <a:rPr sz="1650" b="0">
                <a:solidFill>
                  <a:srgbClr val="CBD5E1"/>
                </a:solidFill>
                <a:latin typeface="Noto Sans"/>
                <a:ea typeface="Noto Sans"/>
                <a:cs typeface="Noto Sans"/>
              </a:rPr>
              <a:t>Excel / CSV</a:t>
            </a:r>
          </a:p>
          <a:p>
            <a:pPr algn="l">
              <a:lnSpc>
                <a:spcPct val="110000"/>
              </a:lnSpc>
              <a:buNone/>
              <a:defRPr sz="1650" b="0">
                <a:solidFill>
                  <a:srgbClr val="CBD5E1"/>
                </a:solidFill>
                <a:latin typeface="Noto Sans"/>
                <a:ea typeface="Noto Sans"/>
                <a:cs typeface="Noto Sans"/>
              </a:defRPr>
            </a:pPr>
            <a:r>
              <a:rPr sz="1650" b="0">
                <a:solidFill>
                  <a:srgbClr val="CBD5E1"/>
                </a:solidFill>
                <a:latin typeface="Noto Sans"/>
                <a:ea typeface="Noto Sans"/>
                <a:cs typeface="Noto Sans"/>
              </a:rPr>
              <a:t>Invoice PDF</a:t>
            </a:r>
          </a:p>
          <a:p>
            <a:pPr algn="l">
              <a:lnSpc>
                <a:spcPct val="110000"/>
              </a:lnSpc>
              <a:buNone/>
              <a:defRPr sz="1650" b="0">
                <a:solidFill>
                  <a:srgbClr val="CBD5E1"/>
                </a:solidFill>
                <a:latin typeface="Noto Sans"/>
                <a:ea typeface="Noto Sans"/>
                <a:cs typeface="Noto Sans"/>
              </a:defRPr>
            </a:pPr>
            <a:r>
              <a:rPr sz="1650" b="0">
                <a:solidFill>
                  <a:srgbClr val="CBD5E1"/>
                </a:solidFill>
                <a:latin typeface="Noto Sans"/>
                <a:ea typeface="Noto Sans"/>
                <a:cs typeface="Noto Sans"/>
              </a:rPr>
              <a:t>Bill of Lading PDF</a:t>
            </a:r>
          </a:p>
        </p:txBody>
      </p:sp>
      <p:sp>
        <p:nvSpPr>
          <p:cNvPr id="6" name="Rounded Rectangle 5">
            <a:extLst>
              <a:ext uri="{FF2B5EF4-FFF2-40B4-BE49-F238E27FC236}">
                <a16:creationId xmlns:a16="http://schemas.microsoft.com/office/drawing/2014/main" id="{E67C8D2F-DBDF-40DD-9E34-DF0C75BB071C}"/>
              </a:ext>
            </a:extLst>
          </p:cNvPr>
          <p:cNvSpPr>
            <a:spLocks noGrp="1"/>
          </p:cNvSpPr>
          <p:nvPr/>
        </p:nvSpPr>
        <p:spPr>
          <a:xfrm>
            <a:off x="4286250" y="1952625"/>
            <a:ext cx="3314700" cy="2667000"/>
          </a:xfrm>
          <a:prstGeom prst="roundRect">
            <a:avLst>
              <a:gd name="adj" fmla="val 5000"/>
            </a:avLst>
          </a:prstGeom>
          <a:solidFill>
            <a:srgbClr val="38BDF8"/>
          </a:solidFill>
          <a:ln w="9525">
            <a:solidFill>
              <a:srgbClr val="38BDF8"/>
            </a:solidFill>
            <a:prstDash val="solid"/>
          </a:ln>
        </p:spPr>
        <p:txBody>
          <a:bodyPr/>
          <a:lstStyle/>
          <a:p>
            <a:endParaRPr lang="en-US"/>
          </a:p>
        </p:txBody>
      </p:sp>
      <p:sp>
        <p:nvSpPr>
          <p:cNvPr id="7" name="Rectangle 6">
            <a:extLst>
              <a:ext uri="{FF2B5EF4-FFF2-40B4-BE49-F238E27FC236}">
                <a16:creationId xmlns:a16="http://schemas.microsoft.com/office/drawing/2014/main" id="{4D542A16-C195-4BE0-B123-2355E2B6C2B3}"/>
              </a:ext>
            </a:extLst>
          </p:cNvPr>
          <p:cNvSpPr>
            <a:spLocks noGrp="1"/>
          </p:cNvSpPr>
          <p:nvPr/>
        </p:nvSpPr>
        <p:spPr>
          <a:xfrm>
            <a:off x="4476750" y="2095500"/>
            <a:ext cx="2933700" cy="323850"/>
          </a:xfrm>
          <a:prstGeom prst="rect">
            <a:avLst/>
          </a:prstGeom>
          <a:noFill/>
          <a:ln w="0">
            <a:noFill/>
            <a:prstDash val="solid"/>
          </a:ln>
        </p:spPr>
        <p:txBody>
          <a:bodyPr lIns="76200" tIns="38100" rIns="76200" bIns="38100" anchor="t">
            <a:normAutofit fontScale="99206"/>
          </a:bodyPr>
          <a:lstStyle/>
          <a:p>
            <a:pPr algn="l">
              <a:lnSpc>
                <a:spcPct val="104000"/>
              </a:lnSpc>
              <a:buNone/>
              <a:defRPr sz="1575" b="1">
                <a:solidFill>
                  <a:srgbClr val="071525"/>
                </a:solidFill>
                <a:latin typeface="Noto Sans"/>
                <a:ea typeface="Noto Sans"/>
                <a:cs typeface="Noto Sans"/>
              </a:defRPr>
            </a:pPr>
            <a:r>
              <a:rPr sz="1575" b="1">
                <a:solidFill>
                  <a:srgbClr val="071525"/>
                </a:solidFill>
                <a:latin typeface="Noto Sans"/>
                <a:ea typeface="Noto Sans"/>
                <a:cs typeface="Noto Sans"/>
              </a:rPr>
              <a:t>CORE</a:t>
            </a:r>
          </a:p>
        </p:txBody>
      </p:sp>
      <p:sp>
        <p:nvSpPr>
          <p:cNvPr id="8" name="Rectangle 7">
            <a:extLst>
              <a:ext uri="{FF2B5EF4-FFF2-40B4-BE49-F238E27FC236}">
                <a16:creationId xmlns:a16="http://schemas.microsoft.com/office/drawing/2014/main" id="{C807AF5C-F1E4-4339-A663-E70FD605F21F}"/>
              </a:ext>
            </a:extLst>
          </p:cNvPr>
          <p:cNvSpPr>
            <a:spLocks noGrp="1"/>
          </p:cNvSpPr>
          <p:nvPr/>
        </p:nvSpPr>
        <p:spPr>
          <a:xfrm>
            <a:off x="4476750" y="2466975"/>
            <a:ext cx="2933700" cy="2028825"/>
          </a:xfrm>
          <a:prstGeom prst="rect">
            <a:avLst/>
          </a:prstGeom>
          <a:noFill/>
          <a:ln w="0">
            <a:noFill/>
            <a:prstDash val="solid"/>
          </a:ln>
        </p:spPr>
        <p:txBody>
          <a:bodyPr lIns="76200" tIns="38100" rIns="76200" bIns="38100" anchor="t">
            <a:normAutofit/>
          </a:bodyPr>
          <a:lstStyle/>
          <a:p>
            <a:pPr algn="l">
              <a:lnSpc>
                <a:spcPct val="110000"/>
              </a:lnSpc>
              <a:buNone/>
              <a:defRPr sz="1650" b="0">
                <a:solidFill>
                  <a:srgbClr val="123A63"/>
                </a:solidFill>
                <a:latin typeface="Noto Sans"/>
                <a:ea typeface="Noto Sans"/>
                <a:cs typeface="Noto Sans"/>
              </a:defRPr>
            </a:pPr>
            <a:r>
              <a:rPr sz="1650" b="0">
                <a:solidFill>
                  <a:srgbClr val="123A63"/>
                </a:solidFill>
                <a:latin typeface="Noto Sans"/>
                <a:ea typeface="Noto Sans"/>
                <a:cs typeface="Noto Sans"/>
              </a:rPr>
              <a:t>Vienots datu modelis</a:t>
            </a:r>
          </a:p>
          <a:p>
            <a:pPr algn="l">
              <a:lnSpc>
                <a:spcPct val="110000"/>
              </a:lnSpc>
              <a:buNone/>
              <a:defRPr sz="1650" b="0">
                <a:solidFill>
                  <a:srgbClr val="123A63"/>
                </a:solidFill>
                <a:latin typeface="Noto Sans"/>
                <a:ea typeface="Noto Sans"/>
                <a:cs typeface="Noto Sans"/>
              </a:defRPr>
            </a:pPr>
            <a:r>
              <a:rPr sz="1650" b="0">
                <a:solidFill>
                  <a:srgbClr val="123A63"/>
                </a:solidFill>
                <a:latin typeface="Noto Sans"/>
                <a:ea typeface="Noto Sans"/>
                <a:cs typeface="Noto Sans"/>
              </a:rPr>
              <a:t>Normalizācija un validācija</a:t>
            </a:r>
          </a:p>
          <a:p>
            <a:pPr algn="l">
              <a:lnSpc>
                <a:spcPct val="110000"/>
              </a:lnSpc>
              <a:buNone/>
              <a:defRPr sz="1650" b="0">
                <a:solidFill>
                  <a:srgbClr val="123A63"/>
                </a:solidFill>
                <a:latin typeface="Noto Sans"/>
                <a:ea typeface="Noto Sans"/>
                <a:cs typeface="Noto Sans"/>
              </a:defRPr>
            </a:pPr>
            <a:r>
              <a:rPr sz="1650" b="0">
                <a:solidFill>
                  <a:srgbClr val="123A63"/>
                </a:solidFill>
                <a:latin typeface="Noto Sans"/>
                <a:ea typeface="Noto Sans"/>
                <a:cs typeface="Noto Sans"/>
              </a:rPr>
              <a:t>Cilvēka review</a:t>
            </a:r>
          </a:p>
          <a:p>
            <a:pPr algn="l">
              <a:lnSpc>
                <a:spcPct val="110000"/>
              </a:lnSpc>
              <a:buNone/>
              <a:defRPr sz="1650" b="0">
                <a:solidFill>
                  <a:srgbClr val="123A63"/>
                </a:solidFill>
                <a:latin typeface="Noto Sans"/>
                <a:ea typeface="Noto Sans"/>
                <a:cs typeface="Noto Sans"/>
              </a:defRPr>
            </a:pPr>
            <a:r>
              <a:rPr sz="1650" b="0">
                <a:solidFill>
                  <a:srgbClr val="123A63"/>
                </a:solidFill>
                <a:latin typeface="Noto Sans"/>
                <a:ea typeface="Noto Sans"/>
                <a:cs typeface="Noto Sans"/>
              </a:rPr>
              <a:t>Provenance</a:t>
            </a:r>
          </a:p>
        </p:txBody>
      </p:sp>
      <p:sp>
        <p:nvSpPr>
          <p:cNvPr id="9" name="Rounded Rectangle 8">
            <a:extLst>
              <a:ext uri="{FF2B5EF4-FFF2-40B4-BE49-F238E27FC236}">
                <a16:creationId xmlns:a16="http://schemas.microsoft.com/office/drawing/2014/main" id="{1442FE47-96B2-42C5-A376-CE1F09EE8302}"/>
              </a:ext>
            </a:extLst>
          </p:cNvPr>
          <p:cNvSpPr>
            <a:spLocks noGrp="1"/>
          </p:cNvSpPr>
          <p:nvPr/>
        </p:nvSpPr>
        <p:spPr>
          <a:xfrm>
            <a:off x="7972425" y="1952625"/>
            <a:ext cx="3314700" cy="2667000"/>
          </a:xfrm>
          <a:prstGeom prst="roundRect">
            <a:avLst>
              <a:gd name="adj" fmla="val 5000"/>
            </a:avLst>
          </a:prstGeom>
          <a:solidFill>
            <a:srgbClr val="102A44"/>
          </a:solidFill>
          <a:ln w="9525">
            <a:solidFill>
              <a:srgbClr val="244A6B"/>
            </a:solidFill>
            <a:prstDash val="solid"/>
          </a:ln>
        </p:spPr>
        <p:txBody>
          <a:bodyPr/>
          <a:lstStyle/>
          <a:p>
            <a:endParaRPr lang="en-US"/>
          </a:p>
        </p:txBody>
      </p:sp>
      <p:sp>
        <p:nvSpPr>
          <p:cNvPr id="10" name="Rectangle 9">
            <a:extLst>
              <a:ext uri="{FF2B5EF4-FFF2-40B4-BE49-F238E27FC236}">
                <a16:creationId xmlns:a16="http://schemas.microsoft.com/office/drawing/2014/main" id="{CBA487E0-6B2E-4EC3-B440-9E04EE5E5BDA}"/>
              </a:ext>
            </a:extLst>
          </p:cNvPr>
          <p:cNvSpPr>
            <a:spLocks noGrp="1"/>
          </p:cNvSpPr>
          <p:nvPr/>
        </p:nvSpPr>
        <p:spPr>
          <a:xfrm>
            <a:off x="8162925" y="2095500"/>
            <a:ext cx="2933700" cy="323850"/>
          </a:xfrm>
          <a:prstGeom prst="rect">
            <a:avLst/>
          </a:prstGeom>
          <a:noFill/>
          <a:ln w="0">
            <a:noFill/>
            <a:prstDash val="solid"/>
          </a:ln>
        </p:spPr>
        <p:txBody>
          <a:bodyPr lIns="76200" tIns="38100" rIns="76200" bIns="38100" anchor="t">
            <a:normAutofit fontScale="99206"/>
          </a:bodyPr>
          <a:lstStyle/>
          <a:p>
            <a:pPr algn="l">
              <a:lnSpc>
                <a:spcPct val="104000"/>
              </a:lnSpc>
              <a:buNone/>
              <a:defRPr sz="1575" b="1">
                <a:solidFill>
                  <a:srgbClr val="F8FAFC"/>
                </a:solidFill>
                <a:latin typeface="Noto Sans"/>
                <a:ea typeface="Noto Sans"/>
                <a:cs typeface="Noto Sans"/>
              </a:defRPr>
            </a:pPr>
            <a:r>
              <a:rPr sz="1575" b="1">
                <a:solidFill>
                  <a:srgbClr val="F8FAFC"/>
                </a:solidFill>
                <a:latin typeface="Noto Sans"/>
                <a:ea typeface="Noto Sans"/>
                <a:cs typeface="Noto Sans"/>
              </a:rPr>
              <a:t>OUTPUT</a:t>
            </a:r>
          </a:p>
        </p:txBody>
      </p:sp>
      <p:sp>
        <p:nvSpPr>
          <p:cNvPr id="11" name="Rectangle 10">
            <a:extLst>
              <a:ext uri="{FF2B5EF4-FFF2-40B4-BE49-F238E27FC236}">
                <a16:creationId xmlns:a16="http://schemas.microsoft.com/office/drawing/2014/main" id="{B765D9D5-96A8-44E1-81B8-EDDE74EB0718}"/>
              </a:ext>
            </a:extLst>
          </p:cNvPr>
          <p:cNvSpPr>
            <a:spLocks noGrp="1"/>
          </p:cNvSpPr>
          <p:nvPr/>
        </p:nvSpPr>
        <p:spPr>
          <a:xfrm>
            <a:off x="8162925" y="2466975"/>
            <a:ext cx="2933700" cy="2028825"/>
          </a:xfrm>
          <a:prstGeom prst="rect">
            <a:avLst/>
          </a:prstGeom>
          <a:noFill/>
          <a:ln w="0">
            <a:noFill/>
            <a:prstDash val="solid"/>
          </a:ln>
        </p:spPr>
        <p:txBody>
          <a:bodyPr lIns="76200" tIns="38100" rIns="76200" bIns="38100" anchor="t">
            <a:normAutofit/>
          </a:bodyPr>
          <a:lstStyle/>
          <a:p>
            <a:pPr algn="l">
              <a:lnSpc>
                <a:spcPct val="110000"/>
              </a:lnSpc>
              <a:buNone/>
              <a:defRPr sz="1650" b="0">
                <a:solidFill>
                  <a:srgbClr val="CBD5E1"/>
                </a:solidFill>
                <a:latin typeface="Noto Sans"/>
                <a:ea typeface="Noto Sans"/>
                <a:cs typeface="Noto Sans"/>
              </a:defRPr>
            </a:pPr>
            <a:r>
              <a:rPr sz="1650" b="0">
                <a:solidFill>
                  <a:srgbClr val="CBD5E1"/>
                </a:solidFill>
                <a:latin typeface="Noto Sans"/>
                <a:ea typeface="Noto Sans"/>
                <a:cs typeface="Noto Sans"/>
              </a:rPr>
              <a:t>Shipment visibility</a:t>
            </a:r>
          </a:p>
          <a:p>
            <a:pPr algn="l">
              <a:lnSpc>
                <a:spcPct val="110000"/>
              </a:lnSpc>
              <a:buNone/>
              <a:defRPr sz="1650" b="0">
                <a:solidFill>
                  <a:srgbClr val="CBD5E1"/>
                </a:solidFill>
                <a:latin typeface="Noto Sans"/>
                <a:ea typeface="Noto Sans"/>
                <a:cs typeface="Noto Sans"/>
              </a:defRPr>
            </a:pPr>
            <a:r>
              <a:rPr sz="1650" b="0">
                <a:solidFill>
                  <a:srgbClr val="CBD5E1"/>
                </a:solidFill>
                <a:latin typeface="Noto Sans"/>
                <a:ea typeface="Noto Sans"/>
                <a:cs typeface="Noto Sans"/>
              </a:rPr>
              <a:t>Finanšu pārskats</a:t>
            </a:r>
          </a:p>
          <a:p>
            <a:pPr algn="l">
              <a:lnSpc>
                <a:spcPct val="110000"/>
              </a:lnSpc>
              <a:buNone/>
              <a:defRPr sz="1650" b="0">
                <a:solidFill>
                  <a:srgbClr val="CBD5E1"/>
                </a:solidFill>
                <a:latin typeface="Noto Sans"/>
                <a:ea typeface="Noto Sans"/>
                <a:cs typeface="Noto Sans"/>
              </a:defRPr>
            </a:pPr>
            <a:r>
              <a:rPr sz="1650" b="0">
                <a:solidFill>
                  <a:srgbClr val="CBD5E1"/>
                </a:solidFill>
                <a:latin typeface="Noto Sans"/>
                <a:ea typeface="Noto Sans"/>
                <a:cs typeface="Noto Sans"/>
              </a:rPr>
              <a:t>Operacionālie KPI</a:t>
            </a:r>
          </a:p>
          <a:p>
            <a:pPr algn="l">
              <a:lnSpc>
                <a:spcPct val="110000"/>
              </a:lnSpc>
              <a:buNone/>
              <a:defRPr sz="1650" b="0">
                <a:solidFill>
                  <a:srgbClr val="CBD5E1"/>
                </a:solidFill>
                <a:latin typeface="Noto Sans"/>
                <a:ea typeface="Noto Sans"/>
                <a:cs typeface="Noto Sans"/>
              </a:defRPr>
            </a:pPr>
            <a:r>
              <a:rPr sz="1650" b="0">
                <a:solidFill>
                  <a:srgbClr val="CBD5E1"/>
                </a:solidFill>
                <a:latin typeface="Noto Sans"/>
                <a:ea typeface="Noto Sans"/>
                <a:cs typeface="Noto Sans"/>
              </a:rPr>
              <a:t>Pamata insights</a:t>
            </a:r>
          </a:p>
        </p:txBody>
      </p:sp>
      <p:sp>
        <p:nvSpPr>
          <p:cNvPr id="12" name="Rectangle 11">
            <a:extLst>
              <a:ext uri="{FF2B5EF4-FFF2-40B4-BE49-F238E27FC236}">
                <a16:creationId xmlns:a16="http://schemas.microsoft.com/office/drawing/2014/main" id="{29099661-E303-4D58-BE32-A6D912DA2659}"/>
              </a:ext>
            </a:extLst>
          </p:cNvPr>
          <p:cNvSpPr>
            <a:spLocks noGrp="1"/>
          </p:cNvSpPr>
          <p:nvPr/>
        </p:nvSpPr>
        <p:spPr>
          <a:xfrm>
            <a:off x="609600" y="5010150"/>
            <a:ext cx="1028700" cy="266700"/>
          </a:xfrm>
          <a:prstGeom prst="rect">
            <a:avLst/>
          </a:prstGeom>
          <a:noFill/>
          <a:ln w="0">
            <a:noFill/>
            <a:prstDash val="solid"/>
          </a:ln>
        </p:spPr>
        <p:txBody>
          <a:bodyPr lIns="76200" tIns="38100" rIns="76200" bIns="38100" anchor="ctr">
            <a:normAutofit/>
          </a:bodyPr>
          <a:lstStyle/>
          <a:p>
            <a:pPr algn="l">
              <a:lnSpc>
                <a:spcPct val="104000"/>
              </a:lnSpc>
              <a:buNone/>
              <a:defRPr sz="1125" b="1">
                <a:solidFill>
                  <a:srgbClr val="E66A5C"/>
                </a:solidFill>
                <a:latin typeface="Noto Sans"/>
                <a:ea typeface="Noto Sans"/>
                <a:cs typeface="Noto Sans"/>
              </a:defRPr>
            </a:pPr>
            <a:r>
              <a:rPr sz="1125" b="1">
                <a:solidFill>
                  <a:srgbClr val="E66A5C"/>
                </a:solidFill>
                <a:latin typeface="Noto Sans"/>
                <a:ea typeface="Noto Sans"/>
                <a:cs typeface="Noto Sans"/>
              </a:rPr>
              <a:t>MVP NAV</a:t>
            </a:r>
          </a:p>
        </p:txBody>
      </p:sp>
      <p:sp>
        <p:nvSpPr>
          <p:cNvPr id="13" name="Rectangle 12">
            <a:extLst>
              <a:ext uri="{FF2B5EF4-FFF2-40B4-BE49-F238E27FC236}">
                <a16:creationId xmlns:a16="http://schemas.microsoft.com/office/drawing/2014/main" id="{756C39D1-0DA6-4F49-9F25-7B4438493EB6}"/>
              </a:ext>
            </a:extLst>
          </p:cNvPr>
          <p:cNvSpPr>
            <a:spLocks noGrp="1"/>
          </p:cNvSpPr>
          <p:nvPr/>
        </p:nvSpPr>
        <p:spPr>
          <a:xfrm>
            <a:off x="1733550" y="4914900"/>
            <a:ext cx="9486900" cy="457200"/>
          </a:xfrm>
          <a:prstGeom prst="rect">
            <a:avLst/>
          </a:prstGeom>
          <a:noFill/>
          <a:ln w="0">
            <a:noFill/>
            <a:prstDash val="solid"/>
          </a:ln>
        </p:spPr>
        <p:txBody>
          <a:bodyPr lIns="76200" tIns="38100" rIns="76200" bIns="38100" anchor="ctr">
            <a:normAutofit/>
          </a:bodyPr>
          <a:lstStyle/>
          <a:p>
            <a:pPr algn="l">
              <a:lnSpc>
                <a:spcPct val="104000"/>
              </a:lnSpc>
              <a:buNone/>
              <a:defRPr sz="1500" b="0">
                <a:solidFill>
                  <a:srgbClr val="F8FAFC"/>
                </a:solidFill>
                <a:latin typeface="Noto Sans"/>
                <a:ea typeface="Noto Sans"/>
                <a:cs typeface="Noto Sans"/>
              </a:defRPr>
            </a:pPr>
            <a:r>
              <a:rPr sz="1500" b="0">
                <a:solidFill>
                  <a:srgbClr val="F8FAFC"/>
                </a:solidFill>
                <a:latin typeface="Noto Sans"/>
                <a:ea typeface="Noto Sans"/>
                <a:cs typeface="Noto Sans"/>
              </a:rPr>
              <a:t>katrs ERP/TMS  •  visi dokumenti  •  AI chat  •  predictive ML  •  Monte Carlo  •  pilna automatizācija</a:t>
            </a:r>
          </a:p>
        </p:txBody>
      </p:sp>
      <p:sp>
        <p:nvSpPr>
          <p:cNvPr id="14" name="Rounded Rectangle 13">
            <a:extLst>
              <a:ext uri="{FF2B5EF4-FFF2-40B4-BE49-F238E27FC236}">
                <a16:creationId xmlns:a16="http://schemas.microsoft.com/office/drawing/2014/main" id="{62D58BAC-D7CE-469E-A123-E991924C1BAC}"/>
              </a:ext>
            </a:extLst>
          </p:cNvPr>
          <p:cNvSpPr>
            <a:spLocks noGrp="1"/>
          </p:cNvSpPr>
          <p:nvPr/>
        </p:nvSpPr>
        <p:spPr>
          <a:xfrm>
            <a:off x="609600" y="5772150"/>
            <a:ext cx="10601325" cy="457200"/>
          </a:xfrm>
          <a:prstGeom prst="roundRect">
            <a:avLst>
              <a:gd name="adj" fmla="val 20833"/>
            </a:avLst>
          </a:prstGeom>
          <a:solidFill>
            <a:srgbClr val="38BDF8"/>
          </a:solidFill>
          <a:ln w="0">
            <a:noFill/>
            <a:prstDash val="solid"/>
          </a:ln>
        </p:spPr>
        <p:txBody>
          <a:bodyPr lIns="76200" tIns="38100" rIns="76200" bIns="38100" anchor="ctr">
            <a:normAutofit/>
          </a:bodyPr>
          <a:lstStyle/>
          <a:p>
            <a:pPr algn="ctr">
              <a:lnSpc>
                <a:spcPct val="104000"/>
              </a:lnSpc>
              <a:buNone/>
              <a:defRPr sz="1350" b="1">
                <a:solidFill>
                  <a:srgbClr val="071525"/>
                </a:solidFill>
                <a:latin typeface="Noto Sans"/>
                <a:ea typeface="Noto Sans"/>
                <a:cs typeface="Noto Sans"/>
              </a:defRPr>
            </a:pPr>
            <a:r>
              <a:rPr sz="1350" b="1">
                <a:solidFill>
                  <a:srgbClr val="071525"/>
                </a:solidFill>
                <a:latin typeface="Noto Sans"/>
                <a:ea typeface="Noto Sans"/>
                <a:cs typeface="Noto Sans"/>
              </a:rPr>
              <a:t>LIELA VĪZIJA  →  ŠAURA NOZARE  →  KONKRĒTA PROBLĒMA  →  MAZS MVP  →  REĀLA KLIENTA VALIDĀCIJA</a:t>
            </a:r>
          </a:p>
        </p:txBody>
      </p:sp>
    </p:spTree>
    <p:extLst>
      <p:ext uri="{BB962C8B-B14F-4D97-AF65-F5344CB8AC3E}">
        <p14:creationId xmlns:p14="http://schemas.microsoft.com/office/powerpoint/2010/main" val="698135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74FB6BE-38E7-4F42-A8B3-86AEF7F0A210}"/>
              </a:ext>
            </a:extLst>
          </p:cNvPr>
          <p:cNvSpPr>
            <a:spLocks noGrp="1"/>
          </p:cNvSpPr>
          <p:nvPr/>
        </p:nvSpPr>
        <p:spPr>
          <a:xfrm>
            <a:off x="552450" y="266700"/>
            <a:ext cx="4000500" cy="228600"/>
          </a:xfrm>
          <a:prstGeom prst="rect">
            <a:avLst/>
          </a:prstGeom>
          <a:noFill/>
          <a:ln w="0">
            <a:noFill/>
            <a:prstDash val="solid"/>
          </a:ln>
        </p:spPr>
        <p:txBody>
          <a:bodyPr lIns="76200" tIns="38100" rIns="76200" bIns="38100" anchor="ctr">
            <a:normAutofit fontScale="85470"/>
          </a:bodyPr>
          <a:lstStyle/>
          <a:p>
            <a:pPr algn="l">
              <a:lnSpc>
                <a:spcPct val="104000"/>
              </a:lnSpc>
              <a:buNone/>
              <a:defRPr sz="1125" b="1">
                <a:solidFill>
                  <a:srgbClr val="123A63"/>
                </a:solidFill>
                <a:latin typeface="Noto Sans"/>
                <a:ea typeface="Noto Sans"/>
                <a:cs typeface="Noto Sans"/>
              </a:defRPr>
            </a:pPr>
            <a:r>
              <a:rPr sz="1125" b="1">
                <a:solidFill>
                  <a:srgbClr val="123A63"/>
                </a:solidFill>
                <a:latin typeface="Noto Sans"/>
                <a:ea typeface="Noto Sans"/>
                <a:cs typeface="Noto Sans"/>
              </a:rPr>
              <a:t>TWIN  /  KOMANDAS DISKUSIJA</a:t>
            </a:r>
          </a:p>
        </p:txBody>
      </p:sp>
      <p:sp>
        <p:nvSpPr>
          <p:cNvPr id="2" name="Rectangle 1">
            <a:extLst>
              <a:ext uri="{FF2B5EF4-FFF2-40B4-BE49-F238E27FC236}">
                <a16:creationId xmlns:a16="http://schemas.microsoft.com/office/drawing/2014/main" id="{48D88546-6D90-41F2-8E33-110CDDC991EA}"/>
              </a:ext>
            </a:extLst>
          </p:cNvPr>
          <p:cNvSpPr>
            <a:spLocks noGrp="1"/>
          </p:cNvSpPr>
          <p:nvPr/>
        </p:nvSpPr>
        <p:spPr>
          <a:xfrm>
            <a:off x="11191875" y="257175"/>
            <a:ext cx="438150" cy="238125"/>
          </a:xfrm>
          <a:prstGeom prst="rect">
            <a:avLst/>
          </a:prstGeom>
          <a:noFill/>
          <a:ln w="0">
            <a:noFill/>
            <a:prstDash val="solid"/>
          </a:ln>
        </p:spPr>
        <p:txBody>
          <a:bodyPr lIns="76200" tIns="38100" rIns="76200" bIns="38100" anchor="ctr">
            <a:normAutofit fontScale="90812"/>
          </a:bodyPr>
          <a:lstStyle/>
          <a:p>
            <a:pPr algn="r">
              <a:lnSpc>
                <a:spcPct val="104000"/>
              </a:lnSpc>
              <a:buNone/>
              <a:defRPr sz="1125" b="1">
                <a:solidFill>
                  <a:srgbClr val="94A3B8"/>
                </a:solidFill>
                <a:latin typeface="Noto Sans"/>
                <a:ea typeface="Noto Sans"/>
                <a:cs typeface="Noto Sans"/>
              </a:defRPr>
            </a:pPr>
            <a:r>
              <a:rPr sz="1125" b="1">
                <a:solidFill>
                  <a:srgbClr val="94A3B8"/>
                </a:solidFill>
                <a:latin typeface="Noto Sans"/>
                <a:ea typeface="Noto Sans"/>
                <a:cs typeface="Noto Sans"/>
              </a:rPr>
              <a:t>12</a:t>
            </a:r>
          </a:p>
        </p:txBody>
      </p:sp>
      <p:sp>
        <p:nvSpPr>
          <p:cNvPr id="3" name="Rectangle 2">
            <a:extLst>
              <a:ext uri="{FF2B5EF4-FFF2-40B4-BE49-F238E27FC236}">
                <a16:creationId xmlns:a16="http://schemas.microsoft.com/office/drawing/2014/main" id="{04D87EF2-88CE-4F41-8AA9-A1FB4D1CB596}"/>
              </a:ext>
            </a:extLst>
          </p:cNvPr>
          <p:cNvSpPr>
            <a:spLocks noGrp="1"/>
          </p:cNvSpPr>
          <p:nvPr/>
        </p:nvSpPr>
        <p:spPr>
          <a:xfrm>
            <a:off x="552450" y="628650"/>
            <a:ext cx="10382250" cy="590550"/>
          </a:xfrm>
          <a:prstGeom prst="rect">
            <a:avLst/>
          </a:prstGeom>
          <a:noFill/>
          <a:ln w="0">
            <a:noFill/>
            <a:prstDash val="solid"/>
          </a:ln>
        </p:spPr>
        <p:txBody>
          <a:bodyPr lIns="76200" tIns="38100" rIns="76200" bIns="38100" anchor="t">
            <a:normAutofit fontScale="93403"/>
          </a:bodyPr>
          <a:lstStyle/>
          <a:p>
            <a:pPr algn="l">
              <a:lnSpc>
                <a:spcPct val="104000"/>
              </a:lnSpc>
              <a:buNone/>
              <a:defRPr sz="3300" b="1">
                <a:solidFill>
                  <a:srgbClr val="0F172A"/>
                </a:solidFill>
                <a:latin typeface="Noto Sans"/>
                <a:ea typeface="Noto Sans"/>
                <a:cs typeface="Noto Sans"/>
              </a:defRPr>
            </a:pPr>
            <a:r>
              <a:rPr sz="3300" b="1">
                <a:solidFill>
                  <a:srgbClr val="0F172A"/>
                </a:solidFill>
                <a:latin typeface="Noto Sans"/>
                <a:ea typeface="Noto Sans"/>
                <a:cs typeface="Noto Sans"/>
              </a:rPr>
              <a:t>Nākamais mērķis: pierādīt vajadzību, nevis spēju būvēt</a:t>
            </a:r>
          </a:p>
        </p:txBody>
      </p:sp>
      <p:sp>
        <p:nvSpPr>
          <p:cNvPr id="4" name="Rectangle 3">
            <a:extLst>
              <a:ext uri="{FF2B5EF4-FFF2-40B4-BE49-F238E27FC236}">
                <a16:creationId xmlns:a16="http://schemas.microsoft.com/office/drawing/2014/main" id="{1875A088-93A4-40E8-A171-89271D97ED3A}"/>
              </a:ext>
            </a:extLst>
          </p:cNvPr>
          <p:cNvSpPr>
            <a:spLocks noGrp="1"/>
          </p:cNvSpPr>
          <p:nvPr/>
        </p:nvSpPr>
        <p:spPr>
          <a:xfrm>
            <a:off x="581025" y="1219200"/>
            <a:ext cx="10287000" cy="323850"/>
          </a:xfrm>
          <a:prstGeom prst="rect">
            <a:avLst/>
          </a:prstGeom>
          <a:noFill/>
          <a:ln w="0">
            <a:noFill/>
            <a:prstDash val="solid"/>
          </a:ln>
        </p:spPr>
        <p:txBody>
          <a:bodyPr lIns="76200" tIns="38100" rIns="76200" bIns="38100" anchor="t">
            <a:normAutofit/>
          </a:bodyPr>
          <a:lstStyle/>
          <a:p>
            <a:pPr algn="l">
              <a:lnSpc>
                <a:spcPct val="104000"/>
              </a:lnSpc>
              <a:buNone/>
              <a:defRPr sz="1500" b="0">
                <a:solidFill>
                  <a:srgbClr val="64748B"/>
                </a:solidFill>
                <a:latin typeface="Noto Sans"/>
                <a:ea typeface="Noto Sans"/>
                <a:cs typeface="Noto Sans"/>
              </a:defRPr>
            </a:pPr>
            <a:r>
              <a:rPr sz="1500" b="0">
                <a:solidFill>
                  <a:srgbClr val="64748B"/>
                </a:solidFill>
                <a:latin typeface="Noto Sans"/>
                <a:ea typeface="Noto Sans"/>
                <a:cs typeface="Noto Sans"/>
              </a:rPr>
              <a:t>Praktisks tirgus izpētes plāns un komandas lēmuma kritēriji</a:t>
            </a:r>
          </a:p>
        </p:txBody>
      </p:sp>
      <p:sp>
        <p:nvSpPr>
          <p:cNvPr id="5" name="Rectangle 4">
            <a:extLst>
              <a:ext uri="{FF2B5EF4-FFF2-40B4-BE49-F238E27FC236}">
                <a16:creationId xmlns:a16="http://schemas.microsoft.com/office/drawing/2014/main" id="{1E8AA350-2324-48FD-9A1C-699B5CCC88CD}"/>
              </a:ext>
            </a:extLst>
          </p:cNvPr>
          <p:cNvSpPr>
            <a:spLocks noGrp="1"/>
          </p:cNvSpPr>
          <p:nvPr/>
        </p:nvSpPr>
        <p:spPr>
          <a:xfrm>
            <a:off x="552450" y="1600200"/>
            <a:ext cx="11087100" cy="19050"/>
          </a:xfrm>
          <a:prstGeom prst="rect">
            <a:avLst/>
          </a:prstGeom>
          <a:solidFill>
            <a:srgbClr val="C7D7E2"/>
          </a:solidFill>
          <a:ln w="0">
            <a:noFill/>
            <a:prstDash val="solid"/>
          </a:ln>
        </p:spPr>
        <p:txBody>
          <a:bodyPr/>
          <a:lstStyle/>
          <a:p>
            <a:endParaRPr lang="en-US"/>
          </a:p>
        </p:txBody>
      </p:sp>
      <p:sp>
        <p:nvSpPr>
          <p:cNvPr id="6" name="Rounded Rectangle 5">
            <a:extLst>
              <a:ext uri="{FF2B5EF4-FFF2-40B4-BE49-F238E27FC236}">
                <a16:creationId xmlns:a16="http://schemas.microsoft.com/office/drawing/2014/main" id="{C4EA9467-9B46-4DAB-B6A4-4ADAF0E951D2}"/>
              </a:ext>
            </a:extLst>
          </p:cNvPr>
          <p:cNvSpPr>
            <a:spLocks noGrp="1"/>
          </p:cNvSpPr>
          <p:nvPr/>
        </p:nvSpPr>
        <p:spPr>
          <a:xfrm>
            <a:off x="590550" y="1952625"/>
            <a:ext cx="3314700" cy="2857500"/>
          </a:xfrm>
          <a:prstGeom prst="roundRect">
            <a:avLst>
              <a:gd name="adj" fmla="val 4667"/>
            </a:avLst>
          </a:prstGeom>
          <a:solidFill>
            <a:srgbClr val="EAF4FA"/>
          </a:solidFill>
          <a:ln w="9525">
            <a:solidFill>
              <a:srgbClr val="38BDF8"/>
            </a:solidFill>
            <a:prstDash val="solid"/>
          </a:ln>
        </p:spPr>
        <p:txBody>
          <a:bodyPr/>
          <a:lstStyle/>
          <a:p>
            <a:endParaRPr lang="en-US"/>
          </a:p>
        </p:txBody>
      </p:sp>
      <p:sp>
        <p:nvSpPr>
          <p:cNvPr id="7" name="Rounded Rectangle 6">
            <a:extLst>
              <a:ext uri="{FF2B5EF4-FFF2-40B4-BE49-F238E27FC236}">
                <a16:creationId xmlns:a16="http://schemas.microsoft.com/office/drawing/2014/main" id="{B6E5E68E-E565-41FC-86CB-D1603FA01B0A}"/>
              </a:ext>
            </a:extLst>
          </p:cNvPr>
          <p:cNvSpPr>
            <a:spLocks noGrp="1"/>
          </p:cNvSpPr>
          <p:nvPr/>
        </p:nvSpPr>
        <p:spPr>
          <a:xfrm>
            <a:off x="590550" y="1952625"/>
            <a:ext cx="66675" cy="2857500"/>
          </a:xfrm>
          <a:prstGeom prst="roundRect">
            <a:avLst>
              <a:gd name="adj" fmla="val 50000"/>
            </a:avLst>
          </a:prstGeom>
          <a:solidFill>
            <a:srgbClr val="38BDF8"/>
          </a:solidFill>
          <a:ln w="0">
            <a:noFill/>
            <a:prstDash val="solid"/>
          </a:ln>
        </p:spPr>
        <p:txBody>
          <a:bodyPr/>
          <a:lstStyle/>
          <a:p>
            <a:endParaRPr lang="en-US"/>
          </a:p>
        </p:txBody>
      </p:sp>
      <p:sp>
        <p:nvSpPr>
          <p:cNvPr id="8" name="Rectangle 7">
            <a:extLst>
              <a:ext uri="{FF2B5EF4-FFF2-40B4-BE49-F238E27FC236}">
                <a16:creationId xmlns:a16="http://schemas.microsoft.com/office/drawing/2014/main" id="{8E3ABAA9-6489-4D07-AA38-4722BF441920}"/>
              </a:ext>
            </a:extLst>
          </p:cNvPr>
          <p:cNvSpPr>
            <a:spLocks noGrp="1"/>
          </p:cNvSpPr>
          <p:nvPr/>
        </p:nvSpPr>
        <p:spPr>
          <a:xfrm>
            <a:off x="781050" y="2095500"/>
            <a:ext cx="2933700" cy="323850"/>
          </a:xfrm>
          <a:prstGeom prst="rect">
            <a:avLst/>
          </a:prstGeom>
          <a:noFill/>
          <a:ln w="0">
            <a:noFill/>
            <a:prstDash val="solid"/>
          </a:ln>
        </p:spPr>
        <p:txBody>
          <a:bodyPr lIns="76200" tIns="38100" rIns="76200" bIns="38100" anchor="t">
            <a:normAutofit/>
          </a:bodyPr>
          <a:lstStyle/>
          <a:p>
            <a:pPr algn="l">
              <a:lnSpc>
                <a:spcPct val="104000"/>
              </a:lnSpc>
              <a:buNone/>
              <a:defRPr sz="1500" b="1">
                <a:solidFill>
                  <a:srgbClr val="0F172A"/>
                </a:solidFill>
                <a:latin typeface="Noto Sans"/>
                <a:ea typeface="Noto Sans"/>
                <a:cs typeface="Noto Sans"/>
              </a:defRPr>
            </a:pPr>
            <a:r>
              <a:rPr sz="1500" b="1">
                <a:solidFill>
                  <a:srgbClr val="0F172A"/>
                </a:solidFill>
                <a:latin typeface="Noto Sans"/>
                <a:ea typeface="Noto Sans"/>
                <a:cs typeface="Noto Sans"/>
              </a:rPr>
              <a:t>1  PROBLĒMU INTERVIJAS</a:t>
            </a:r>
          </a:p>
        </p:txBody>
      </p:sp>
      <p:sp>
        <p:nvSpPr>
          <p:cNvPr id="9" name="Rectangle 8">
            <a:extLst>
              <a:ext uri="{FF2B5EF4-FFF2-40B4-BE49-F238E27FC236}">
                <a16:creationId xmlns:a16="http://schemas.microsoft.com/office/drawing/2014/main" id="{AA4AF088-13D6-47F6-8FAE-8FB298A2C51E}"/>
              </a:ext>
            </a:extLst>
          </p:cNvPr>
          <p:cNvSpPr>
            <a:spLocks noGrp="1"/>
          </p:cNvSpPr>
          <p:nvPr/>
        </p:nvSpPr>
        <p:spPr>
          <a:xfrm>
            <a:off x="781050" y="2466975"/>
            <a:ext cx="2933700" cy="2219325"/>
          </a:xfrm>
          <a:prstGeom prst="rect">
            <a:avLst/>
          </a:prstGeom>
          <a:noFill/>
          <a:ln w="0">
            <a:noFill/>
            <a:prstDash val="solid"/>
          </a:ln>
        </p:spPr>
        <p:txBody>
          <a:bodyPr lIns="76200" tIns="38100" rIns="76200" bIns="38100" anchor="t">
            <a:normAutofit/>
          </a:bodyPr>
          <a:lstStyle/>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Intervēt operations, finance un management.</a:t>
            </a:r>
          </a:p>
          <a:p>
            <a:endParaRPr sz="1350" b="0">
              <a:solidFill>
                <a:srgbClr val="64748B"/>
              </a:solidFill>
              <a:latin typeface="Noto Sans"/>
              <a:ea typeface="Noto Sans"/>
              <a:cs typeface="Noto Sans"/>
            </a:endParaRPr>
          </a:p>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Lūgt: “Parādiet, kā process notiek šodien.”</a:t>
            </a:r>
          </a:p>
          <a:p>
            <a:endParaRPr sz="1350" b="0">
              <a:solidFill>
                <a:srgbClr val="64748B"/>
              </a:solidFill>
              <a:latin typeface="Noto Sans"/>
              <a:ea typeface="Noto Sans"/>
              <a:cs typeface="Noto Sans"/>
            </a:endParaRPr>
          </a:p>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Fiksēt manuālo darbu, kļūdas, reportus un obligātās integrācijas.</a:t>
            </a:r>
          </a:p>
        </p:txBody>
      </p:sp>
      <p:sp>
        <p:nvSpPr>
          <p:cNvPr id="10" name="Rounded Rectangle 9">
            <a:extLst>
              <a:ext uri="{FF2B5EF4-FFF2-40B4-BE49-F238E27FC236}">
                <a16:creationId xmlns:a16="http://schemas.microsoft.com/office/drawing/2014/main" id="{42E45BBE-2780-4C8B-A3E0-DEBF2F1F6F68}"/>
              </a:ext>
            </a:extLst>
          </p:cNvPr>
          <p:cNvSpPr>
            <a:spLocks noGrp="1"/>
          </p:cNvSpPr>
          <p:nvPr/>
        </p:nvSpPr>
        <p:spPr>
          <a:xfrm>
            <a:off x="4429125" y="1952625"/>
            <a:ext cx="3314700" cy="2857500"/>
          </a:xfrm>
          <a:prstGeom prst="roundRect">
            <a:avLst>
              <a:gd name="adj" fmla="val 4667"/>
            </a:avLst>
          </a:prstGeom>
          <a:solidFill>
            <a:srgbClr val="F1F5F9"/>
          </a:solidFill>
          <a:ln w="9525">
            <a:solidFill>
              <a:srgbClr val="C7D7E2"/>
            </a:solidFill>
            <a:prstDash val="solid"/>
          </a:ln>
        </p:spPr>
        <p:txBody>
          <a:bodyPr/>
          <a:lstStyle/>
          <a:p>
            <a:endParaRPr lang="en-US"/>
          </a:p>
        </p:txBody>
      </p:sp>
      <p:sp>
        <p:nvSpPr>
          <p:cNvPr id="11" name="Rectangle 10">
            <a:extLst>
              <a:ext uri="{FF2B5EF4-FFF2-40B4-BE49-F238E27FC236}">
                <a16:creationId xmlns:a16="http://schemas.microsoft.com/office/drawing/2014/main" id="{C321C09F-084A-4C49-9576-EC69EA414A4C}"/>
              </a:ext>
            </a:extLst>
          </p:cNvPr>
          <p:cNvSpPr>
            <a:spLocks noGrp="1"/>
          </p:cNvSpPr>
          <p:nvPr/>
        </p:nvSpPr>
        <p:spPr>
          <a:xfrm>
            <a:off x="4619625" y="2095500"/>
            <a:ext cx="2933700" cy="323850"/>
          </a:xfrm>
          <a:prstGeom prst="rect">
            <a:avLst/>
          </a:prstGeom>
          <a:noFill/>
          <a:ln w="0">
            <a:noFill/>
            <a:prstDash val="solid"/>
          </a:ln>
        </p:spPr>
        <p:txBody>
          <a:bodyPr lIns="76200" tIns="38100" rIns="76200" bIns="38100" anchor="t">
            <a:normAutofit/>
          </a:bodyPr>
          <a:lstStyle/>
          <a:p>
            <a:pPr algn="l">
              <a:lnSpc>
                <a:spcPct val="104000"/>
              </a:lnSpc>
              <a:buNone/>
              <a:defRPr sz="1500" b="1">
                <a:solidFill>
                  <a:srgbClr val="0F172A"/>
                </a:solidFill>
                <a:latin typeface="Noto Sans"/>
                <a:ea typeface="Noto Sans"/>
                <a:cs typeface="Noto Sans"/>
              </a:defRPr>
            </a:pPr>
            <a:r>
              <a:rPr sz="1500" b="1">
                <a:solidFill>
                  <a:srgbClr val="0F172A"/>
                </a:solidFill>
                <a:latin typeface="Noto Sans"/>
                <a:ea typeface="Noto Sans"/>
                <a:cs typeface="Noto Sans"/>
              </a:rPr>
              <a:t>2  ESOŠĀS ALTERNATĪVAS</a:t>
            </a:r>
          </a:p>
        </p:txBody>
      </p:sp>
      <p:sp>
        <p:nvSpPr>
          <p:cNvPr id="12" name="Rectangle 11">
            <a:extLst>
              <a:ext uri="{FF2B5EF4-FFF2-40B4-BE49-F238E27FC236}">
                <a16:creationId xmlns:a16="http://schemas.microsoft.com/office/drawing/2014/main" id="{CCADFBF5-EE31-48C5-9CB9-6EE72E4935E8}"/>
              </a:ext>
            </a:extLst>
          </p:cNvPr>
          <p:cNvSpPr>
            <a:spLocks noGrp="1"/>
          </p:cNvSpPr>
          <p:nvPr/>
        </p:nvSpPr>
        <p:spPr>
          <a:xfrm>
            <a:off x="4619625" y="2466975"/>
            <a:ext cx="2933700" cy="2219325"/>
          </a:xfrm>
          <a:prstGeom prst="rect">
            <a:avLst/>
          </a:prstGeom>
          <a:noFill/>
          <a:ln w="0">
            <a:noFill/>
            <a:prstDash val="solid"/>
          </a:ln>
        </p:spPr>
        <p:txBody>
          <a:bodyPr lIns="76200" tIns="38100" rIns="76200" bIns="38100" anchor="t">
            <a:normAutofit/>
          </a:bodyPr>
          <a:lstStyle/>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TMS / ERP</a:t>
            </a:r>
          </a:p>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Document Intelligence</a:t>
            </a:r>
          </a:p>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Data Integration</a:t>
            </a:r>
          </a:p>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BI un logistics analytics</a:t>
            </a:r>
          </a:p>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AI-assisted analysis</a:t>
            </a:r>
          </a:p>
          <a:p>
            <a:endParaRPr sz="1350" b="0">
              <a:solidFill>
                <a:srgbClr val="64748B"/>
              </a:solidFill>
              <a:latin typeface="Noto Sans"/>
              <a:ea typeface="Noto Sans"/>
              <a:cs typeface="Noto Sans"/>
            </a:endParaRPr>
          </a:p>
          <a:p>
            <a:pPr algn="l">
              <a:lnSpc>
                <a:spcPct val="110000"/>
              </a:lnSpc>
              <a:buNone/>
              <a:defRPr sz="1350" b="0">
                <a:solidFill>
                  <a:srgbClr val="64748B"/>
                </a:solidFill>
                <a:latin typeface="Noto Sans"/>
                <a:ea typeface="Noto Sans"/>
                <a:cs typeface="Noto Sans"/>
              </a:defRPr>
            </a:pPr>
            <a:r>
              <a:rPr sz="1350" b="0">
                <a:solidFill>
                  <a:srgbClr val="64748B"/>
                </a:solidFill>
                <a:latin typeface="Noto Sans"/>
                <a:ea typeface="Noto Sans"/>
                <a:cs typeface="Noto Sans"/>
              </a:rPr>
              <a:t>Meklēt pārklājumu un reālu nišu, nevis apgalvot, ka konkurentu nav.</a:t>
            </a:r>
          </a:p>
        </p:txBody>
      </p:sp>
      <p:sp>
        <p:nvSpPr>
          <p:cNvPr id="13" name="Rounded Rectangle 12">
            <a:extLst>
              <a:ext uri="{FF2B5EF4-FFF2-40B4-BE49-F238E27FC236}">
                <a16:creationId xmlns:a16="http://schemas.microsoft.com/office/drawing/2014/main" id="{1DEF57D0-3CE8-4042-B4AE-ED877012D62C}"/>
              </a:ext>
            </a:extLst>
          </p:cNvPr>
          <p:cNvSpPr>
            <a:spLocks noGrp="1"/>
          </p:cNvSpPr>
          <p:nvPr/>
        </p:nvSpPr>
        <p:spPr>
          <a:xfrm>
            <a:off x="8267700" y="1952625"/>
            <a:ext cx="3314700" cy="2857500"/>
          </a:xfrm>
          <a:prstGeom prst="roundRect">
            <a:avLst>
              <a:gd name="adj" fmla="val 4667"/>
            </a:avLst>
          </a:prstGeom>
          <a:solidFill>
            <a:srgbClr val="071525"/>
          </a:solidFill>
          <a:ln w="9525">
            <a:solidFill>
              <a:srgbClr val="071525"/>
            </a:solidFill>
            <a:prstDash val="solid"/>
          </a:ln>
        </p:spPr>
        <p:txBody>
          <a:bodyPr/>
          <a:lstStyle/>
          <a:p>
            <a:endParaRPr lang="en-US"/>
          </a:p>
        </p:txBody>
      </p:sp>
      <p:sp>
        <p:nvSpPr>
          <p:cNvPr id="14" name="Rectangle 13">
            <a:extLst>
              <a:ext uri="{FF2B5EF4-FFF2-40B4-BE49-F238E27FC236}">
                <a16:creationId xmlns:a16="http://schemas.microsoft.com/office/drawing/2014/main" id="{A4EF1155-A72F-42FE-AE11-76902AC95E62}"/>
              </a:ext>
            </a:extLst>
          </p:cNvPr>
          <p:cNvSpPr>
            <a:spLocks noGrp="1"/>
          </p:cNvSpPr>
          <p:nvPr/>
        </p:nvSpPr>
        <p:spPr>
          <a:xfrm>
            <a:off x="8458200" y="2095500"/>
            <a:ext cx="2933700" cy="323850"/>
          </a:xfrm>
          <a:prstGeom prst="rect">
            <a:avLst/>
          </a:prstGeom>
          <a:noFill/>
          <a:ln w="0">
            <a:noFill/>
            <a:prstDash val="solid"/>
          </a:ln>
        </p:spPr>
        <p:txBody>
          <a:bodyPr lIns="76200" tIns="38100" rIns="76200" bIns="38100" anchor="t">
            <a:normAutofit/>
          </a:bodyPr>
          <a:lstStyle/>
          <a:p>
            <a:pPr algn="l">
              <a:lnSpc>
                <a:spcPct val="104000"/>
              </a:lnSpc>
              <a:buNone/>
              <a:defRPr sz="1500" b="1">
                <a:solidFill>
                  <a:srgbClr val="F8FAFC"/>
                </a:solidFill>
                <a:latin typeface="Noto Sans"/>
                <a:ea typeface="Noto Sans"/>
                <a:cs typeface="Noto Sans"/>
              </a:defRPr>
            </a:pPr>
            <a:r>
              <a:rPr sz="1500" b="1">
                <a:solidFill>
                  <a:srgbClr val="F8FAFC"/>
                </a:solidFill>
                <a:latin typeface="Noto Sans"/>
                <a:ea typeface="Noto Sans"/>
                <a:cs typeface="Noto Sans"/>
              </a:rPr>
              <a:t>3  LĒMUMS</a:t>
            </a:r>
          </a:p>
        </p:txBody>
      </p:sp>
      <p:sp>
        <p:nvSpPr>
          <p:cNvPr id="15" name="Rectangle 14">
            <a:extLst>
              <a:ext uri="{FF2B5EF4-FFF2-40B4-BE49-F238E27FC236}">
                <a16:creationId xmlns:a16="http://schemas.microsoft.com/office/drawing/2014/main" id="{0F5F7885-18F8-4065-B760-E17AAD4F39A9}"/>
              </a:ext>
            </a:extLst>
          </p:cNvPr>
          <p:cNvSpPr>
            <a:spLocks noGrp="1"/>
          </p:cNvSpPr>
          <p:nvPr/>
        </p:nvSpPr>
        <p:spPr>
          <a:xfrm>
            <a:off x="8458200" y="2466975"/>
            <a:ext cx="2933700" cy="2219325"/>
          </a:xfrm>
          <a:prstGeom prst="rect">
            <a:avLst/>
          </a:prstGeom>
          <a:noFill/>
          <a:ln w="0">
            <a:noFill/>
            <a:prstDash val="solid"/>
          </a:ln>
        </p:spPr>
        <p:txBody>
          <a:bodyPr lIns="76200" tIns="38100" rIns="76200" bIns="38100" anchor="t">
            <a:normAutofit fontScale="97352"/>
          </a:bodyPr>
          <a:lstStyle/>
          <a:p>
            <a:pPr algn="l">
              <a:lnSpc>
                <a:spcPct val="110000"/>
              </a:lnSpc>
              <a:buNone/>
              <a:defRPr sz="1350" b="0">
                <a:solidFill>
                  <a:srgbClr val="CBD5E1"/>
                </a:solidFill>
                <a:latin typeface="Noto Sans"/>
                <a:ea typeface="Noto Sans"/>
                <a:cs typeface="Noto Sans"/>
              </a:defRPr>
            </a:pPr>
            <a:r>
              <a:rPr sz="1350" b="0">
                <a:solidFill>
                  <a:srgbClr val="CBD5E1"/>
                </a:solidFill>
                <a:latin typeface="Noto Sans"/>
                <a:ea typeface="Noto Sans"/>
                <a:cs typeface="Noto Sans"/>
              </a:rPr>
              <a:t>Vai problēma ir pietiekami bieža un dārga?</a:t>
            </a:r>
          </a:p>
          <a:p>
            <a:endParaRPr sz="1350" b="0">
              <a:solidFill>
                <a:srgbClr val="CBD5E1"/>
              </a:solidFill>
              <a:latin typeface="Noto Sans"/>
              <a:ea typeface="Noto Sans"/>
              <a:cs typeface="Noto Sans"/>
            </a:endParaRPr>
          </a:p>
          <a:p>
            <a:pPr algn="l">
              <a:lnSpc>
                <a:spcPct val="110000"/>
              </a:lnSpc>
              <a:buNone/>
              <a:defRPr sz="1350" b="0">
                <a:solidFill>
                  <a:srgbClr val="CBD5E1"/>
                </a:solidFill>
                <a:latin typeface="Noto Sans"/>
                <a:ea typeface="Noto Sans"/>
                <a:cs typeface="Noto Sans"/>
              </a:defRPr>
            </a:pPr>
            <a:r>
              <a:rPr sz="1350" b="0">
                <a:solidFill>
                  <a:srgbClr val="CBD5E1"/>
                </a:solidFill>
                <a:latin typeface="Noto Sans"/>
                <a:ea typeface="Noto Sans"/>
                <a:cs typeface="Noto Sans"/>
              </a:rPr>
              <a:t>Kurš pain point ir visspēcīgākais?</a:t>
            </a:r>
          </a:p>
          <a:p>
            <a:endParaRPr sz="1350" b="0">
              <a:solidFill>
                <a:srgbClr val="CBD5E1"/>
              </a:solidFill>
              <a:latin typeface="Noto Sans"/>
              <a:ea typeface="Noto Sans"/>
              <a:cs typeface="Noto Sans"/>
            </a:endParaRPr>
          </a:p>
          <a:p>
            <a:pPr algn="l">
              <a:lnSpc>
                <a:spcPct val="110000"/>
              </a:lnSpc>
              <a:buNone/>
              <a:defRPr sz="1350" b="0">
                <a:solidFill>
                  <a:srgbClr val="CBD5E1"/>
                </a:solidFill>
                <a:latin typeface="Noto Sans"/>
                <a:ea typeface="Noto Sans"/>
                <a:cs typeface="Noto Sans"/>
              </a:defRPr>
            </a:pPr>
            <a:r>
              <a:rPr sz="1350" b="0">
                <a:solidFill>
                  <a:srgbClr val="CBD5E1"/>
                </a:solidFill>
                <a:latin typeface="Noto Sans"/>
                <a:ea typeface="Noto Sans"/>
                <a:cs typeface="Noto Sans"/>
              </a:rPr>
              <a:t>Kas ir pirmais klients un mazākais MVP?</a:t>
            </a:r>
          </a:p>
          <a:p>
            <a:endParaRPr sz="1350" b="0">
              <a:solidFill>
                <a:srgbClr val="CBD5E1"/>
              </a:solidFill>
              <a:latin typeface="Noto Sans"/>
              <a:ea typeface="Noto Sans"/>
              <a:cs typeface="Noto Sans"/>
            </a:endParaRPr>
          </a:p>
          <a:p>
            <a:pPr algn="l">
              <a:lnSpc>
                <a:spcPct val="110000"/>
              </a:lnSpc>
              <a:buNone/>
              <a:defRPr sz="1350" b="0">
                <a:solidFill>
                  <a:srgbClr val="CBD5E1"/>
                </a:solidFill>
                <a:latin typeface="Noto Sans"/>
                <a:ea typeface="Noto Sans"/>
                <a:cs typeface="Noto Sans"/>
              </a:defRPr>
            </a:pPr>
            <a:r>
              <a:rPr sz="1350" b="0">
                <a:solidFill>
                  <a:srgbClr val="CBD5E1"/>
                </a:solidFill>
                <a:latin typeface="Noto Sans"/>
                <a:ea typeface="Noto Sans"/>
                <a:cs typeface="Noto Sans"/>
              </a:rPr>
              <a:t>Vai TWIN pārspēj alternatīvo ideju pēc pierādījumiem?</a:t>
            </a:r>
          </a:p>
        </p:txBody>
      </p:sp>
      <p:sp>
        <p:nvSpPr>
          <p:cNvPr id="16" name="Rectangle 15">
            <a:extLst>
              <a:ext uri="{FF2B5EF4-FFF2-40B4-BE49-F238E27FC236}">
                <a16:creationId xmlns:a16="http://schemas.microsoft.com/office/drawing/2014/main" id="{24A9B713-4D8A-4B31-81D7-62DBA54453A8}"/>
              </a:ext>
            </a:extLst>
          </p:cNvPr>
          <p:cNvSpPr>
            <a:spLocks noGrp="1"/>
          </p:cNvSpPr>
          <p:nvPr/>
        </p:nvSpPr>
        <p:spPr>
          <a:xfrm>
            <a:off x="600075" y="5153025"/>
            <a:ext cx="2762250" cy="276225"/>
          </a:xfrm>
          <a:prstGeom prst="rect">
            <a:avLst/>
          </a:prstGeom>
          <a:noFill/>
          <a:ln w="0">
            <a:noFill/>
            <a:prstDash val="solid"/>
          </a:ln>
        </p:spPr>
        <p:txBody>
          <a:bodyPr lIns="76200" tIns="38100" rIns="76200" bIns="38100" anchor="ctr">
            <a:normAutofit/>
          </a:bodyPr>
          <a:lstStyle/>
          <a:p>
            <a:pPr algn="l">
              <a:lnSpc>
                <a:spcPct val="104000"/>
              </a:lnSpc>
              <a:buNone/>
              <a:defRPr sz="1050" b="1">
                <a:solidFill>
                  <a:srgbClr val="E66A5C"/>
                </a:solidFill>
                <a:latin typeface="Noto Sans"/>
                <a:ea typeface="Noto Sans"/>
                <a:cs typeface="Noto Sans"/>
              </a:defRPr>
            </a:pPr>
            <a:r>
              <a:rPr sz="1050" b="1">
                <a:solidFill>
                  <a:srgbClr val="E66A5C"/>
                </a:solidFill>
                <a:latin typeface="Noto Sans"/>
                <a:ea typeface="Noto Sans"/>
                <a:cs typeface="Noto Sans"/>
              </a:rPr>
              <a:t>JĀPĀRBAUDA TIRGUS IZPĒTĒ</a:t>
            </a:r>
          </a:p>
        </p:txBody>
      </p:sp>
      <p:sp>
        <p:nvSpPr>
          <p:cNvPr id="17" name="Rectangle 16">
            <a:extLst>
              <a:ext uri="{FF2B5EF4-FFF2-40B4-BE49-F238E27FC236}">
                <a16:creationId xmlns:a16="http://schemas.microsoft.com/office/drawing/2014/main" id="{089CC0DE-B745-4B96-8960-91B4C004E422}"/>
              </a:ext>
            </a:extLst>
          </p:cNvPr>
          <p:cNvSpPr>
            <a:spLocks noGrp="1"/>
          </p:cNvSpPr>
          <p:nvPr/>
        </p:nvSpPr>
        <p:spPr>
          <a:xfrm>
            <a:off x="3476625" y="5076825"/>
            <a:ext cx="8096250" cy="409575"/>
          </a:xfrm>
          <a:prstGeom prst="rect">
            <a:avLst/>
          </a:prstGeom>
          <a:noFill/>
          <a:ln w="0">
            <a:noFill/>
            <a:prstDash val="solid"/>
          </a:ln>
        </p:spPr>
        <p:txBody>
          <a:bodyPr lIns="76200" tIns="38100" rIns="76200" bIns="38100" anchor="ctr">
            <a:normAutofit/>
          </a:bodyPr>
          <a:lstStyle/>
          <a:p>
            <a:pPr algn="l">
              <a:lnSpc>
                <a:spcPct val="104000"/>
              </a:lnSpc>
              <a:buNone/>
              <a:defRPr sz="1425" b="0">
                <a:solidFill>
                  <a:srgbClr val="0F172A"/>
                </a:solidFill>
                <a:latin typeface="Noto Sans"/>
                <a:ea typeface="Noto Sans"/>
                <a:cs typeface="Noto Sans"/>
              </a:defRPr>
            </a:pPr>
            <a:r>
              <a:rPr sz="1425" b="0">
                <a:solidFill>
                  <a:srgbClr val="0F172A"/>
                </a:solidFill>
                <a:latin typeface="Noto Sans"/>
                <a:ea typeface="Noto Sans"/>
                <a:cs typeface="Noto Sans"/>
              </a:rPr>
              <a:t>problēmas biežums • maksātspēja • cloud/on-prem prasības • pirkuma lēmējs • izmērāma vērtība</a:t>
            </a:r>
          </a:p>
        </p:txBody>
      </p:sp>
      <p:sp>
        <p:nvSpPr>
          <p:cNvPr id="18" name="Rounded Rectangle 17">
            <a:extLst>
              <a:ext uri="{FF2B5EF4-FFF2-40B4-BE49-F238E27FC236}">
                <a16:creationId xmlns:a16="http://schemas.microsoft.com/office/drawing/2014/main" id="{C6F37CEF-6A3E-4210-B151-BDA2153D540C}"/>
              </a:ext>
            </a:extLst>
          </p:cNvPr>
          <p:cNvSpPr>
            <a:spLocks noGrp="1"/>
          </p:cNvSpPr>
          <p:nvPr/>
        </p:nvSpPr>
        <p:spPr>
          <a:xfrm>
            <a:off x="600075" y="5829300"/>
            <a:ext cx="10982325" cy="476250"/>
          </a:xfrm>
          <a:prstGeom prst="roundRect">
            <a:avLst>
              <a:gd name="adj" fmla="val 22000"/>
            </a:avLst>
          </a:prstGeom>
          <a:solidFill>
            <a:srgbClr val="38BDF8"/>
          </a:solidFill>
          <a:ln w="0">
            <a:noFill/>
            <a:prstDash val="solid"/>
          </a:ln>
        </p:spPr>
        <p:txBody>
          <a:bodyPr lIns="76200" tIns="38100" rIns="76200" bIns="38100" anchor="ctr">
            <a:normAutofit/>
          </a:bodyPr>
          <a:lstStyle/>
          <a:p>
            <a:pPr algn="ctr">
              <a:lnSpc>
                <a:spcPct val="104000"/>
              </a:lnSpc>
              <a:buNone/>
              <a:defRPr sz="2025" b="1">
                <a:solidFill>
                  <a:srgbClr val="071525"/>
                </a:solidFill>
                <a:latin typeface="Noto Sans"/>
                <a:ea typeface="Noto Sans"/>
                <a:cs typeface="Noto Sans"/>
              </a:defRPr>
            </a:pPr>
            <a:r>
              <a:rPr sz="2025" b="1">
                <a:solidFill>
                  <a:srgbClr val="071525"/>
                </a:solidFill>
                <a:latin typeface="Noto Sans"/>
                <a:ea typeface="Noto Sans"/>
                <a:cs typeface="Noto Sans"/>
              </a:rPr>
              <a:t>Paplašinām tikai tad, ja to pamato klientu uzvedība un dati.</a:t>
            </a:r>
          </a:p>
        </p:txBody>
      </p:sp>
      <p:sp>
        <p:nvSpPr>
          <p:cNvPr id="19" name="Rectangle 18">
            <a:extLst>
              <a:ext uri="{FF2B5EF4-FFF2-40B4-BE49-F238E27FC236}">
                <a16:creationId xmlns:a16="http://schemas.microsoft.com/office/drawing/2014/main" id="{591C0070-BA73-4D74-97F3-148654764264}"/>
              </a:ext>
            </a:extLst>
          </p:cNvPr>
          <p:cNvSpPr>
            <a:spLocks noGrp="1"/>
          </p:cNvSpPr>
          <p:nvPr/>
        </p:nvSpPr>
        <p:spPr>
          <a:xfrm>
            <a:off x="552450" y="6486525"/>
            <a:ext cx="4762500" cy="171450"/>
          </a:xfrm>
          <a:prstGeom prst="rect">
            <a:avLst/>
          </a:prstGeom>
          <a:noFill/>
          <a:ln w="0">
            <a:noFill/>
            <a:prstDash val="solid"/>
          </a:ln>
        </p:spPr>
        <p:txBody>
          <a:bodyPr lIns="76200" tIns="38100" rIns="76200" bIns="38100" anchor="ctr">
            <a:normAutofit fontScale="61637"/>
          </a:bodyPr>
          <a:lstStyle/>
          <a:p>
            <a:pPr algn="l">
              <a:lnSpc>
                <a:spcPct val="104000"/>
              </a:lnSpc>
              <a:buNone/>
              <a:defRPr sz="975" b="0">
                <a:solidFill>
                  <a:srgbClr val="94A3B8"/>
                </a:solidFill>
                <a:latin typeface="Noto Sans"/>
                <a:ea typeface="Noto Sans"/>
                <a:cs typeface="Noto Sans"/>
              </a:defRPr>
            </a:pPr>
            <a:r>
              <a:rPr sz="975" b="0">
                <a:solidFill>
                  <a:srgbClr val="94A3B8"/>
                </a:solidFill>
                <a:latin typeface="Noto Sans"/>
                <a:ea typeface="Noto Sans"/>
                <a:cs typeface="Noto Sans"/>
              </a:rPr>
              <a:t>Diskusijas rezultāts: turpināt, sašaurināt, mainīt fokusu vai izvēlēties otru ideju</a:t>
            </a:r>
          </a:p>
        </p:txBody>
      </p:sp>
    </p:spTree>
    <p:extLst>
      <p:ext uri="{BB962C8B-B14F-4D97-AF65-F5344CB8AC3E}">
        <p14:creationId xmlns:p14="http://schemas.microsoft.com/office/powerpoint/2010/main" val="10405414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1986</Words>
  <Application>Microsoft Macintosh PowerPoint</Application>
  <DocSecurity>0</DocSecurity>
  <PresentationFormat>Widescreen</PresentationFormat>
  <Paragraphs>310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Calibri</vt:lpstr>
      <vt:lpstr>Noto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Marats Grinbergs</cp:lastModifiedBy>
  <cp:revision>1</cp:revision>
  <dcterms:created xsi:type="dcterms:W3CDTF">2026-09-24T17:46:18Z</dcterms:created>
  <dcterms:modified xsi:type="dcterms:W3CDTF">2026-09-24T18:25:48Z</dcterms:modified>
</cp:coreProperties>
</file>